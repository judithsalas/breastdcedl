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sldIdLst>
    <p:sldId id="260" r:id="rId5"/>
    <p:sldId id="280" r:id="rId7"/>
    <p:sldId id="281" r:id="rId6"/>
    <p:sldId id="282" r:id="rId16"/>
    <p:sldId id="283" r:id="rId17"/>
    <p:sldId id="284" r:id="rId18"/>
    <p:sldId id="279" r:id="rId8"/>
  </p:sldIdLst>
  <p:sldSz cx="12192000" cy="6858000"/>
  <p:notesSz cx="7099300" cy="102346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60AB"/>
    <a:srgbClr val="065CA9"/>
    <a:srgbClr val="0A849F"/>
    <a:srgbClr val="2F528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p:restoredTop sz="94648"/>
  </p:normalViewPr>
  <p:slideViewPr>
    <p:cSldViewPr snapToGrid="0">
      <p:cViewPr varScale="1">
        <p:scale>
          <a:sx n="97" d="100"/>
          <a:sy n="97" d="100"/>
        </p:scale>
        <p:origin x="1110"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4"/>
          <c:y val="0.05"/>
          <c:w val="0.68"/>
          <c:h val="0.8"/>
        </c:manualLayout>
      </c:layout>
      <c:lineChart>
        <c:grouping val="standard"/>
        <c:varyColors val="0"/>
        <c:ser>
          <c:idx val="0"/>
          <c:order val="0"/>
          <c:tx>
            <c:strRef>
              <c:f>Sheet1!$B$1</c:f>
              <c:strCache>
                <c:ptCount val="1"/>
                <c:pt idx="0">
                  <c:v>Entrenamiento</c:v>
                </c:pt>
              </c:strCache>
            </c:strRef>
          </c:tx>
          <c:spPr>
            <a:ln w="25400">
              <a:solidFill>
                <a:srgbClr val="A7B3BE"/>
              </a:solidFill>
            </a:ln>
          </c:spPr>
          <c:marker>
            <c:symbol val="none"/>
          </c:marker>
          <c:dLbls>
            <c:dLbl>
              <c:idx val="12"/>
              <c:tx>
                <c:rich>
                  <a:bodyPr/>
                  <a:lstStyle/>
                  <a:p>
                    <a:r>
                      <a:rPr sz="1100" b="1">
                        <a:solidFill>
                          <a:srgbClr val="5B6875"/>
                        </a:solidFill>
                      </a:rPr>
                      <a:t>0,85</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Sheet1!$A$2:$A$14</c:f>
              <c:strCache>
                <c:ptCount val="13"/>
                <c:pt idx="0">
                  <c:v>1</c:v>
                </c:pt>
                <c:pt idx="1">
                  <c:v>2</c:v>
                </c:pt>
                <c:pt idx="2">
                  <c:v>3</c:v>
                </c:pt>
                <c:pt idx="3">
                  <c:v>4</c:v>
                </c:pt>
                <c:pt idx="4">
                  <c:v>5</c:v>
                </c:pt>
                <c:pt idx="5">
                  <c:v>6</c:v>
                </c:pt>
                <c:pt idx="6">
                  <c:v>7</c:v>
                </c:pt>
                <c:pt idx="7">
                  <c:v>8</c:v>
                </c:pt>
                <c:pt idx="8">
                  <c:v>9</c:v>
                </c:pt>
                <c:pt idx="9">
                  <c:v>10</c:v>
                </c:pt>
                <c:pt idx="10">
                  <c:v>11</c:v>
                </c:pt>
                <c:pt idx="11">
                  <c:v>12</c:v>
                </c:pt>
                <c:pt idx="12">
                  <c:v>13</c:v>
                </c:pt>
              </c:strCache>
            </c:strRef>
          </c:cat>
          <c:val>
            <c:numRef>
              <c:f>Sheet1!$B$2:$B$14</c:f>
              <c:numCache>
                <c:formatCode>General</c:formatCode>
                <c:ptCount val="13"/>
                <c:pt idx="0">
                  <c:v>0.603</c:v>
                </c:pt>
                <c:pt idx="1">
                  <c:v>0.612</c:v>
                </c:pt>
                <c:pt idx="2">
                  <c:v>0.64</c:v>
                </c:pt>
                <c:pt idx="3">
                  <c:v>0.664</c:v>
                </c:pt>
                <c:pt idx="4">
                  <c:v>0.696</c:v>
                </c:pt>
                <c:pt idx="5">
                  <c:v>0.72</c:v>
                </c:pt>
                <c:pt idx="6">
                  <c:v>0.734</c:v>
                </c:pt>
                <c:pt idx="7">
                  <c:v>0.741</c:v>
                </c:pt>
                <c:pt idx="8">
                  <c:v>0.777</c:v>
                </c:pt>
                <c:pt idx="9">
                  <c:v>0.805</c:v>
                </c:pt>
                <c:pt idx="10">
                  <c:v>0.833</c:v>
                </c:pt>
                <c:pt idx="11">
                  <c:v>0.846</c:v>
                </c:pt>
                <c:pt idx="12">
                  <c:v>0.855</c:v>
                </c:pt>
              </c:numCache>
            </c:numRef>
          </c:val>
          <c:smooth val="0"/>
        </c:ser>
        <c:ser>
          <c:idx val="1"/>
          <c:order val="1"/>
          <c:tx>
            <c:strRef>
              <c:f>Sheet1!$C$1</c:f>
              <c:strCache>
                <c:ptCount val="1"/>
                <c:pt idx="0">
                  <c:v>Validación</c:v>
                </c:pt>
              </c:strCache>
            </c:strRef>
          </c:tx>
          <c:spPr>
            <a:ln w="31750">
              <a:solidFill>
                <a:srgbClr val="1B9CB1"/>
              </a:solidFill>
            </a:ln>
          </c:spPr>
          <c:marker>
            <c:symbol val="none"/>
          </c:marker>
          <c:dLbls>
            <c:dLbl>
              <c:idx val="12"/>
              <c:tx>
                <c:rich>
                  <a:bodyPr/>
                  <a:lstStyle/>
                  <a:p>
                    <a:r>
                      <a:rPr sz="1100" b="1">
                        <a:solidFill>
                          <a:srgbClr val="117A8B"/>
                        </a:solidFill>
                      </a:rPr>
                      <a:t>0,56</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Sheet1!$A$2:$A$14</c:f>
              <c:strCache>
                <c:ptCount val="13"/>
                <c:pt idx="0">
                  <c:v>1</c:v>
                </c:pt>
                <c:pt idx="1">
                  <c:v>2</c:v>
                </c:pt>
                <c:pt idx="2">
                  <c:v>3</c:v>
                </c:pt>
                <c:pt idx="3">
                  <c:v>4</c:v>
                </c:pt>
                <c:pt idx="4">
                  <c:v>5</c:v>
                </c:pt>
                <c:pt idx="5">
                  <c:v>6</c:v>
                </c:pt>
                <c:pt idx="6">
                  <c:v>7</c:v>
                </c:pt>
                <c:pt idx="7">
                  <c:v>8</c:v>
                </c:pt>
                <c:pt idx="8">
                  <c:v>9</c:v>
                </c:pt>
                <c:pt idx="9">
                  <c:v>10</c:v>
                </c:pt>
                <c:pt idx="10">
                  <c:v>11</c:v>
                </c:pt>
                <c:pt idx="11">
                  <c:v>12</c:v>
                </c:pt>
                <c:pt idx="12">
                  <c:v>13</c:v>
                </c:pt>
              </c:strCache>
            </c:strRef>
          </c:cat>
          <c:val>
            <c:numRef>
              <c:f>Sheet1!$C$2:$C$14</c:f>
              <c:numCache>
                <c:formatCode>General</c:formatCode>
                <c:ptCount val="13"/>
                <c:pt idx="0">
                  <c:v>0.51</c:v>
                </c:pt>
                <c:pt idx="1">
                  <c:v>0.5</c:v>
                </c:pt>
                <c:pt idx="2">
                  <c:v>0.542</c:v>
                </c:pt>
                <c:pt idx="3">
                  <c:v>0.535</c:v>
                </c:pt>
                <c:pt idx="4">
                  <c:v>0.531</c:v>
                </c:pt>
                <c:pt idx="5">
                  <c:v>0.535</c:v>
                </c:pt>
                <c:pt idx="6">
                  <c:v>0.533</c:v>
                </c:pt>
                <c:pt idx="7">
                  <c:v>0.517</c:v>
                </c:pt>
                <c:pt idx="8">
                  <c:v>0.535</c:v>
                </c:pt>
                <c:pt idx="9">
                  <c:v>0.563</c:v>
                </c:pt>
                <c:pt idx="10">
                  <c:v>0.559</c:v>
                </c:pt>
                <c:pt idx="11">
                  <c:v>0.542</c:v>
                </c:pt>
                <c:pt idx="12">
                  <c:v>0.559</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one"/>
        <c:spPr>
          <a:ln>
            <a:solidFill>
              <a:srgbClr val="C9D2DA"/>
            </a:solidFill>
          </a:ln>
        </c:spPr>
        <c:crossAx val="2140495176"/>
        <c:crosses val="autoZero"/>
        <c:auto val="1"/>
        <c:lblAlgn val="ctr"/>
        <c:lblOffset val="100"/>
        <c:noMultiLvlLbl val="0"/>
      </c:catAx>
      <c:valAx>
        <c:axId val="2140495176"/>
        <c:scaling>
          <c:max val="1.0"/>
          <c:min val="0.4"/>
        </c:scaling>
        <c:delete val="0"/>
        <c:axPos val="l"/>
        <c:majorGridlines>
          <c:spPr>
            <a:ln w="9525">
              <a:solidFill>
                <a:srgbClr val="E3E8EC"/>
              </a:solidFill>
            </a:ln>
          </c:spPr>
        </c:majorGridlines>
        <c:majorTickMark val="none"/>
        <c:minorTickMark val="none"/>
        <c:tickLblPos val="none"/>
        <c:spPr>
          <a:ln>
            <a:noFill/>
          </a:ln>
        </c:spPr>
        <c:crossAx val="2118791784"/>
        <c:crosses val="autoZero"/>
        <c:crossBetween val="midCat"/>
        <c:majorUnit val="0.2"/>
      </c:valAx>
    </c:plotArea>
    <c:plotVisOnly val="1"/>
    <c:dispBlanksAs val="gap"/>
    <c:showDLblsOverMax val="0"/>
  </c:chart>
  <c:txPr>
    <a:bodyPr/>
    <a:lstStyle/>
    <a:p>
      <a:pPr>
        <a:defRPr sz="1000">
          <a:solidFill>
            <a:srgbClr val="5B687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4"/>
          <c:y val="0.05"/>
          <c:w val="0.68"/>
          <c:h val="0.8"/>
        </c:manualLayout>
      </c:layout>
      <c:lineChart>
        <c:grouping val="standard"/>
        <c:varyColors val="0"/>
        <c:ser>
          <c:idx val="0"/>
          <c:order val="0"/>
          <c:tx>
            <c:strRef>
              <c:f>Sheet1!$B$1</c:f>
              <c:strCache>
                <c:ptCount val="1"/>
                <c:pt idx="0">
                  <c:v>Entrenamiento</c:v>
                </c:pt>
              </c:strCache>
            </c:strRef>
          </c:tx>
          <c:spPr>
            <a:ln w="25400">
              <a:solidFill>
                <a:srgbClr val="A7B3BE"/>
              </a:solidFill>
            </a:ln>
          </c:spPr>
          <c:marker>
            <c:symbol val="none"/>
          </c:marker>
          <c:dLbls>
            <c:dLbl>
              <c:idx val="5"/>
              <c:tx>
                <c:rich>
                  <a:bodyPr/>
                  <a:lstStyle/>
                  <a:p>
                    <a:r>
                      <a:rPr sz="1100" b="1">
                        <a:solidFill>
                          <a:srgbClr val="5B6875"/>
                        </a:solidFill>
                      </a:rPr>
                      <a:t>0,67</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0.594</c:v>
                </c:pt>
                <c:pt idx="1">
                  <c:v>0.586</c:v>
                </c:pt>
                <c:pt idx="2">
                  <c:v>0.625</c:v>
                </c:pt>
                <c:pt idx="3">
                  <c:v>0.633</c:v>
                </c:pt>
                <c:pt idx="4">
                  <c:v>0.638</c:v>
                </c:pt>
                <c:pt idx="5">
                  <c:v>0.666</c:v>
                </c:pt>
              </c:numCache>
            </c:numRef>
          </c:val>
          <c:smooth val="0"/>
        </c:ser>
        <c:ser>
          <c:idx val="1"/>
          <c:order val="1"/>
          <c:tx>
            <c:strRef>
              <c:f>Sheet1!$C$1</c:f>
              <c:strCache>
                <c:ptCount val="1"/>
                <c:pt idx="0">
                  <c:v>Validación</c:v>
                </c:pt>
              </c:strCache>
            </c:strRef>
          </c:tx>
          <c:spPr>
            <a:ln w="31750">
              <a:solidFill>
                <a:srgbClr val="1B9CB1"/>
              </a:solidFill>
            </a:ln>
          </c:spPr>
          <c:marker>
            <c:symbol val="none"/>
          </c:marker>
          <c:dLbls>
            <c:dLbl>
              <c:idx val="5"/>
              <c:tx>
                <c:rich>
                  <a:bodyPr/>
                  <a:lstStyle/>
                  <a:p>
                    <a:r>
                      <a:rPr sz="1100" b="1">
                        <a:solidFill>
                          <a:srgbClr val="117A8B"/>
                        </a:solidFill>
                      </a:rPr>
                      <a:t>0,55</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1</c:v>
                </c:pt>
                <c:pt idx="1">
                  <c:v>2</c:v>
                </c:pt>
                <c:pt idx="2">
                  <c:v>3</c:v>
                </c:pt>
                <c:pt idx="3">
                  <c:v>4</c:v>
                </c:pt>
                <c:pt idx="4">
                  <c:v>5</c:v>
                </c:pt>
                <c:pt idx="5">
                  <c:v>6</c:v>
                </c:pt>
              </c:strCache>
            </c:strRef>
          </c:cat>
          <c:val>
            <c:numRef>
              <c:f>Sheet1!$C$2:$C$7</c:f>
              <c:numCache>
                <c:formatCode>General</c:formatCode>
                <c:ptCount val="6"/>
                <c:pt idx="0">
                  <c:v>0.519</c:v>
                </c:pt>
                <c:pt idx="1">
                  <c:v>0.481</c:v>
                </c:pt>
                <c:pt idx="2">
                  <c:v>0.53</c:v>
                </c:pt>
                <c:pt idx="3">
                  <c:v>0.532</c:v>
                </c:pt>
                <c:pt idx="4">
                  <c:v>0.518</c:v>
                </c:pt>
                <c:pt idx="5">
                  <c:v>0.549</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one"/>
        <c:spPr>
          <a:ln>
            <a:solidFill>
              <a:srgbClr val="C9D2DA"/>
            </a:solidFill>
          </a:ln>
        </c:spPr>
        <c:crossAx val="2140495176"/>
        <c:crosses val="autoZero"/>
        <c:auto val="1"/>
        <c:lblAlgn val="ctr"/>
        <c:lblOffset val="100"/>
        <c:noMultiLvlLbl val="0"/>
      </c:catAx>
      <c:valAx>
        <c:axId val="2140495176"/>
        <c:scaling>
          <c:max val="1.0"/>
          <c:min val="0.4"/>
        </c:scaling>
        <c:delete val="0"/>
        <c:axPos val="l"/>
        <c:majorGridlines>
          <c:spPr>
            <a:ln w="9525">
              <a:solidFill>
                <a:srgbClr val="E3E8EC"/>
              </a:solidFill>
            </a:ln>
          </c:spPr>
        </c:majorGridlines>
        <c:majorTickMark val="none"/>
        <c:minorTickMark val="none"/>
        <c:tickLblPos val="none"/>
        <c:spPr>
          <a:ln>
            <a:noFill/>
          </a:ln>
        </c:spPr>
        <c:crossAx val="2118791784"/>
        <c:crosses val="autoZero"/>
        <c:crossBetween val="midCat"/>
        <c:majorUnit val="0.2"/>
      </c:valAx>
    </c:plotArea>
    <c:plotVisOnly val="1"/>
    <c:dispBlanksAs val="gap"/>
    <c:showDLblsOverMax val="0"/>
  </c:chart>
  <c:txPr>
    <a:bodyPr/>
    <a:lstStyle/>
    <a:p>
      <a:pPr>
        <a:defRPr sz="1000">
          <a:solidFill>
            <a:srgbClr val="5B687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es-ES_tradnl"/>
          </a:p>
        </p:txBody>
      </p:sp>
      <p:sp>
        <p:nvSpPr>
          <p:cNvPr id="3" name="Marcador de fecha 2"/>
          <p:cNvSpPr>
            <a:spLocks noGrp="1"/>
          </p:cNvSpPr>
          <p:nvPr>
            <p:ph type="dt" idx="1"/>
          </p:nvPr>
        </p:nvSpPr>
        <p:spPr>
          <a:xfrm>
            <a:off x="4021294" y="0"/>
            <a:ext cx="3076363" cy="513508"/>
          </a:xfrm>
          <a:prstGeom prst="rect">
            <a:avLst/>
          </a:prstGeom>
        </p:spPr>
        <p:txBody>
          <a:bodyPr vert="horz" lIns="99048" tIns="49524" rIns="99048" bIns="49524" rtlCol="0"/>
          <a:lstStyle>
            <a:lvl1pPr algn="r">
              <a:defRPr sz="1300"/>
            </a:lvl1pPr>
          </a:lstStyle>
          <a:p>
            <a:fld id="{6F5C5E53-F147-8644-A0CF-46FCFCB7C5D6}" type="datetimeFigureOut">
              <a:rPr lang="es-ES_tradnl" smtClean="0"/>
              <a:t>14/09/2025</a:t>
            </a:fld>
            <a:endParaRPr lang="es-ES_tradnl"/>
          </a:p>
        </p:txBody>
      </p:sp>
      <p:sp>
        <p:nvSpPr>
          <p:cNvPr id="4" name="Marcador de imagen de diapositiva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48" tIns="49524" rIns="99048" bIns="49524" rtlCol="0" anchor="ctr"/>
          <a:lstStyle/>
          <a:p>
            <a:endParaRPr lang="es-ES_tradnl"/>
          </a:p>
        </p:txBody>
      </p:sp>
      <p:sp>
        <p:nvSpPr>
          <p:cNvPr id="5" name="Marcador de notas 4"/>
          <p:cNvSpPr>
            <a:spLocks noGrp="1"/>
          </p:cNvSpPr>
          <p:nvPr>
            <p:ph type="body" sz="quarter" idx="3"/>
          </p:nvPr>
        </p:nvSpPr>
        <p:spPr>
          <a:xfrm>
            <a:off x="709930" y="4925407"/>
            <a:ext cx="5679440" cy="4029879"/>
          </a:xfrm>
          <a:prstGeom prst="rect">
            <a:avLst/>
          </a:prstGeom>
        </p:spPr>
        <p:txBody>
          <a:bodyPr vert="horz" lIns="99048" tIns="49524" rIns="99048" bIns="49524"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Marcador de pie de página 5"/>
          <p:cNvSpPr>
            <a:spLocks noGrp="1"/>
          </p:cNvSpPr>
          <p:nvPr>
            <p:ph type="ftr" sz="quarter" idx="4"/>
          </p:nvPr>
        </p:nvSpPr>
        <p:spPr>
          <a:xfrm>
            <a:off x="0" y="9721107"/>
            <a:ext cx="3076363" cy="513507"/>
          </a:xfrm>
          <a:prstGeom prst="rect">
            <a:avLst/>
          </a:prstGeom>
        </p:spPr>
        <p:txBody>
          <a:bodyPr vert="horz" lIns="99048" tIns="49524" rIns="99048" bIns="49524" rtlCol="0" anchor="b"/>
          <a:lstStyle>
            <a:lvl1pPr algn="l">
              <a:defRPr sz="1300"/>
            </a:lvl1pPr>
          </a:lstStyle>
          <a:p>
            <a:endParaRPr lang="es-ES_tradnl"/>
          </a:p>
        </p:txBody>
      </p:sp>
      <p:sp>
        <p:nvSpPr>
          <p:cNvPr id="7" name="Marcador de número de diapositiva 6"/>
          <p:cNvSpPr>
            <a:spLocks noGrp="1"/>
          </p:cNvSpPr>
          <p:nvPr>
            <p:ph type="sldNum" sz="quarter" idx="5"/>
          </p:nvPr>
        </p:nvSpPr>
        <p:spPr>
          <a:xfrm>
            <a:off x="4021294" y="9721107"/>
            <a:ext cx="3076363" cy="513507"/>
          </a:xfrm>
          <a:prstGeom prst="rect">
            <a:avLst/>
          </a:prstGeom>
        </p:spPr>
        <p:txBody>
          <a:bodyPr vert="horz" lIns="99048" tIns="49524" rIns="99048" bIns="49524" rtlCol="0" anchor="b"/>
          <a:lstStyle>
            <a:lvl1pPr algn="r">
              <a:defRPr sz="1300"/>
            </a:lvl1pPr>
          </a:lstStyle>
          <a:p>
            <a:fld id="{447058AE-FEB0-D242-BCAE-44464DE802C9}" type="slidenum">
              <a:rPr lang="es-ES_tradnl" smtClean="0"/>
              <a:t>‹Nº›</a:t>
            </a:fld>
            <a:endParaRPr lang="es-ES_tradnl"/>
          </a:p>
        </p:txBody>
      </p:sp>
    </p:spTree>
    <p:extLst>
      <p:ext uri="{BB962C8B-B14F-4D97-AF65-F5344CB8AC3E}">
        <p14:creationId xmlns:p14="http://schemas.microsoft.com/office/powerpoint/2010/main" val="2743059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QUÉ DECIR (20 s)</a:t>
            </a:r>
          </a:p>
          <a:p>
            <a:r>
              <a:t>Me llamo Judith Salas y presento el caso BreastDCEDL: con la resonancia de antes de la quimioterapia, ¿se puede saber si el tumor desaparecerá?</a:t>
            </a:r>
          </a:p>
          <a:p>
            <a:r>
              <a:t>Adelanto el final: con una CNN desde cero y cortes 2D, la imagen sola dice muy poco. Lo que os voy a contar es cómo lo medí para poder afirmarlo, y una app que lo enseña.</a:t>
            </a:r>
          </a:p>
        </p:txBody>
      </p:sp>
      <p:sp>
        <p:nvSpPr>
          <p:cNvPr id="4" name="Marcador de número de diapositiva 3"/>
          <p:cNvSpPr>
            <a:spLocks noGrp="1"/>
          </p:cNvSpPr>
          <p:nvPr>
            <p:ph type="sldNum" sz="quarter" idx="5"/>
          </p:nvPr>
        </p:nvSpPr>
        <p:spPr/>
        <p:txBody>
          <a:bodyPr/>
          <a:lstStyle/>
          <a:p>
            <a:fld id="{447058AE-FEB0-D242-BCAE-44464DE802C9}" type="slidenum">
              <a:rPr lang="es-ES_tradnl" smtClean="0"/>
              <a:t>1</a:t>
            </a:fld>
            <a:endParaRPr lang="es-ES_tradnl" dirty="0"/>
          </a:p>
        </p:txBody>
      </p:sp>
    </p:spTree>
    <p:extLst>
      <p:ext uri="{BB962C8B-B14F-4D97-AF65-F5344CB8AC3E}">
        <p14:creationId xmlns:p14="http://schemas.microsoft.com/office/powerpoint/2010/main" val="3344922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t>Gracias. Turno de preguntas.</a:t>
            </a:r>
          </a:p>
          <a:p>
            <a:r>
              <a:t>Si alguien quiere probar la app, el QR lleva a ella.</a:t>
            </a:r>
          </a:p>
          <a:p>
            <a:r>
              <a:t>Para la prueba con las 5 muestras privadas: abrir la app, pulsar «Subir un corte» y poner cada imagen en su hueco (PRE, EARLY, LATE). Para cada muestra, la app enseña la probabilidad, el umbral (0,307) y la clase.</a:t>
            </a:r>
          </a:p>
        </p:txBody>
      </p:sp>
      <p:sp>
        <p:nvSpPr>
          <p:cNvPr id="4" name="Marcador de número de diapositiva 3"/>
          <p:cNvSpPr>
            <a:spLocks noGrp="1"/>
          </p:cNvSpPr>
          <p:nvPr>
            <p:ph type="sldNum" sz="quarter" idx="5"/>
          </p:nvPr>
        </p:nvSpPr>
        <p:spPr/>
        <p:txBody>
          <a:bodyPr/>
          <a:lstStyle/>
          <a:p>
            <a:fld id="{447058AE-FEB0-D242-BCAE-44464DE802C9}" type="slidenum">
              <a:rPr lang="es-ES_tradnl" smtClean="0"/>
              <a:t>4</a:t>
            </a:fld>
            <a:endParaRPr lang="es-ES_tradnl"/>
          </a:p>
        </p:txBody>
      </p:sp>
    </p:spTree>
    <p:extLst>
      <p:ext uri="{BB962C8B-B14F-4D97-AF65-F5344CB8AC3E}">
        <p14:creationId xmlns:p14="http://schemas.microsoft.com/office/powerpoint/2010/main" val="3099314644"/>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DECIR (1 min 30 s)</a:t>
            </a:r>
          </a:p>
          <a:p>
            <a:r>
              <a:t>Algunas pacientes con cáncer de mama reciben quimioterapia antes de operarse (neoadyuvante). Después, el patólogo estudia el tejido extraído. Si no queda cáncer invasivo ni en la mama ni en los ganglios, hay respuesta patológica completa, la pCR. En mis datos la alcanzan 29 de cada 100 pacientes de entrenamiento.</a:t>
            </a:r>
          </a:p>
          <a:p>
            <a:r>
              <a:t>Importa porque la pCR se asocia a mejor pronóstico en varios subtipos y los ensayos la usan como resultado temprano (FDA, 2020). Estimarla antes de empezar ayudaría a estratificar el riesgo o a diseñar ensayos. Pero el resultado solo se sabe al final, tras la cirugía: la CNN intenta adelantarlo con la resonancia del principio.</a:t>
            </a:r>
          </a:p>
          <a:p>
            <a:r>
              <a:t>Objetivo: estimar la probabilidad de pCR de cada paciente con una CNN construida desde cero, solo con la imagen (sin datos clínicos dentro de la red), y publicarla en una app web que dé la misma probabilidad que el código. Es investigación: una probabilidad alta nunca justificaría evitar la cirugía; la pCR solo la confirma la anatomía patológica.</a:t>
            </a:r>
          </a:p>
          <a:p/>
          <a:p>
            <a:r>
              <a:t>SI PREGUNTAN</a:t>
            </a:r>
          </a:p>
          <a:p>
            <a:r>
              <a:t>- ¿Por qué no hay datos clínicos en la red? Es una regla del trabajo: la CNN solo ve imagen y etiqueta. Lo clínico va en un modelo aparte, «el médico», solo para comparar.</a:t>
            </a:r>
          </a:p>
          <a:p>
            <a:r>
              <a:t>- ¿Qué es DCE-MRI? Resonancia con contraste dinámico: PRE antes del contraste, EARLY cuando llega y LATE más tarde. El tumor suele captar el contraste rápido.</a:t>
            </a:r>
          </a:p>
          <a:p>
            <a:r>
              <a:t>- y = 1 es pCR (resultado favorable); y = 0, enfermedad residual.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DECIR (1 min 45 s)</a:t>
            </a:r>
          </a:p>
          <a:p>
            <a:r>
              <a:t>Los datos son la edición docente de BreastDCEDL: 1.097 pacientes de entrenamiento de tres cohortes (I-SPY2, Duke e I-SPY1) y 176 de test. Cada paciente tiene unos 10 cortes y cada corte son tres PNG de 256 × 256: PRE, EARLY y LATE. No son colores, son tres instantes del contraste: se apilan como canales y la única normalización es dividir entre 255, la misma al entrenar y en la app. Audité los datos: ningún fichero dañado y el realce en el orden esperado en el 99,6 % de las pacientes. Las PNG ya vienen con una ventana de intensidad por paciente (percentiles 1 y 99, la misma para las tres fases); lo único que hago yo es dividir entre 255.</a:t>
            </a:r>
          </a:p>
          <a:p>
            <a:r>
              <a:t>La idea clave: tengo 1.097 pacientes, no 11.000 casos. Los 10 cortes de una paciente se parecen mucho; si unos fueran a entrenamiento y otros a validación, el modelo reconocería a la paciente y la cifra saldría inflada. Por eso cada paciente, con todos sus cortes, va a un solo fold de los 5 (219 o 220 pacientes, la misma mezcla de cohortes), y un test automático comprueba que no hay solape. Test queda aparte y se miró una sola vez.</a:t>
            </a:r>
          </a:p>
          <a:p>
            <a:r>
              <a:t>Clases: 29 de cada 100 tienen pCR. Decir siempre «no pCR» acierta el 70,6 %, así que la accuracy no sirve: uso el AUC por paciente. Y medí dos listones, con validación por folds: saber solo la cohorte ya da 0,549, y solo el subtipo, 0,657.</a:t>
            </a:r>
          </a:p>
          <a:p/>
          <a:p>
            <a:r>
              <a:t>SI PREGUNTAN</a:t>
            </a:r>
          </a:p>
          <a:p>
            <a:r>
              <a:t>- ¿Por qué AUC? No depende del umbral ni del desbalance: mide si el modelo ordena bien a las pacientes. 0,5 es el azar y 1, perfecto.</a:t>
            </a:r>
          </a:p>
          <a:p>
            <a:r>
              <a:t>- ¿Cómo se pasa de cortes a paciente? Media de las probabilidades de sus cortes. Mediana, máximo y voto dieron casi lo mismo.</a:t>
            </a:r>
          </a:p>
          <a:p>
            <a:r>
              <a:t>- Las cohortes difieren en tasa de pCR (I-SPY2 32 %, Duke 21 %, I-SPY1 25 %) y en cómo se ve la imagen (orientación, escáner): una red puede aprender a reconocer la cohorte.</a:t>
            </a:r>
          </a:p>
          <a:p>
            <a:r>
              <a:t>- Por subtipo: HER2+ 42,9 %, triple negativo 37,9 %, HR+/HER2− 14,1 %.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DECIR (1 min 45 s)</a:t>
            </a:r>
          </a:p>
          <a:p>
            <a:r>
              <a:t>La red es propia y pequeña a propósito: cada modelo aprende con unas 878 pacientes, y sin aumento de datos incluso esta memoriza.</a:t>
            </a:r>
          </a:p>
          <a:p>
            <a:r>
              <a:t>Entra un corte de 3 × 256 × 256. Hay cuatro bloques iguales: convolución 3 × 3, BatchNorm, ReLU y MaxPool 2 × 2, con 16, 32, 64 y 128 filtros. Cada bloque divide el lado a la mitad: 128, 64, 32 y 16 píxeles. Lo que veis son los mapas reales de la primera red con el corte de ejemplo de la app.</a:t>
            </a:r>
          </a:p>
          <a:p>
            <a:r>
              <a:t>Después, la media global resume cada mapa en un número: de 32.768 valores a 128, lo que reduce el sobreajuste. Una capa lineal da un único logit. En total, 97.809 parámetros en la red base (las otras versiones llegan a 101.970); algo más de tres cuartas partes están en el último bloque.</a:t>
            </a:r>
          </a:p>
          <a:p>
            <a:r>
              <a:t>El modelo final es un conjunto: 6 versiones de esta red, cada una con una sola idea distinta (realce calculado dentro de la red, intensidad relativa al PRE, atención, dropout, giros de 90°), entrenadas en los 5 folds: 30 redes. Se promedian los logits, se calibran con Platt y, para cada paciente, se hace la media de sus cortes y se aplica el umbral 0,307. En la app se sube un solo corte, y el umbral se aplica a ese corte.</a:t>
            </a:r>
          </a:p>
          <a:p/>
          <a:p>
            <a:r>
              <a:t>SI PREGUNTAN</a:t>
            </a:r>
          </a:p>
          <a:p>
            <a:r>
              <a:t>- Parámetros por bloque: 464 + 4.672 + 18.560 + 73.984, más 129 de la capa lineal = 97.809. Las convoluciones no llevan sesgo porque BatchNorm lo hace redundante.</a:t>
            </a:r>
          </a:p>
          <a:p>
            <a:r>
              <a:t>- ¿Por qué no hay sigmoide en la red? BCEWithLogitsLoss la incluye y es más estable numéricamente.</a:t>
            </a:r>
          </a:p>
          <a:p>
            <a:r>
              <a:t>- Campo receptivo teórico de 46 × 46 píxeles: un trozo del tumor y su entorno (el efectivo es menor).</a:t>
            </a:r>
          </a:p>
          <a:p>
            <a:r>
              <a:t>- Inicialización: la de PyTorch, Kaiming uniforme; BatchNorm con peso 1 y sesgo 0.</a:t>
            </a:r>
          </a:p>
          <a:p>
            <a:r>
              <a:t>- ¿Por qué un conjunto? Entran todas las versiones con validación cruzada completa que no sobreajustan (train − val ≤ 0,15), regla fijada antes de ver el resultado. Con las 8 versiones (y la época elegida por la validación) salía 0,610; usarlo sería elegir la mezcla mirando la validación.</a:t>
            </a:r>
          </a:p>
          <a:p>
            <a:r>
              <a:t>- Parámetros: las 6 versiones suman 591.303 (una red de cada una); las 30 redes, 2.956.515.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DECIR (2 min)</a:t>
            </a:r>
          </a:p>
          <a:p>
            <a:r>
              <a:t>Todas las redes se entrenan igual: Adam (AdamW con weight decay 0,05 en cnn_v7), learning rate 0,001, lotes de 32 cortes y semilla 42, en la GPU de la universidad (AMD RX 6700 XT, unos 32–34 s por época).</a:t>
            </a:r>
          </a:p>
          <a:p>
            <a:r>
              <a:t>Cuatro decisiones. Una: la pérdida normal. La ponderada, que hace pesar 2,4 veces más las pCR, da el mismo AUC; solo mueve el corte, y el corte lo decido después con el umbral. Dos: sin aumento de datos, cnn_v2 memoriza (gráfica de la izquierda, media de los 5 folds): en la época 13 el entrenamiento va por 0,85 y la validación por 0,56; en los folds que siguen, el entrenamiento llega a 0,94. Ya en la época 6 iba 0,72 frente a 0,53. cnn_v3, con aumento geométrico y 6 épocas fijas (una de las 6 versiones del modelo final), acaba en 0,67 y 0,55. Tres: el conjunto entra por una regla fijada antes de ver el resultado. Cuatro: el umbral 0,307 busca la máxima sensibilidad con especificidad de al menos 0,80, porque el error que más preocupa es decir «pCR» a quien todavía tiene tumor.</a:t>
            </a:r>
          </a:p>
          <a:p>
            <a:r>
              <a:t>Resultados: la CNN da 0,554 ± 0,043 en validación cruzada (interna, y algo optimista porque las versiones, las 6 épocas, Platt y el umbral salieron de esos folds), al nivel de saber solo la cohorte. En test, con pacientes nuevas y mirado una sola vez, da 0,540 (IC 0,45–0,63): cuadra con la validación, pero no se distingue del azar. El médico, con edad, menopausia, HR y HER2, llega a 0,689 y 0,664; en test, su ventaja sobre la CNN tiene un intervalo que roza el 0 (−0,259 a +0,009). Sumarle la imagen no añade nada demostrable. Con el umbral, la CNN detecta 10 de 53 pCR en test; el médico, 21.</a:t>
            </a:r>
          </a:p>
          <a:p>
            <a:r>
              <a:t>Dos atajos que no tomé: quedarme con la mejor época de cada fold daba 0,596, y meter además las dos versiones que sobreajustan, 0,610 (las dos cifras, con la época elegida por la validación). Con 6 épocas fijas y la regla del conjunto sale 0,554. Queda algo de optimismo, porque el 6 y las versiones salieron de estos mismos folds: por eso la cifra independiente es la de test.</a:t>
            </a:r>
          </a:p>
          <a:p/>
          <a:p>
            <a:r>
              <a:t>SI PREGUNTAN</a:t>
            </a:r>
          </a:p>
          <a:p>
            <a:r>
              <a:t>- Test con el umbral 0,307: sensibilidad 0,19 (10 de 53), especificidad 0,80 (99 de 123), precisión 0,29, F1 macro 0,49.</a:t>
            </a:r>
          </a:p>
          <a:p>
            <a:r>
              <a:t>- En validación, con el mismo estimador: CNN − médico −0,136 (IC −0,185 a −0,086); lo que añade la imagen, +0,003 (−0,008 a +0,014).</a:t>
            </a:r>
          </a:p>
          <a:p>
            <a:r>
              <a:t>- ¿Por qué baja la sensibilidad en test (de 0,28 a 0,19)? Hay solo 53 pCR, y la media de 30 redes concentra más la probabilidad que la de 6 con la que se eligió el umbral.</a:t>
            </a:r>
          </a:p>
          <a:p>
            <a:r>
              <a:t>- ¿Por qué 6 épocas? Es la mediana de las épocas elegidas en la exploración, fijada antes de reentrenar.</a:t>
            </a:r>
          </a:p>
          <a:p>
            <a:r>
              <a:t>- Aumento: volteo, giro de ±10°, desplazamiento del 4 % y escala 0,95–1,05, el mismo en las tres fases; nada de cambios de brillo.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DECIR (2 min, más la demo)</a:t>
            </a:r>
          </a:p>
          <a:p>
            <a:r>
              <a:t>La app está en Hugging Face; el QR lleva a ella. Es una página estática: el modelo completo (las 30 redes, la media de logits y Platt) va en un fichero ONNX que se ejecuta en el navegador; el umbral lo lee de info.json. No hay servidor que se duerma durante la defensa, y las imágenes no salen del ordenador.</a:t>
            </a:r>
          </a:p>
          <a:p>
            <a:r>
              <a:t>Da la misma probabilidad que Python: la diferencia máxima medida es de 9 · 10⁻⁸. Valida cada imagen como el pipeline (PNG en gris de 8 bits, 256 × 256, hasta 2 MB) y explica cada error; lo probé con 9 casos válidos e inválidos. Enseña el checksum del modelo, el umbral, el dispositivo y el tiempo de respuesta, y avisa de que es de uso educativo.</a:t>
            </a:r>
          </a:p>
          <a:p>
            <a:r>
              <a:t>[DEMO: subir un corte en los tres huecos (PRE, EARLY, LATE) y enseñar probabilidad, clase y umbral. Si hay tiempo, «La red» y «Resultados».]</a:t>
            </a:r>
          </a:p>
          <a:p>
            <a:r>
              <a:t>Limitaciones: en test la CNN no se distingue del azar, con intervalos anchos porque son 176 pacientes. La probabilidad calibrada apenas se mueve (en test, todas entre 0,23 y 0,33) y su Brier es el de decir a todas la tasa de pCR: como probabilidad, no informa más que esa tasa; lo poco que aporta está en el orden. Son cortes 2D de 8 bits de tres cohortes muy distintas, y la validación interna es algo optimista. La app predice un corte, mientras que las métricas son por paciente. No tiene validez clínica.</a:t>
            </a:r>
          </a:p>
          <a:p>
            <a:r>
              <a:t>Conclusiones: el resultado es modesto pero está bien medido: validación y test cuadran (diferencia de −0,014). Con esta red, la imagen sola no basta: el médico la supera y la CNN no le suma nada demostrable. Y lo poco que acierta se parece a reconocer la cohorte: su puntuación separa I-SPY2 de las demás (AUC 0,72 en test) y dentro de una misma cohorte no se distingue del azar (0,52). No sé qué la delata: escáner, protocolo, orientación o diferencias reales entre poblaciones. Son hipótesis: ningún experimento separa «la imagen no tiene la información» de «no se ha sabido sacar». El siguiente paso sería entrenar con dos cohortes y probar en la tercera, y comprobar dónde mira la red.</a:t>
            </a:r>
          </a:p>
          <a:p/>
          <a:p>
            <a:r>
              <a:t>SI PREGUNTAN</a:t>
            </a:r>
          </a:p>
          <a:p>
            <a:r>
              <a:t>- ¿Cómo sé que la app da lo mismo que el pipeline? Al exportar se compara el ONNX con PyTorch y no se guarda si difieren en más de 10⁻⁵. La página comprueba el sha256 del modelo y marca ✓ en los ejemplos.</a:t>
            </a:r>
          </a:p>
          <a:p>
            <a:r>
              <a:t>- ¿La app predice por paciente? Predice el corte que se sube, con el mismo umbral; las métricas del informe son por paciente (media de sus cortes).</a:t>
            </a:r>
          </a:p>
          <a:p>
            <a:r>
              <a:t>- Checksum del modelo: 86efe7b4b112. Tiempo: en torno a 1 s por corte en la CPU del navegador (ONNX Runtime Web).</a:t>
            </a:r>
          </a:p>
          <a:p>
            <a:r>
              <a:t>- Frente a lo publicado: Fridman et al. obtienen 0,72 en este test con un Vision Transformer preentrenado, que aquí no está permitido.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uax.com/"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pic>
        <p:nvPicPr>
          <p:cNvPr id="2" name="Imagen 1">
            <a:hlinkClick r:id="rId2"/>
            <a:extLst>
              <a:ext uri="{FF2B5EF4-FFF2-40B4-BE49-F238E27FC236}">
                <a16:creationId xmlns:a16="http://schemas.microsoft.com/office/drawing/2014/main" id="{5BF8870F-7094-C29D-E8ED-ECA89B03654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5346" y="260963"/>
            <a:ext cx="1874520" cy="411480"/>
          </a:xfrm>
          <a:prstGeom prst="rect">
            <a:avLst/>
          </a:prstGeom>
          <a:noFill/>
          <a:ln>
            <a:noFill/>
          </a:ln>
        </p:spPr>
      </p:pic>
    </p:spTree>
    <p:extLst>
      <p:ext uri="{BB962C8B-B14F-4D97-AF65-F5344CB8AC3E}">
        <p14:creationId xmlns:p14="http://schemas.microsoft.com/office/powerpoint/2010/main" val="187623493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12" name="object 25">
            <a:extLst>
              <a:ext uri="{FF2B5EF4-FFF2-40B4-BE49-F238E27FC236}">
                <a16:creationId xmlns:a16="http://schemas.microsoft.com/office/drawing/2014/main" id="{B5B8F871-0E84-42DA-BFCD-CDAC5D2E416E}"/>
              </a:ext>
            </a:extLst>
          </p:cNvPr>
          <p:cNvPicPr>
            <a:picLocks noChangeAspect="1"/>
          </p:cNvPicPr>
          <p:nvPr userDrawn="1"/>
        </p:nvPicPr>
        <p:blipFill rotWithShape="1">
          <a:blip r:embed="rId2" cstate="print"/>
          <a:srcRect b="9915"/>
          <a:stretch/>
        </p:blipFill>
        <p:spPr>
          <a:xfrm>
            <a:off x="9666514" y="5977316"/>
            <a:ext cx="2525486" cy="880683"/>
          </a:xfrm>
          <a:prstGeom prst="rect">
            <a:avLst/>
          </a:prstGeom>
        </p:spPr>
      </p:pic>
    </p:spTree>
    <p:extLst>
      <p:ext uri="{BB962C8B-B14F-4D97-AF65-F5344CB8AC3E}">
        <p14:creationId xmlns:p14="http://schemas.microsoft.com/office/powerpoint/2010/main" val="37440135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8580849"/>
      </p:ext>
    </p:extLst>
  </p:cSld>
  <p:clrMap bg1="lt1" tx1="dk1" bg2="lt2" tx2="dk2" accent1="accent1" accent2="accent2" accent3="accent3" accent4="accent4" accent5="accent5" accent6="accent6" hlink="hlink" folHlink="folHlink"/>
  <p:sldLayoutIdLst>
    <p:sldLayoutId id="2147483671" r:id="rId1"/>
    <p:sldLayoutId id="214748364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 Id="rId16" Type="http://schemas.openxmlformats.org/officeDocument/2006/relationships/image" Target="../media/image26.png"/><Relationship Id="rId17"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microsoft.com/office/2007/relationships/hdphoto" Target="../media/hdphoto1.wdp"/><Relationship Id="rId5"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rma libre 11">
            <a:extLst>
              <a:ext uri="{FF2B5EF4-FFF2-40B4-BE49-F238E27FC236}">
                <a16:creationId xmlns:a16="http://schemas.microsoft.com/office/drawing/2014/main" id="{D2B11345-E8EA-ACC7-79CF-9FA1F48C198A}"/>
              </a:ext>
            </a:extLst>
          </p:cNvPr>
          <p:cNvSpPr/>
          <p:nvPr/>
        </p:nvSpPr>
        <p:spPr>
          <a:xfrm>
            <a:off x="0" y="0"/>
            <a:ext cx="12192001" cy="6858000"/>
          </a:xfrm>
          <a:custGeom>
            <a:avLst/>
            <a:gdLst>
              <a:gd name="connsiteX0" fmla="*/ 1130164 w 5988108"/>
              <a:gd name="connsiteY0" fmla="*/ 0 h 6858123"/>
              <a:gd name="connsiteX1" fmla="*/ 4627399 w 5988108"/>
              <a:gd name="connsiteY1" fmla="*/ 0 h 6858123"/>
              <a:gd name="connsiteX2" fmla="*/ 4627399 w 5988108"/>
              <a:gd name="connsiteY2" fmla="*/ 121 h 6858123"/>
              <a:gd name="connsiteX3" fmla="*/ 5988108 w 5988108"/>
              <a:gd name="connsiteY3" fmla="*/ 121 h 6858123"/>
              <a:gd name="connsiteX4" fmla="*/ 3645379 w 5988108"/>
              <a:gd name="connsiteY4" fmla="*/ 6858120 h 6858123"/>
              <a:gd name="connsiteX5" fmla="*/ 3497235 w 5988108"/>
              <a:gd name="connsiteY5" fmla="*/ 6858120 h 6858123"/>
              <a:gd name="connsiteX6" fmla="*/ 3497235 w 5988108"/>
              <a:gd name="connsiteY6" fmla="*/ 6858123 h 6858123"/>
              <a:gd name="connsiteX7" fmla="*/ 0 w 5988108"/>
              <a:gd name="connsiteY7" fmla="*/ 6858123 h 6858123"/>
              <a:gd name="connsiteX8" fmla="*/ 0 w 5988108"/>
              <a:gd name="connsiteY8" fmla="*/ 123 h 6858123"/>
              <a:gd name="connsiteX9" fmla="*/ 1130164 w 5988108"/>
              <a:gd name="connsiteY9" fmla="*/ 123 h 6858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8108" h="6858123">
                <a:moveTo>
                  <a:pt x="1130164" y="0"/>
                </a:moveTo>
                <a:lnTo>
                  <a:pt x="4627399" y="0"/>
                </a:lnTo>
                <a:lnTo>
                  <a:pt x="4627399" y="121"/>
                </a:lnTo>
                <a:lnTo>
                  <a:pt x="5988108" y="121"/>
                </a:lnTo>
                <a:lnTo>
                  <a:pt x="3645379" y="6858120"/>
                </a:lnTo>
                <a:lnTo>
                  <a:pt x="3497235" y="6858120"/>
                </a:lnTo>
                <a:lnTo>
                  <a:pt x="3497235" y="6858123"/>
                </a:lnTo>
                <a:lnTo>
                  <a:pt x="0" y="6858123"/>
                </a:lnTo>
                <a:lnTo>
                  <a:pt x="0" y="123"/>
                </a:lnTo>
                <a:lnTo>
                  <a:pt x="1130164" y="123"/>
                </a:lnTo>
                <a:close/>
              </a:path>
            </a:pathLst>
          </a:custGeom>
          <a:solidFill>
            <a:srgbClr val="0760A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dirty="0"/>
          </a:p>
        </p:txBody>
      </p:sp>
      <p:pic>
        <p:nvPicPr>
          <p:cNvPr id="10" name="object 16">
            <a:extLst>
              <a:ext uri="{FF2B5EF4-FFF2-40B4-BE49-F238E27FC236}">
                <a16:creationId xmlns:a16="http://schemas.microsoft.com/office/drawing/2014/main" id="{58731C1D-78BA-E384-79A1-F1D7DFBABCC3}"/>
              </a:ext>
            </a:extLst>
          </p:cNvPr>
          <p:cNvPicPr/>
          <p:nvPr/>
        </p:nvPicPr>
        <p:blipFill>
          <a:blip r:embed="rId3" cstate="print"/>
          <a:stretch>
            <a:fillRect/>
          </a:stretch>
        </p:blipFill>
        <p:spPr>
          <a:xfrm>
            <a:off x="0" y="5538902"/>
            <a:ext cx="3497234" cy="1319098"/>
          </a:xfrm>
          <a:prstGeom prst="rect">
            <a:avLst/>
          </a:prstGeom>
        </p:spPr>
      </p:pic>
      <p:sp>
        <p:nvSpPr>
          <p:cNvPr id="3" name="CuadroTexto 2">
            <a:extLst>
              <a:ext uri="{FF2B5EF4-FFF2-40B4-BE49-F238E27FC236}">
                <a16:creationId xmlns:a16="http://schemas.microsoft.com/office/drawing/2014/main" id="{69DF4267-6090-847A-2F6D-04E12D2A0EBC}"/>
              </a:ext>
            </a:extLst>
          </p:cNvPr>
          <p:cNvSpPr txBox="1"/>
          <p:nvPr/>
        </p:nvSpPr>
        <p:spPr>
          <a:xfrm>
            <a:off x="1110694" y="1397673"/>
            <a:ext cx="3386667" cy="461665"/>
          </a:xfrm>
          <a:prstGeom prst="rect">
            <a:avLst/>
          </a:prstGeom>
          <a:noFill/>
        </p:spPr>
        <p:txBody>
          <a:bodyPr wrap="square" rtlCol="0">
            <a:spAutoFit/>
          </a:bodyPr>
          <a:lstStyle/>
          <a:p>
            <a:r>
              <a:rPr lang="es-ES_tradnl" sz="2400" b="1" dirty="0">
                <a:solidFill>
                  <a:schemeClr val="bg1"/>
                </a:solidFill>
                <a:latin typeface="Muli" panose="02000503000000000000" pitchFamily="2" charset="77"/>
              </a:rPr>
              <a:t> </a:t>
            </a:r>
            <a:endParaRPr lang="es-ES_tradnl" sz="700" b="1" dirty="0">
              <a:solidFill>
                <a:schemeClr val="bg1"/>
              </a:solidFill>
              <a:latin typeface="Muli" panose="02000503000000000000" pitchFamily="2" charset="77"/>
            </a:endParaRPr>
          </a:p>
        </p:txBody>
      </p:sp>
      <p:sp>
        <p:nvSpPr>
          <p:cNvPr id="2" name="CuadroTexto 1">
            <a:extLst>
              <a:ext uri="{FF2B5EF4-FFF2-40B4-BE49-F238E27FC236}">
                <a16:creationId xmlns:a16="http://schemas.microsoft.com/office/drawing/2014/main" id="{8AA243A7-AFC0-B88E-E363-1E709C1BB91E}"/>
              </a:ext>
            </a:extLst>
          </p:cNvPr>
          <p:cNvSpPr txBox="1"/>
          <p:nvPr/>
        </p:nvSpPr>
        <p:spPr>
          <a:xfrm>
            <a:off x="769545" y="2840055"/>
            <a:ext cx="7461504" cy="1354217"/>
          </a:xfrm>
          <a:prstGeom prst="rect">
            <a:avLst/>
          </a:prstGeom>
          <a:noFill/>
        </p:spPr>
        <p:txBody>
          <a:bodyPr wrap="square" rtlCol="0">
            <a:spAutoFit/>
          </a:bodyPr>
          <a:lstStyle/>
          <a:p>
            <a:pPr algn="r"/>
            <a:r>
              <a:rPr lang="es-ES" sz="4400" b="1" dirty="0">
                <a:solidFill>
                  <a:schemeClr val="bg1"/>
                </a:solidFill>
                <a:latin typeface="+mj-lt"/>
              </a:rPr>
              <a:t>¿Desaparecerá el tumor?</a:t>
            </a:r>
            <a:endParaRPr lang="es-ES_tradnl" sz="3200" b="1" dirty="0">
              <a:solidFill>
                <a:schemeClr val="bg1"/>
              </a:solidFill>
              <a:latin typeface="+mj-lt"/>
            </a:endParaRPr>
          </a:p>
          <a:p>
            <a:pPr algn="r"/>
            <a:endParaRPr lang="es-ES_tradnl" sz="3200" b="1" dirty="0">
              <a:solidFill>
                <a:schemeClr val="bg1"/>
              </a:solidFill>
              <a:latin typeface="+mj-lt"/>
            </a:endParaRPr>
          </a:p>
          <a:p>
            <a:pPr algn="r"/>
            <a:r>
              <a:rPr lang="es-ES" dirty="0" sz="1800">
                <a:solidFill>
                  <a:schemeClr val="bg1"/>
                </a:solidFill>
                <a:latin typeface="+mj-lt"/>
              </a:rPr>
              <a:t>Predicción de la respuesta patológica completa (pCR) con una CNN desde cero y resonancia DCE-MRI</a:t>
            </a:r>
            <a:endParaRPr lang="es-ES_tradnl" b="1" dirty="0">
              <a:solidFill>
                <a:schemeClr val="bg1"/>
              </a:solidFill>
              <a:latin typeface="+mj-lt"/>
            </a:endParaRPr>
          </a:p>
        </p:txBody>
      </p:sp>
      <p:sp>
        <p:nvSpPr>
          <p:cNvPr id="11" name="CuadroTexto 10">
            <a:extLst>
              <a:ext uri="{FF2B5EF4-FFF2-40B4-BE49-F238E27FC236}">
                <a16:creationId xmlns:a16="http://schemas.microsoft.com/office/drawing/2014/main" id="{C37DFFB6-4822-41D8-9F92-84BE3C8C7A4F}"/>
              </a:ext>
            </a:extLst>
          </p:cNvPr>
          <p:cNvSpPr txBox="1"/>
          <p:nvPr/>
        </p:nvSpPr>
        <p:spPr>
          <a:xfrm>
            <a:off x="2377440" y="4681728"/>
            <a:ext cx="5852160" cy="369332"/>
          </a:xfrm>
          <a:prstGeom prst="rect">
            <a:avLst/>
          </a:prstGeom>
          <a:noFill/>
        </p:spPr>
        <p:txBody>
          <a:bodyPr wrap="square">
            <a:spAutoFit/>
          </a:bodyPr>
          <a:lstStyle/>
          <a:p>
            <a:pPr algn="r">
              <a:spcAft>
                <a:spcPts val="400"/>
              </a:spcAft>
            </a:pPr>
            <a:r>
              <a:rPr sz="1800" b="1" i="0">
                <a:solidFill>
                  <a:srgbClr val="FFFFFF"/>
                </a:solidFill>
                <a:latin typeface="Calibri"/>
              </a:rPr>
              <a:t>Judith M.ª Salas García</a:t>
            </a:r>
            <a:endParaRPr lang="es-ES_tradnl" sz="500" b="1" dirty="0">
              <a:solidFill>
                <a:schemeClr val="bg1">
                  <a:lumMod val="95000"/>
                </a:schemeClr>
              </a:solidFill>
              <a:latin typeface="Muli" panose="02000503000000000000" pitchFamily="2" charset="77"/>
            </a:endParaRPr>
          </a:p>
          <a:p>
            <a:pPr algn="r">
              <a:spcAft>
                <a:spcPts val="0"/>
              </a:spcAft>
            </a:pPr>
            <a:r>
              <a:rPr sz="1400" b="0" i="0">
                <a:solidFill>
                  <a:srgbClr val="FFFFFF"/>
                </a:solidFill>
                <a:latin typeface="Calibri"/>
              </a:rPr>
              <a:t>Caso BreastDCEDL, Aprendizaje Automático (UAX), curso 2026-27</a:t>
            </a:r>
          </a:p>
        </p:txBody>
      </p:sp>
      <p:sp>
        <p:nvSpPr>
          <p:cNvPr id="13" name="Anillo"/>
          <p:cNvSpPr/>
          <p:nvPr/>
        </p:nvSpPr>
        <p:spPr>
          <a:xfrm>
            <a:off x="9769144" y="676656"/>
            <a:ext cx="2304288" cy="2304288"/>
          </a:xfrm>
          <a:prstGeom prst="ellipse">
            <a:avLst/>
          </a:prstGeom>
          <a:solidFill>
            <a:srgbClr val="F2A541"/>
          </a:solidFill>
          <a:ln>
            <a:noFill/>
          </a:ln>
        </p:spPr>
        <p:txBody>
          <a:bodyPr rtlCol="0" anchor="ctr"/>
          <a:lstStyle/>
          <a:p>
            <a:pPr algn="ctr"/>
          </a:p>
        </p:txBody>
      </p:sp>
      <p:pic>
        <p:nvPicPr>
          <p:cNvPr id="14" name="Resonancia" descr="Corte de resonancia de mama en fase EARLY: el tumor realza"/>
          <p:cNvPicPr>
            <a:picLocks noChangeAspect="1"/>
          </p:cNvPicPr>
          <p:nvPr/>
        </p:nvPicPr>
        <p:blipFill>
          <a:blip r:embed="rId4"/>
          <a:stretch>
            <a:fillRect/>
          </a:stretch>
        </p:blipFill>
        <p:spPr>
          <a:xfrm>
            <a:off x="9824008" y="731520"/>
            <a:ext cx="2194560" cy="2194560"/>
          </a:xfrm>
          <a:prstGeom prst="rect">
            <a:avLst/>
          </a:prstGeom>
        </p:spPr>
      </p:pic>
    </p:spTree>
    <p:extLst>
      <p:ext uri="{BB962C8B-B14F-4D97-AF65-F5344CB8AC3E}">
        <p14:creationId xmlns:p14="http://schemas.microsoft.com/office/powerpoint/2010/main" val="364406314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548640" y="347472"/>
            <a:ext cx="11064240" cy="566928"/>
          </a:xfrm>
          <a:prstGeom prst="rect">
            <a:avLst/>
          </a:prstGeom>
          <a:noFill/>
        </p:spPr>
        <p:txBody>
          <a:bodyPr wrap="square" lIns="0" rIns="0" tIns="0" bIns="0" anchor="t">
            <a:noAutofit/>
          </a:bodyPr>
          <a:lstStyle/>
          <a:p>
            <a:pPr algn="l">
              <a:spcAft>
                <a:spcPts val="0"/>
              </a:spcAft>
            </a:pPr>
            <a:r>
              <a:rPr sz="3200" b="1" i="0">
                <a:solidFill>
                  <a:srgbClr val="0760AB"/>
                </a:solidFill>
                <a:latin typeface="+mj-lt"/>
              </a:rPr>
              <a:t>Estimar la pCR antes de empezar el tratamiento</a:t>
            </a:r>
          </a:p>
        </p:txBody>
      </p:sp>
      <p:sp>
        <p:nvSpPr>
          <p:cNvPr id="3" name="Entradilla"/>
          <p:cNvSpPr txBox="1"/>
          <p:nvPr/>
        </p:nvSpPr>
        <p:spPr>
          <a:xfrm>
            <a:off x="548640" y="932688"/>
            <a:ext cx="10607040" cy="365760"/>
          </a:xfrm>
          <a:prstGeom prst="rect">
            <a:avLst/>
          </a:prstGeom>
          <a:noFill/>
        </p:spPr>
        <p:txBody>
          <a:bodyPr wrap="square" lIns="0" rIns="0" tIns="0" bIns="0" anchor="t">
            <a:noAutofit/>
          </a:bodyPr>
          <a:lstStyle/>
          <a:p>
            <a:pPr algn="l">
              <a:spcAft>
                <a:spcPts val="0"/>
              </a:spcAft>
            </a:pPr>
            <a:r>
              <a:rPr sz="1600" b="0" i="0">
                <a:solidFill>
                  <a:srgbClr val="5B6875"/>
                </a:solidFill>
                <a:latin typeface="Calibri"/>
              </a:rPr>
              <a:t>Con la resonancia DCE-MRI previa a la quimioterapia y una CNN propia, desde cero, sin datos clínicos en la red.</a:t>
            </a:r>
          </a:p>
        </p:txBody>
      </p:sp>
      <p:sp>
        <p:nvSpPr>
          <p:cNvPr id="4" name="Anillo"/>
          <p:cNvSpPr/>
          <p:nvPr/>
        </p:nvSpPr>
        <p:spPr>
          <a:xfrm>
            <a:off x="630936" y="1545336"/>
            <a:ext cx="2212848" cy="2212848"/>
          </a:xfrm>
          <a:prstGeom prst="ellipse">
            <a:avLst/>
          </a:prstGeom>
          <a:solidFill>
            <a:srgbClr val="F2A541"/>
          </a:solidFill>
          <a:ln>
            <a:noFill/>
          </a:ln>
        </p:spPr>
        <p:txBody>
          <a:bodyPr rtlCol="0" anchor="ctr"/>
          <a:lstStyle/>
          <a:p>
            <a:pPr algn="ctr"/>
          </a:p>
        </p:txBody>
      </p:sp>
      <p:pic>
        <p:nvPicPr>
          <p:cNvPr id="5" name="Resonancia" descr="Corte de resonancia de mama en fase EARLY: el tumor realza"/>
          <p:cNvPicPr>
            <a:picLocks noChangeAspect="1"/>
          </p:cNvPicPr>
          <p:nvPr/>
        </p:nvPicPr>
        <p:blipFill>
          <a:blip r:embed="rId2"/>
          <a:stretch>
            <a:fillRect/>
          </a:stretch>
        </p:blipFill>
        <p:spPr>
          <a:xfrm>
            <a:off x="685800" y="1600200"/>
            <a:ext cx="2103120" cy="2103120"/>
          </a:xfrm>
          <a:prstGeom prst="rect">
            <a:avLst/>
          </a:prstGeom>
        </p:spPr>
      </p:pic>
      <p:sp>
        <p:nvSpPr>
          <p:cNvPr id="6" name="TextBox 5"/>
          <p:cNvSpPr txBox="1"/>
          <p:nvPr/>
        </p:nvSpPr>
        <p:spPr>
          <a:xfrm>
            <a:off x="548640" y="3767328"/>
            <a:ext cx="2651760" cy="201168"/>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Imagen: BreastDCEDL, CC BY-NC 4.0</a:t>
            </a:r>
          </a:p>
        </p:txBody>
      </p:sp>
      <p:sp>
        <p:nvSpPr>
          <p:cNvPr id="7" name="TextBox 6"/>
          <p:cNvSpPr txBox="1"/>
          <p:nvPr/>
        </p:nvSpPr>
        <p:spPr>
          <a:xfrm>
            <a:off x="3246120" y="1554480"/>
            <a:ext cx="3840480" cy="274320"/>
          </a:xfrm>
          <a:prstGeom prst="rect">
            <a:avLst/>
          </a:prstGeom>
          <a:noFill/>
        </p:spPr>
        <p:txBody>
          <a:bodyPr wrap="square" lIns="0" rIns="0" tIns="0" bIns="0" anchor="t">
            <a:noAutofit/>
          </a:bodyPr>
          <a:lstStyle/>
          <a:p>
            <a:pPr algn="l">
              <a:spcAft>
                <a:spcPts val="0"/>
              </a:spcAft>
            </a:pPr>
            <a:r>
              <a:rPr sz="1500" b="1" i="0">
                <a:solidFill>
                  <a:srgbClr val="1C2733"/>
                </a:solidFill>
                <a:latin typeface="Calibri"/>
              </a:rPr>
              <a:t>Qué es la pCR</a:t>
            </a:r>
          </a:p>
        </p:txBody>
      </p:sp>
      <p:sp>
        <p:nvSpPr>
          <p:cNvPr id="8" name="TextBox 7"/>
          <p:cNvSpPr txBox="1"/>
          <p:nvPr/>
        </p:nvSpPr>
        <p:spPr>
          <a:xfrm>
            <a:off x="3246120" y="1856231"/>
            <a:ext cx="3840480" cy="777240"/>
          </a:xfrm>
          <a:prstGeom prst="rect">
            <a:avLst/>
          </a:prstGeom>
          <a:noFill/>
        </p:spPr>
        <p:txBody>
          <a:bodyPr wrap="square" lIns="0" rIns="0" tIns="0" bIns="0" anchor="t">
            <a:noAutofit/>
          </a:bodyPr>
          <a:lstStyle/>
          <a:p>
            <a:pPr algn="l">
              <a:lnSpc>
                <a:spcPct val="100000"/>
              </a:lnSpc>
              <a:spcAft>
                <a:spcPts val="0"/>
              </a:spcAft>
            </a:pPr>
            <a:r>
              <a:rPr sz="1400" b="0" i="0">
                <a:solidFill>
                  <a:srgbClr val="1C2733"/>
                </a:solidFill>
                <a:latin typeface="Calibri"/>
              </a:rPr>
              <a:t>Respuesta patológica completa: tras la quimioterapia, en la cirugía no queda cáncer invasivo ni en la mama ni en los ganglios.</a:t>
            </a:r>
          </a:p>
        </p:txBody>
      </p:sp>
      <p:sp>
        <p:nvSpPr>
          <p:cNvPr id="9" name="TextBox 8"/>
          <p:cNvSpPr txBox="1"/>
          <p:nvPr/>
        </p:nvSpPr>
        <p:spPr>
          <a:xfrm>
            <a:off x="3246120" y="2670048"/>
            <a:ext cx="3840480" cy="502920"/>
          </a:xfrm>
          <a:prstGeom prst="rect">
            <a:avLst/>
          </a:prstGeom>
          <a:noFill/>
        </p:spPr>
        <p:txBody>
          <a:bodyPr wrap="square" lIns="0" rIns="0" tIns="0" bIns="0" anchor="t">
            <a:noAutofit/>
          </a:bodyPr>
          <a:lstStyle/>
          <a:p>
            <a:pPr algn="l">
              <a:spcAft>
                <a:spcPts val="0"/>
              </a:spcAft>
            </a:pPr>
            <a:r>
              <a:rPr sz="3200" b="1" i="0">
                <a:solidFill>
                  <a:srgbClr val="9A5800"/>
                </a:solidFill>
                <a:latin typeface="+mj-lt"/>
              </a:rPr>
              <a:t>29 de cada 100</a:t>
            </a:r>
          </a:p>
        </p:txBody>
      </p:sp>
      <p:sp>
        <p:nvSpPr>
          <p:cNvPr id="10" name="TextBox 9"/>
          <p:cNvSpPr txBox="1"/>
          <p:nvPr/>
        </p:nvSpPr>
        <p:spPr>
          <a:xfrm>
            <a:off x="3246120" y="3154680"/>
            <a:ext cx="3840480" cy="228600"/>
          </a:xfrm>
          <a:prstGeom prst="rect">
            <a:avLst/>
          </a:prstGeom>
          <a:noFill/>
        </p:spPr>
        <p:txBody>
          <a:bodyPr wrap="square" lIns="0" rIns="0" tIns="0" bIns="0" anchor="t">
            <a:noAutofit/>
          </a:bodyPr>
          <a:lstStyle/>
          <a:p>
            <a:pPr algn="l">
              <a:spcAft>
                <a:spcPts val="0"/>
              </a:spcAft>
            </a:pPr>
            <a:r>
              <a:rPr sz="1200" b="0" i="0">
                <a:solidFill>
                  <a:srgbClr val="5B6875"/>
                </a:solidFill>
                <a:latin typeface="Calibri"/>
              </a:rPr>
              <a:t>pacientes de entrenamiento la alcanzan</a:t>
            </a:r>
          </a:p>
        </p:txBody>
      </p:sp>
      <p:sp>
        <p:nvSpPr>
          <p:cNvPr id="11" name="TextBox 10"/>
          <p:cNvSpPr txBox="1"/>
          <p:nvPr/>
        </p:nvSpPr>
        <p:spPr>
          <a:xfrm>
            <a:off x="3246120" y="3401568"/>
            <a:ext cx="3840480" cy="411480"/>
          </a:xfrm>
          <a:prstGeom prst="rect">
            <a:avLst/>
          </a:prstGeom>
          <a:noFill/>
        </p:spPr>
        <p:txBody>
          <a:bodyPr wrap="square" lIns="0" rIns="0" tIns="0" bIns="0" anchor="t">
            <a:noAutofit/>
          </a:bodyPr>
          <a:lstStyle/>
          <a:p>
            <a:pPr algn="l">
              <a:spcAft>
                <a:spcPts val="0"/>
              </a:spcAft>
            </a:pPr>
            <a:r>
              <a:rPr sz="1150" b="0" i="0">
                <a:solidFill>
                  <a:srgbClr val="5B6875"/>
                </a:solidFill>
                <a:latin typeface="Calibri"/>
              </a:rPr>
              <a:t>Se asocia a mejor pronóstico en varios subtipos, y los ensayos la usan como resultado temprano (FDA, 2020).</a:t>
            </a:r>
          </a:p>
        </p:txBody>
      </p:sp>
      <p:sp>
        <p:nvSpPr>
          <p:cNvPr id="12" name="Objetivo"/>
          <p:cNvSpPr/>
          <p:nvPr/>
        </p:nvSpPr>
        <p:spPr>
          <a:xfrm>
            <a:off x="7498079" y="1572768"/>
            <a:ext cx="4206240" cy="2212848"/>
          </a:xfrm>
          <a:prstGeom prst="roundRect">
            <a:avLst>
              <a:gd name="adj" fmla="val 6000"/>
            </a:avLst>
          </a:prstGeom>
          <a:solidFill>
            <a:srgbClr val="E6EFF8"/>
          </a:solidFill>
          <a:ln>
            <a:noFill/>
          </a:ln>
        </p:spPr>
        <p:txBody>
          <a:bodyPr rtlCol="0" anchor="ctr" wrap="square" lIns="201168" rIns="201168" tIns="91440" bIns="91440">
            <a:noAutofit/>
          </a:bodyPr>
          <a:lstStyle/>
          <a:p>
            <a:pPr algn="l">
              <a:spcAft>
                <a:spcPts val="600"/>
              </a:spcAft>
            </a:pPr>
            <a:r>
              <a:rPr sz="1500" b="1" i="0">
                <a:solidFill>
                  <a:srgbClr val="0760AB"/>
                </a:solidFill>
                <a:latin typeface="Calibri"/>
              </a:rPr>
              <a:t>Objetivo</a:t>
            </a:r>
          </a:p>
          <a:p>
            <a:pPr algn="l">
              <a:spcAft>
                <a:spcPts val="600"/>
              </a:spcAft>
            </a:pPr>
            <a:r>
              <a:rPr sz="1350" b="0" i="0">
                <a:solidFill>
                  <a:srgbClr val="1C2733"/>
                </a:solidFill>
                <a:latin typeface="Calibri"/>
              </a:rPr>
              <a:t>Estimar la probabilidad de pCR de cada paciente solo con la imagen de antes del tratamiento, y llevarla a una app web que dé la misma probabilidad que el código.</a:t>
            </a:r>
          </a:p>
          <a:p>
            <a:pPr algn="l">
              <a:spcAft>
                <a:spcPts val="0"/>
              </a:spcAft>
            </a:pPr>
            <a:r>
              <a:rPr sz="1350" b="1" i="0">
                <a:solidFill>
                  <a:srgbClr val="1C2733"/>
                </a:solidFill>
                <a:latin typeface="Calibri"/>
              </a:rPr>
              <a:t>Es investigación: </a:t>
            </a:r>
            <a:r>
              <a:rPr sz="1350" b="0" i="0">
                <a:solidFill>
                  <a:srgbClr val="1C2733"/>
                </a:solidFill>
                <a:latin typeface="Calibri"/>
              </a:rPr>
              <a:t>no sirve para decidir un tratamiento.</a:t>
            </a:r>
          </a:p>
        </p:txBody>
      </p:sp>
      <p:cxnSp>
        <p:nvCxnSpPr>
          <p:cNvPr id="13" name="Línea temporal"/>
          <p:cNvCxnSpPr/>
          <p:nvPr/>
        </p:nvCxnSpPr>
        <p:spPr>
          <a:xfrm>
            <a:off x="1600200" y="4901184"/>
            <a:ext cx="8915400" cy="0"/>
          </a:xfrm>
          <a:prstGeom prst="line">
            <a:avLst/>
          </a:prstGeom>
          <a:ln w="19050">
            <a:solidFill>
              <a:srgbClr val="C9D2DA"/>
            </a:solidFill>
          </a:ln>
        </p:spPr>
      </p:cxnSp>
      <p:sp>
        <p:nvSpPr>
          <p:cNvPr id="14" name="Paso Resonancia DCE-MRI"/>
          <p:cNvSpPr/>
          <p:nvPr/>
        </p:nvSpPr>
        <p:spPr>
          <a:xfrm>
            <a:off x="1271016" y="4572000"/>
            <a:ext cx="658368" cy="658368"/>
          </a:xfrm>
          <a:prstGeom prst="ellipse">
            <a:avLst/>
          </a:prstGeom>
          <a:solidFill>
            <a:srgbClr val="0760AB"/>
          </a:solidFill>
          <a:ln>
            <a:noFill/>
          </a:ln>
        </p:spPr>
        <p:txBody>
          <a:bodyPr rtlCol="0" anchor="ctr"/>
          <a:lstStyle/>
          <a:p>
            <a:pPr algn="ctr"/>
          </a:p>
        </p:txBody>
      </p:sp>
      <p:pic>
        <p:nvPicPr>
          <p:cNvPr id="15" name="Icono Resonancia DCE-MRI" descr="scan_blanco.png"/>
          <p:cNvPicPr>
            <a:picLocks noChangeAspect="1"/>
          </p:cNvPicPr>
          <p:nvPr/>
        </p:nvPicPr>
        <p:blipFill>
          <a:blip r:embed="rId3"/>
          <a:stretch>
            <a:fillRect/>
          </a:stretch>
        </p:blipFill>
        <p:spPr>
          <a:xfrm>
            <a:off x="1399032" y="4700016"/>
            <a:ext cx="402336" cy="402336"/>
          </a:xfrm>
          <a:prstGeom prst="rect">
            <a:avLst/>
          </a:prstGeom>
        </p:spPr>
      </p:pic>
      <p:sp>
        <p:nvSpPr>
          <p:cNvPr id="16" name="TextBox 15"/>
          <p:cNvSpPr txBox="1"/>
          <p:nvPr/>
        </p:nvSpPr>
        <p:spPr>
          <a:xfrm>
            <a:off x="502920" y="5303520"/>
            <a:ext cx="2194560" cy="228600"/>
          </a:xfrm>
          <a:prstGeom prst="rect">
            <a:avLst/>
          </a:prstGeom>
          <a:noFill/>
        </p:spPr>
        <p:txBody>
          <a:bodyPr wrap="square" lIns="0" rIns="0" tIns="0" bIns="0" anchor="t">
            <a:noAutofit/>
          </a:bodyPr>
          <a:lstStyle/>
          <a:p>
            <a:pPr algn="ctr">
              <a:spcAft>
                <a:spcPts val="0"/>
              </a:spcAft>
            </a:pPr>
            <a:r>
              <a:rPr sz="1300" b="1" i="0">
                <a:solidFill>
                  <a:srgbClr val="1C2733"/>
                </a:solidFill>
                <a:latin typeface="Calibri"/>
              </a:rPr>
              <a:t>Resonancia DCE-MRI</a:t>
            </a:r>
          </a:p>
        </p:txBody>
      </p:sp>
      <p:sp>
        <p:nvSpPr>
          <p:cNvPr id="17" name="TextBox 16"/>
          <p:cNvSpPr txBox="1"/>
          <p:nvPr/>
        </p:nvSpPr>
        <p:spPr>
          <a:xfrm>
            <a:off x="502920" y="5532120"/>
            <a:ext cx="2194560" cy="219456"/>
          </a:xfrm>
          <a:prstGeom prst="rect">
            <a:avLst/>
          </a:prstGeom>
          <a:noFill/>
        </p:spPr>
        <p:txBody>
          <a:bodyPr wrap="square" lIns="0" rIns="0" tIns="0" bIns="0" anchor="t">
            <a:noAutofit/>
          </a:bodyPr>
          <a:lstStyle/>
          <a:p>
            <a:pPr algn="ctr">
              <a:spcAft>
                <a:spcPts val="0"/>
              </a:spcAft>
            </a:pPr>
            <a:r>
              <a:rPr sz="1150" b="0" i="0">
                <a:solidFill>
                  <a:srgbClr val="5B6875"/>
                </a:solidFill>
                <a:latin typeface="Calibri"/>
              </a:rPr>
              <a:t>PRE, EARLY y LATE, antes de tratar</a:t>
            </a:r>
          </a:p>
        </p:txBody>
      </p:sp>
      <p:sp>
        <p:nvSpPr>
          <p:cNvPr id="18" name="Paso Quimioterapia"/>
          <p:cNvSpPr/>
          <p:nvPr/>
        </p:nvSpPr>
        <p:spPr>
          <a:xfrm>
            <a:off x="4242816" y="4572000"/>
            <a:ext cx="658368" cy="658368"/>
          </a:xfrm>
          <a:prstGeom prst="ellipse">
            <a:avLst/>
          </a:prstGeom>
          <a:solidFill>
            <a:srgbClr val="0760AB"/>
          </a:solidFill>
          <a:ln>
            <a:noFill/>
          </a:ln>
        </p:spPr>
        <p:txBody>
          <a:bodyPr rtlCol="0" anchor="ctr"/>
          <a:lstStyle/>
          <a:p>
            <a:pPr algn="ctr"/>
          </a:p>
        </p:txBody>
      </p:sp>
      <p:pic>
        <p:nvPicPr>
          <p:cNvPr id="19" name="Icono Quimioterapia" descr="quimio_blanco.png"/>
          <p:cNvPicPr>
            <a:picLocks noChangeAspect="1"/>
          </p:cNvPicPr>
          <p:nvPr/>
        </p:nvPicPr>
        <p:blipFill>
          <a:blip r:embed="rId4"/>
          <a:stretch>
            <a:fillRect/>
          </a:stretch>
        </p:blipFill>
        <p:spPr>
          <a:xfrm>
            <a:off x="4370832" y="4700016"/>
            <a:ext cx="402336" cy="402336"/>
          </a:xfrm>
          <a:prstGeom prst="rect">
            <a:avLst/>
          </a:prstGeom>
        </p:spPr>
      </p:pic>
      <p:sp>
        <p:nvSpPr>
          <p:cNvPr id="20" name="TextBox 19"/>
          <p:cNvSpPr txBox="1"/>
          <p:nvPr/>
        </p:nvSpPr>
        <p:spPr>
          <a:xfrm>
            <a:off x="3474720" y="5303520"/>
            <a:ext cx="2194560" cy="228600"/>
          </a:xfrm>
          <a:prstGeom prst="rect">
            <a:avLst/>
          </a:prstGeom>
          <a:noFill/>
        </p:spPr>
        <p:txBody>
          <a:bodyPr wrap="square" lIns="0" rIns="0" tIns="0" bIns="0" anchor="t">
            <a:noAutofit/>
          </a:bodyPr>
          <a:lstStyle/>
          <a:p>
            <a:pPr algn="ctr">
              <a:spcAft>
                <a:spcPts val="0"/>
              </a:spcAft>
            </a:pPr>
            <a:r>
              <a:rPr sz="1300" b="1" i="0">
                <a:solidFill>
                  <a:srgbClr val="1C2733"/>
                </a:solidFill>
                <a:latin typeface="Calibri"/>
              </a:rPr>
              <a:t>Quimioterapia</a:t>
            </a:r>
          </a:p>
        </p:txBody>
      </p:sp>
      <p:sp>
        <p:nvSpPr>
          <p:cNvPr id="21" name="TextBox 20"/>
          <p:cNvSpPr txBox="1"/>
          <p:nvPr/>
        </p:nvSpPr>
        <p:spPr>
          <a:xfrm>
            <a:off x="3474720" y="5532120"/>
            <a:ext cx="2194560" cy="219456"/>
          </a:xfrm>
          <a:prstGeom prst="rect">
            <a:avLst/>
          </a:prstGeom>
          <a:noFill/>
        </p:spPr>
        <p:txBody>
          <a:bodyPr wrap="square" lIns="0" rIns="0" tIns="0" bIns="0" anchor="t">
            <a:noAutofit/>
          </a:bodyPr>
          <a:lstStyle/>
          <a:p>
            <a:pPr algn="ctr">
              <a:spcAft>
                <a:spcPts val="0"/>
              </a:spcAft>
            </a:pPr>
            <a:r>
              <a:rPr sz="1150" b="0" i="0">
                <a:solidFill>
                  <a:srgbClr val="5B6875"/>
                </a:solidFill>
                <a:latin typeface="Calibri"/>
              </a:rPr>
              <a:t>neoadyuvante, antes de operar</a:t>
            </a:r>
          </a:p>
        </p:txBody>
      </p:sp>
      <p:sp>
        <p:nvSpPr>
          <p:cNvPr id="22" name="Paso Cirugía"/>
          <p:cNvSpPr/>
          <p:nvPr/>
        </p:nvSpPr>
        <p:spPr>
          <a:xfrm>
            <a:off x="7214616" y="4572000"/>
            <a:ext cx="658368" cy="658368"/>
          </a:xfrm>
          <a:prstGeom prst="ellipse">
            <a:avLst/>
          </a:prstGeom>
          <a:solidFill>
            <a:srgbClr val="0760AB"/>
          </a:solidFill>
          <a:ln>
            <a:noFill/>
          </a:ln>
        </p:spPr>
        <p:txBody>
          <a:bodyPr rtlCol="0" anchor="ctr"/>
          <a:lstStyle/>
          <a:p>
            <a:pPr algn="ctr"/>
          </a:p>
        </p:txBody>
      </p:sp>
      <p:pic>
        <p:nvPicPr>
          <p:cNvPr id="23" name="Icono Cirugía" descr="cirugia_blanco.png"/>
          <p:cNvPicPr>
            <a:picLocks noChangeAspect="1"/>
          </p:cNvPicPr>
          <p:nvPr/>
        </p:nvPicPr>
        <p:blipFill>
          <a:blip r:embed="rId5"/>
          <a:stretch>
            <a:fillRect/>
          </a:stretch>
        </p:blipFill>
        <p:spPr>
          <a:xfrm>
            <a:off x="7342631" y="4700016"/>
            <a:ext cx="402336" cy="402336"/>
          </a:xfrm>
          <a:prstGeom prst="rect">
            <a:avLst/>
          </a:prstGeom>
        </p:spPr>
      </p:pic>
      <p:sp>
        <p:nvSpPr>
          <p:cNvPr id="24" name="TextBox 23"/>
          <p:cNvSpPr txBox="1"/>
          <p:nvPr/>
        </p:nvSpPr>
        <p:spPr>
          <a:xfrm>
            <a:off x="6446520" y="5303520"/>
            <a:ext cx="2194560" cy="228600"/>
          </a:xfrm>
          <a:prstGeom prst="rect">
            <a:avLst/>
          </a:prstGeom>
          <a:noFill/>
        </p:spPr>
        <p:txBody>
          <a:bodyPr wrap="square" lIns="0" rIns="0" tIns="0" bIns="0" anchor="t">
            <a:noAutofit/>
          </a:bodyPr>
          <a:lstStyle/>
          <a:p>
            <a:pPr algn="ctr">
              <a:spcAft>
                <a:spcPts val="0"/>
              </a:spcAft>
            </a:pPr>
            <a:r>
              <a:rPr sz="1300" b="1" i="0">
                <a:solidFill>
                  <a:srgbClr val="1C2733"/>
                </a:solidFill>
                <a:latin typeface="Calibri"/>
              </a:rPr>
              <a:t>Cirugía</a:t>
            </a:r>
          </a:p>
        </p:txBody>
      </p:sp>
      <p:sp>
        <p:nvSpPr>
          <p:cNvPr id="25" name="TextBox 24"/>
          <p:cNvSpPr txBox="1"/>
          <p:nvPr/>
        </p:nvSpPr>
        <p:spPr>
          <a:xfrm>
            <a:off x="6446520" y="5532120"/>
            <a:ext cx="2194560" cy="219456"/>
          </a:xfrm>
          <a:prstGeom prst="rect">
            <a:avLst/>
          </a:prstGeom>
          <a:noFill/>
        </p:spPr>
        <p:txBody>
          <a:bodyPr wrap="square" lIns="0" rIns="0" tIns="0" bIns="0" anchor="t">
            <a:noAutofit/>
          </a:bodyPr>
          <a:lstStyle/>
          <a:p>
            <a:pPr algn="ctr">
              <a:spcAft>
                <a:spcPts val="0"/>
              </a:spcAft>
            </a:pPr>
            <a:r>
              <a:rPr sz="1150" b="0" i="0">
                <a:solidFill>
                  <a:srgbClr val="5B6875"/>
                </a:solidFill>
                <a:latin typeface="Calibri"/>
              </a:rPr>
              <a:t>se extrae el tejido</a:t>
            </a:r>
          </a:p>
        </p:txBody>
      </p:sp>
      <p:sp>
        <p:nvSpPr>
          <p:cNvPr id="26" name="Paso Anatomía patológica"/>
          <p:cNvSpPr/>
          <p:nvPr/>
        </p:nvSpPr>
        <p:spPr>
          <a:xfrm>
            <a:off x="10186416" y="4572000"/>
            <a:ext cx="658368" cy="658368"/>
          </a:xfrm>
          <a:prstGeom prst="ellipse">
            <a:avLst/>
          </a:prstGeom>
          <a:solidFill>
            <a:srgbClr val="0760AB"/>
          </a:solidFill>
          <a:ln>
            <a:noFill/>
          </a:ln>
        </p:spPr>
        <p:txBody>
          <a:bodyPr rtlCol="0" anchor="ctr"/>
          <a:lstStyle/>
          <a:p>
            <a:pPr algn="ctr"/>
          </a:p>
        </p:txBody>
      </p:sp>
      <p:pic>
        <p:nvPicPr>
          <p:cNvPr id="27" name="Icono Anatomía patológica" descr="micro_blanco.png"/>
          <p:cNvPicPr>
            <a:picLocks noChangeAspect="1"/>
          </p:cNvPicPr>
          <p:nvPr/>
        </p:nvPicPr>
        <p:blipFill>
          <a:blip r:embed="rId6"/>
          <a:stretch>
            <a:fillRect/>
          </a:stretch>
        </p:blipFill>
        <p:spPr>
          <a:xfrm>
            <a:off x="10314432" y="4700016"/>
            <a:ext cx="402336" cy="402336"/>
          </a:xfrm>
          <a:prstGeom prst="rect">
            <a:avLst/>
          </a:prstGeom>
        </p:spPr>
      </p:pic>
      <p:sp>
        <p:nvSpPr>
          <p:cNvPr id="28" name="TextBox 27"/>
          <p:cNvSpPr txBox="1"/>
          <p:nvPr/>
        </p:nvSpPr>
        <p:spPr>
          <a:xfrm>
            <a:off x="9418320" y="5303520"/>
            <a:ext cx="2194560" cy="228600"/>
          </a:xfrm>
          <a:prstGeom prst="rect">
            <a:avLst/>
          </a:prstGeom>
          <a:noFill/>
        </p:spPr>
        <p:txBody>
          <a:bodyPr wrap="square" lIns="0" rIns="0" tIns="0" bIns="0" anchor="t">
            <a:noAutofit/>
          </a:bodyPr>
          <a:lstStyle/>
          <a:p>
            <a:pPr algn="ctr">
              <a:spcAft>
                <a:spcPts val="0"/>
              </a:spcAft>
            </a:pPr>
            <a:r>
              <a:rPr sz="1300" b="1" i="0">
                <a:solidFill>
                  <a:srgbClr val="1C2733"/>
                </a:solidFill>
                <a:latin typeface="Calibri"/>
              </a:rPr>
              <a:t>Anatomía patológica</a:t>
            </a:r>
          </a:p>
        </p:txBody>
      </p:sp>
      <p:sp>
        <p:nvSpPr>
          <p:cNvPr id="29" name="TextBox 28"/>
          <p:cNvSpPr txBox="1"/>
          <p:nvPr/>
        </p:nvSpPr>
        <p:spPr>
          <a:xfrm>
            <a:off x="9418320" y="5532120"/>
            <a:ext cx="2194560" cy="219456"/>
          </a:xfrm>
          <a:prstGeom prst="rect">
            <a:avLst/>
          </a:prstGeom>
          <a:noFill/>
        </p:spPr>
        <p:txBody>
          <a:bodyPr wrap="square" lIns="0" rIns="0" tIns="0" bIns="0" anchor="t">
            <a:noAutofit/>
          </a:bodyPr>
          <a:lstStyle/>
          <a:p>
            <a:pPr algn="ctr">
              <a:spcAft>
                <a:spcPts val="0"/>
              </a:spcAft>
            </a:pPr>
            <a:r>
              <a:rPr sz="1150" b="0" i="0">
                <a:solidFill>
                  <a:srgbClr val="5B6875"/>
                </a:solidFill>
                <a:latin typeface="Calibri"/>
              </a:rPr>
              <a:t>¿queda cáncer invasivo?</a:t>
            </a:r>
          </a:p>
        </p:txBody>
      </p:sp>
      <p:sp>
        <p:nvSpPr>
          <p:cNvPr id="30" name="Arco CNN"/>
          <p:cNvSpPr/>
          <p:nvPr/>
        </p:nvSpPr>
        <p:spPr>
          <a:xfrm>
            <a:off x="1600200" y="4114800"/>
            <a:ext cx="8915400" cy="914400"/>
          </a:xfrm>
          <a:prstGeom prst="arc">
            <a:avLst>
              <a:gd name="adj1" fmla="val 10800000"/>
              <a:gd name="adj2" fmla="val 0"/>
            </a:avLst>
          </a:prstGeom>
          <a:noFill/>
          <a:ln w="28575">
            <a:solidFill>
              <a:srgbClr val="F2A541"/>
            </a:solidFill>
            <a:tailEnd type="triangle" w="med" len="med"/>
          </a:ln>
        </p:spPr>
        <p:txBody>
          <a:bodyPr rtlCol="0" anchor="ctr"/>
          <a:lstStyle/>
          <a:p>
            <a:pPr algn="ctr"/>
          </a:p>
        </p:txBody>
      </p:sp>
      <p:sp>
        <p:nvSpPr>
          <p:cNvPr id="31" name="Rótulo del arco"/>
          <p:cNvSpPr txBox="1"/>
          <p:nvPr/>
        </p:nvSpPr>
        <p:spPr>
          <a:xfrm>
            <a:off x="4023360" y="4297680"/>
            <a:ext cx="4069080" cy="237744"/>
          </a:xfrm>
          <a:prstGeom prst="rect">
            <a:avLst/>
          </a:prstGeom>
          <a:noFill/>
        </p:spPr>
        <p:txBody>
          <a:bodyPr wrap="square" lIns="0" rIns="0" tIns="0" bIns="0" anchor="t">
            <a:noAutofit/>
          </a:bodyPr>
          <a:lstStyle/>
          <a:p>
            <a:pPr algn="ctr">
              <a:spcAft>
                <a:spcPts val="0"/>
              </a:spcAft>
            </a:pPr>
            <a:r>
              <a:rPr sz="1300" b="1" i="0">
                <a:solidFill>
                  <a:srgbClr val="9A5800"/>
                </a:solidFill>
                <a:latin typeface="Calibri"/>
              </a:rPr>
              <a:t>La CNN intenta adelantar este resultado</a:t>
            </a:r>
          </a:p>
        </p:txBody>
      </p:sp>
      <p:sp>
        <p:nvSpPr>
          <p:cNvPr id="32" name="Chip pCR"/>
          <p:cNvSpPr/>
          <p:nvPr/>
        </p:nvSpPr>
        <p:spPr>
          <a:xfrm>
            <a:off x="9601200" y="5797296"/>
            <a:ext cx="841248" cy="256032"/>
          </a:xfrm>
          <a:prstGeom prst="roundRect">
            <a:avLst/>
          </a:prstGeom>
          <a:solidFill>
            <a:srgbClr val="F2A541"/>
          </a:solidFill>
          <a:ln>
            <a:noFill/>
          </a:ln>
        </p:spPr>
        <p:txBody>
          <a:bodyPr rtlCol="0" anchor="ctr" wrap="square" lIns="18288" rIns="18288" tIns="18288" bIns="18288">
            <a:noAutofit/>
          </a:bodyPr>
          <a:lstStyle/>
          <a:p>
            <a:pPr algn="ctr">
              <a:spcAft>
                <a:spcPts val="0"/>
              </a:spcAft>
            </a:pPr>
            <a:r>
              <a:rPr sz="1100" b="0" i="0">
                <a:solidFill>
                  <a:srgbClr val="1C2733"/>
                </a:solidFill>
                <a:latin typeface="Calibri"/>
              </a:rPr>
              <a:t>No: </a:t>
            </a:r>
            <a:r>
              <a:rPr sz="1100" b="1" i="0">
                <a:solidFill>
                  <a:srgbClr val="1C2733"/>
                </a:solidFill>
                <a:latin typeface="Calibri"/>
              </a:rPr>
              <a:t>pCR</a:t>
            </a:r>
          </a:p>
        </p:txBody>
      </p:sp>
      <p:sp>
        <p:nvSpPr>
          <p:cNvPr id="33" name="Chip no pCR"/>
          <p:cNvSpPr/>
          <p:nvPr/>
        </p:nvSpPr>
        <p:spPr>
          <a:xfrm>
            <a:off x="10533888" y="5797296"/>
            <a:ext cx="987552" cy="256032"/>
          </a:xfrm>
          <a:prstGeom prst="roundRect">
            <a:avLst/>
          </a:prstGeom>
          <a:solidFill>
            <a:srgbClr val="DCE3E9"/>
          </a:solidFill>
          <a:ln>
            <a:noFill/>
          </a:ln>
        </p:spPr>
        <p:txBody>
          <a:bodyPr rtlCol="0" anchor="ctr" wrap="square" lIns="18288" rIns="18288" tIns="18288" bIns="18288">
            <a:noAutofit/>
          </a:bodyPr>
          <a:lstStyle/>
          <a:p>
            <a:pPr algn="ctr">
              <a:spcAft>
                <a:spcPts val="0"/>
              </a:spcAft>
            </a:pPr>
            <a:r>
              <a:rPr sz="1100" b="0" i="0">
                <a:solidFill>
                  <a:srgbClr val="1C2733"/>
                </a:solidFill>
                <a:latin typeface="Calibri"/>
              </a:rPr>
              <a:t>Sí: </a:t>
            </a:r>
            <a:r>
              <a:rPr sz="1100" b="1" i="0">
                <a:solidFill>
                  <a:srgbClr val="1C2733"/>
                </a:solidFill>
                <a:latin typeface="Calibri"/>
              </a:rPr>
              <a:t>no pCR</a:t>
            </a:r>
          </a:p>
        </p:txBody>
      </p:sp>
      <p:sp>
        <p:nvSpPr>
          <p:cNvPr id="34" name="Frase clave"/>
          <p:cNvSpPr/>
          <p:nvPr/>
        </p:nvSpPr>
        <p:spPr>
          <a:xfrm>
            <a:off x="548640" y="6053328"/>
            <a:ext cx="8778240" cy="475488"/>
          </a:xfrm>
          <a:prstGeom prst="parallelogram">
            <a:avLst>
              <a:gd name="adj" fmla="val 69466"/>
            </a:avLst>
          </a:prstGeom>
          <a:solidFill>
            <a:srgbClr val="0760AB"/>
          </a:solidFill>
          <a:ln>
            <a:noFill/>
          </a:ln>
        </p:spPr>
        <p:txBody>
          <a:bodyPr rtlCol="0" anchor="ctr" wrap="square" lIns="440033" rIns="440033" tIns="27432" bIns="27432">
            <a:noAutofit/>
          </a:bodyPr>
          <a:lstStyle/>
          <a:p>
            <a:pPr algn="l">
              <a:spcAft>
                <a:spcPts val="0"/>
              </a:spcAft>
            </a:pPr>
            <a:r>
              <a:rPr sz="1400" b="1" i="0">
                <a:solidFill>
                  <a:srgbClr val="FFFFFF"/>
                </a:solidFill>
                <a:latin typeface="Calibri"/>
              </a:rPr>
              <a:t>Investigación: una probabilidad alta nunca justificaría evitar la cirugía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548640" y="347472"/>
            <a:ext cx="11064240" cy="566928"/>
          </a:xfrm>
          <a:prstGeom prst="rect">
            <a:avLst/>
          </a:prstGeom>
          <a:noFill/>
        </p:spPr>
        <p:txBody>
          <a:bodyPr wrap="square" lIns="0" rIns="0" tIns="0" bIns="0" anchor="t">
            <a:noAutofit/>
          </a:bodyPr>
          <a:lstStyle/>
          <a:p>
            <a:pPr algn="l">
              <a:spcAft>
                <a:spcPts val="0"/>
              </a:spcAft>
            </a:pPr>
            <a:r>
              <a:rPr sz="3200" b="1" i="0">
                <a:solidFill>
                  <a:srgbClr val="0760AB"/>
                </a:solidFill>
                <a:latin typeface="+mj-lt"/>
              </a:rPr>
              <a:t>1.097 pacientes, no 11.000 cortes independientes</a:t>
            </a:r>
          </a:p>
        </p:txBody>
      </p:sp>
      <p:sp>
        <p:nvSpPr>
          <p:cNvPr id="3" name="Entradilla"/>
          <p:cNvSpPr txBox="1"/>
          <p:nvPr/>
        </p:nvSpPr>
        <p:spPr>
          <a:xfrm>
            <a:off x="548640" y="932688"/>
            <a:ext cx="10607040" cy="365760"/>
          </a:xfrm>
          <a:prstGeom prst="rect">
            <a:avLst/>
          </a:prstGeom>
          <a:noFill/>
        </p:spPr>
        <p:txBody>
          <a:bodyPr wrap="square" lIns="0" rIns="0" tIns="0" bIns="0" anchor="t">
            <a:noAutofit/>
          </a:bodyPr>
          <a:lstStyle/>
          <a:p>
            <a:pPr algn="l">
              <a:spcAft>
                <a:spcPts val="0"/>
              </a:spcAft>
            </a:pPr>
            <a:r>
              <a:rPr sz="1600" b="0" i="0">
                <a:solidFill>
                  <a:srgbClr val="5B6875"/>
                </a:solidFill>
                <a:latin typeface="Calibri"/>
              </a:rPr>
              <a:t>Cada paciente aporta unos 10 cortes casi iguales: por eso todo se separa, se mide y se agrega por paciente.</a:t>
            </a:r>
          </a:p>
        </p:txBody>
      </p:sp>
      <p:sp>
        <p:nvSpPr>
          <p:cNvPr id="4" name="TextBox 3"/>
          <p:cNvSpPr txBox="1"/>
          <p:nvPr/>
        </p:nvSpPr>
        <p:spPr>
          <a:xfrm>
            <a:off x="548640" y="1481328"/>
            <a:ext cx="3474720" cy="274320"/>
          </a:xfrm>
          <a:prstGeom prst="rect">
            <a:avLst/>
          </a:prstGeom>
          <a:noFill/>
        </p:spPr>
        <p:txBody>
          <a:bodyPr wrap="square" lIns="0" rIns="0" tIns="0" bIns="0" anchor="t">
            <a:noAutofit/>
          </a:bodyPr>
          <a:lstStyle/>
          <a:p>
            <a:pPr algn="l">
              <a:spcAft>
                <a:spcPts val="0"/>
              </a:spcAft>
            </a:pPr>
            <a:r>
              <a:rPr sz="1500" b="1" i="0">
                <a:solidFill>
                  <a:srgbClr val="1C2733"/>
                </a:solidFill>
                <a:latin typeface="Calibri"/>
              </a:rPr>
              <a:t>Qué entra en la red</a:t>
            </a:r>
          </a:p>
        </p:txBody>
      </p:sp>
      <p:sp>
        <p:nvSpPr>
          <p:cNvPr id="5" name="TextBox 4"/>
          <p:cNvSpPr txBox="1"/>
          <p:nvPr/>
        </p:nvSpPr>
        <p:spPr>
          <a:xfrm>
            <a:off x="548640" y="1764792"/>
            <a:ext cx="3474720" cy="256032"/>
          </a:xfrm>
          <a:prstGeom prst="rect">
            <a:avLst/>
          </a:prstGeom>
          <a:noFill/>
        </p:spPr>
        <p:txBody>
          <a:bodyPr wrap="square" lIns="0" rIns="0" tIns="0" bIns="0" anchor="t">
            <a:noAutofit/>
          </a:bodyPr>
          <a:lstStyle/>
          <a:p>
            <a:pPr algn="l">
              <a:spcAft>
                <a:spcPts val="0"/>
              </a:spcAft>
            </a:pPr>
            <a:r>
              <a:rPr sz="1200" b="0" i="0">
                <a:solidFill>
                  <a:srgbClr val="5B6875"/>
                </a:solidFill>
                <a:latin typeface="Calibri"/>
              </a:rPr>
              <a:t>Un corte = 3 PNG de 256 × 256 en gris (8 bits)</a:t>
            </a:r>
          </a:p>
        </p:txBody>
      </p:sp>
      <p:pic>
        <p:nvPicPr>
          <p:cNvPr id="6" name="Fase PRE" descr="Fase PRE del corte de ejemplo"/>
          <p:cNvPicPr>
            <a:picLocks noChangeAspect="1"/>
          </p:cNvPicPr>
          <p:nvPr/>
        </p:nvPicPr>
        <p:blipFill>
          <a:blip r:embed="rId2"/>
          <a:stretch>
            <a:fillRect/>
          </a:stretch>
        </p:blipFill>
        <p:spPr>
          <a:xfrm>
            <a:off x="548640" y="2240280"/>
            <a:ext cx="1069848" cy="1069848"/>
          </a:xfrm>
          <a:prstGeom prst="rect">
            <a:avLst/>
          </a:prstGeom>
        </p:spPr>
      </p:pic>
      <p:sp>
        <p:nvSpPr>
          <p:cNvPr id="7" name="TextBox 6"/>
          <p:cNvSpPr txBox="1"/>
          <p:nvPr/>
        </p:nvSpPr>
        <p:spPr>
          <a:xfrm>
            <a:off x="548640" y="3346704"/>
            <a:ext cx="1069848" cy="201168"/>
          </a:xfrm>
          <a:prstGeom prst="rect">
            <a:avLst/>
          </a:prstGeom>
          <a:noFill/>
        </p:spPr>
        <p:txBody>
          <a:bodyPr wrap="square" lIns="0" rIns="0" tIns="0" bIns="0" anchor="t">
            <a:noAutofit/>
          </a:bodyPr>
          <a:lstStyle/>
          <a:p>
            <a:pPr algn="ctr">
              <a:spcAft>
                <a:spcPts val="0"/>
              </a:spcAft>
            </a:pPr>
            <a:r>
              <a:rPr sz="1150" b="1" i="0">
                <a:solidFill>
                  <a:srgbClr val="1C2733"/>
                </a:solidFill>
                <a:latin typeface="Calibri"/>
              </a:rPr>
              <a:t>PRE</a:t>
            </a:r>
          </a:p>
        </p:txBody>
      </p:sp>
      <p:sp>
        <p:nvSpPr>
          <p:cNvPr id="8" name="TextBox 7"/>
          <p:cNvSpPr txBox="1"/>
          <p:nvPr/>
        </p:nvSpPr>
        <p:spPr>
          <a:xfrm>
            <a:off x="502919" y="3538728"/>
            <a:ext cx="1161288" cy="201168"/>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sin contraste</a:t>
            </a:r>
          </a:p>
        </p:txBody>
      </p:sp>
      <p:pic>
        <p:nvPicPr>
          <p:cNvPr id="9" name="Fase EARLY" descr="Fase EARLY del corte de ejemplo"/>
          <p:cNvPicPr>
            <a:picLocks noChangeAspect="1"/>
          </p:cNvPicPr>
          <p:nvPr/>
        </p:nvPicPr>
        <p:blipFill>
          <a:blip r:embed="rId3"/>
          <a:stretch>
            <a:fillRect/>
          </a:stretch>
        </p:blipFill>
        <p:spPr>
          <a:xfrm>
            <a:off x="1728216" y="2240280"/>
            <a:ext cx="1069848" cy="1069848"/>
          </a:xfrm>
          <a:prstGeom prst="rect">
            <a:avLst/>
          </a:prstGeom>
        </p:spPr>
      </p:pic>
      <p:sp>
        <p:nvSpPr>
          <p:cNvPr id="10" name="TextBox 9"/>
          <p:cNvSpPr txBox="1"/>
          <p:nvPr/>
        </p:nvSpPr>
        <p:spPr>
          <a:xfrm>
            <a:off x="1728216" y="3346704"/>
            <a:ext cx="1069848" cy="201168"/>
          </a:xfrm>
          <a:prstGeom prst="rect">
            <a:avLst/>
          </a:prstGeom>
          <a:noFill/>
        </p:spPr>
        <p:txBody>
          <a:bodyPr wrap="square" lIns="0" rIns="0" tIns="0" bIns="0" anchor="t">
            <a:noAutofit/>
          </a:bodyPr>
          <a:lstStyle/>
          <a:p>
            <a:pPr algn="ctr">
              <a:spcAft>
                <a:spcPts val="0"/>
              </a:spcAft>
            </a:pPr>
            <a:r>
              <a:rPr sz="1150" b="1" i="0">
                <a:solidFill>
                  <a:srgbClr val="1C2733"/>
                </a:solidFill>
                <a:latin typeface="Calibri"/>
              </a:rPr>
              <a:t>EARLY</a:t>
            </a:r>
          </a:p>
        </p:txBody>
      </p:sp>
      <p:sp>
        <p:nvSpPr>
          <p:cNvPr id="11" name="TextBox 10"/>
          <p:cNvSpPr txBox="1"/>
          <p:nvPr/>
        </p:nvSpPr>
        <p:spPr>
          <a:xfrm>
            <a:off x="1682496" y="3538728"/>
            <a:ext cx="1161288" cy="201168"/>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entra el contraste</a:t>
            </a:r>
          </a:p>
        </p:txBody>
      </p:sp>
      <p:pic>
        <p:nvPicPr>
          <p:cNvPr id="12" name="Fase LATE" descr="Fase LATE del corte de ejemplo"/>
          <p:cNvPicPr>
            <a:picLocks noChangeAspect="1"/>
          </p:cNvPicPr>
          <p:nvPr/>
        </p:nvPicPr>
        <p:blipFill>
          <a:blip r:embed="rId4"/>
          <a:stretch>
            <a:fillRect/>
          </a:stretch>
        </p:blipFill>
        <p:spPr>
          <a:xfrm>
            <a:off x="2907792" y="2240280"/>
            <a:ext cx="1069848" cy="1069848"/>
          </a:xfrm>
          <a:prstGeom prst="rect">
            <a:avLst/>
          </a:prstGeom>
        </p:spPr>
      </p:pic>
      <p:sp>
        <p:nvSpPr>
          <p:cNvPr id="13" name="TextBox 12"/>
          <p:cNvSpPr txBox="1"/>
          <p:nvPr/>
        </p:nvSpPr>
        <p:spPr>
          <a:xfrm>
            <a:off x="2907792" y="3346704"/>
            <a:ext cx="1069848" cy="201168"/>
          </a:xfrm>
          <a:prstGeom prst="rect">
            <a:avLst/>
          </a:prstGeom>
          <a:noFill/>
        </p:spPr>
        <p:txBody>
          <a:bodyPr wrap="square" lIns="0" rIns="0" tIns="0" bIns="0" anchor="t">
            <a:noAutofit/>
          </a:bodyPr>
          <a:lstStyle/>
          <a:p>
            <a:pPr algn="ctr">
              <a:spcAft>
                <a:spcPts val="0"/>
              </a:spcAft>
            </a:pPr>
            <a:r>
              <a:rPr sz="1150" b="1" i="0">
                <a:solidFill>
                  <a:srgbClr val="1C2733"/>
                </a:solidFill>
                <a:latin typeface="Calibri"/>
              </a:rPr>
              <a:t>LATE</a:t>
            </a:r>
          </a:p>
        </p:txBody>
      </p:sp>
      <p:sp>
        <p:nvSpPr>
          <p:cNvPr id="14" name="TextBox 13"/>
          <p:cNvSpPr txBox="1"/>
          <p:nvPr/>
        </p:nvSpPr>
        <p:spPr>
          <a:xfrm>
            <a:off x="2862072" y="3538728"/>
            <a:ext cx="1161288" cy="201168"/>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fase tardía</a:t>
            </a:r>
          </a:p>
        </p:txBody>
      </p:sp>
      <p:sp>
        <p:nvSpPr>
          <p:cNvPr id="15" name="TextBox 14"/>
          <p:cNvSpPr txBox="1"/>
          <p:nvPr/>
        </p:nvSpPr>
        <p:spPr>
          <a:xfrm>
            <a:off x="548640" y="3931920"/>
            <a:ext cx="3474720" cy="2011680"/>
          </a:xfrm>
          <a:prstGeom prst="rect">
            <a:avLst/>
          </a:prstGeom>
          <a:noFill/>
        </p:spPr>
        <p:txBody>
          <a:bodyPr wrap="square" lIns="0" rIns="0" tIns="0" bIns="0" anchor="t">
            <a:noAutofit/>
          </a:bodyPr>
          <a:lstStyle/>
          <a:p>
            <a:pPr algn="l">
              <a:spcAft>
                <a:spcPts val="700"/>
              </a:spcAft>
            </a:pPr>
            <a:r>
              <a:rPr sz="1300" b="1" i="0">
                <a:solidFill>
                  <a:srgbClr val="1C2733"/>
                </a:solidFill>
                <a:latin typeface="Calibri"/>
              </a:rPr>
              <a:t>Tres instantes del contraste, no colores: </a:t>
            </a:r>
            <a:r>
              <a:rPr sz="1300" b="0" i="0">
                <a:solidFill>
                  <a:srgbClr val="1C2733"/>
                </a:solidFill>
                <a:latin typeface="Calibri"/>
              </a:rPr>
              <a:t>se apilan como canales, 3 × 256 × 256.</a:t>
            </a:r>
          </a:p>
          <a:p>
            <a:pPr algn="l">
              <a:spcAft>
                <a:spcPts val="700"/>
              </a:spcAft>
            </a:pPr>
            <a:r>
              <a:rPr sz="1300" b="1" i="0">
                <a:solidFill>
                  <a:srgbClr val="1C2733"/>
                </a:solidFill>
                <a:latin typeface="Calibri"/>
              </a:rPr>
              <a:t>Solo se divide entre 255, </a:t>
            </a:r>
            <a:r>
              <a:rPr sz="1300" b="0" i="0">
                <a:solidFill>
                  <a:srgbClr val="1C2733"/>
                </a:solidFill>
                <a:latin typeface="Calibri"/>
              </a:rPr>
              <a:t>igual al entrenar y en la app. La ventana de intensidad ya viene en las PNG.</a:t>
            </a:r>
          </a:p>
          <a:p>
            <a:pPr algn="l">
              <a:spcAft>
                <a:spcPts val="0"/>
              </a:spcAft>
            </a:pPr>
            <a:r>
              <a:rPr sz="1300" b="1" i="0">
                <a:solidFill>
                  <a:srgbClr val="1C2733"/>
                </a:solidFill>
                <a:latin typeface="Calibri"/>
              </a:rPr>
              <a:t>Auditoría: </a:t>
            </a:r>
            <a:r>
              <a:rPr sz="1300" b="0" i="0">
                <a:solidFill>
                  <a:srgbClr val="1C2733"/>
                </a:solidFill>
                <a:latin typeface="Calibri"/>
              </a:rPr>
              <a:t>0 ficheros dañados y PRE &lt; EARLY en el 99,6 % de las pacientes.</a:t>
            </a:r>
          </a:p>
        </p:txBody>
      </p:sp>
      <p:sp>
        <p:nvSpPr>
          <p:cNvPr id="16" name="TextBox 15"/>
          <p:cNvSpPr txBox="1"/>
          <p:nvPr/>
        </p:nvSpPr>
        <p:spPr>
          <a:xfrm>
            <a:off x="4343400" y="1481328"/>
            <a:ext cx="3520440" cy="274320"/>
          </a:xfrm>
          <a:prstGeom prst="rect">
            <a:avLst/>
          </a:prstGeom>
          <a:noFill/>
        </p:spPr>
        <p:txBody>
          <a:bodyPr wrap="square" lIns="0" rIns="0" tIns="0" bIns="0" anchor="t">
            <a:noAutofit/>
          </a:bodyPr>
          <a:lstStyle/>
          <a:p>
            <a:pPr algn="l">
              <a:spcAft>
                <a:spcPts val="0"/>
              </a:spcAft>
            </a:pPr>
            <a:r>
              <a:rPr sz="1500" b="1" i="0">
                <a:solidFill>
                  <a:srgbClr val="1C2733"/>
                </a:solidFill>
                <a:latin typeface="Calibri"/>
              </a:rPr>
              <a:t>Cómo se separa</a:t>
            </a:r>
          </a:p>
        </p:txBody>
      </p:sp>
      <p:sp>
        <p:nvSpPr>
          <p:cNvPr id="17" name="TextBox 16"/>
          <p:cNvSpPr txBox="1"/>
          <p:nvPr/>
        </p:nvSpPr>
        <p:spPr>
          <a:xfrm>
            <a:off x="4343400" y="1764792"/>
            <a:ext cx="3520440" cy="256032"/>
          </a:xfrm>
          <a:prstGeom prst="rect">
            <a:avLst/>
          </a:prstGeom>
          <a:noFill/>
        </p:spPr>
        <p:txBody>
          <a:bodyPr wrap="square" lIns="0" rIns="0" tIns="0" bIns="0" anchor="t">
            <a:noAutofit/>
          </a:bodyPr>
          <a:lstStyle/>
          <a:p>
            <a:pPr algn="l">
              <a:spcAft>
                <a:spcPts val="0"/>
              </a:spcAft>
            </a:pPr>
            <a:r>
              <a:rPr sz="1200" b="0" i="0">
                <a:solidFill>
                  <a:srgbClr val="5B6875"/>
                </a:solidFill>
                <a:latin typeface="Calibri"/>
              </a:rPr>
              <a:t>Cada paciente, con todos sus cortes, en un solo fold</a:t>
            </a:r>
          </a:p>
        </p:txBody>
      </p:sp>
      <p:sp>
        <p:nvSpPr>
          <p:cNvPr id="18" name="TextBox 17"/>
          <p:cNvSpPr txBox="1"/>
          <p:nvPr/>
        </p:nvSpPr>
        <p:spPr>
          <a:xfrm>
            <a:off x="4343400" y="2267712"/>
            <a:ext cx="603504" cy="228600"/>
          </a:xfrm>
          <a:prstGeom prst="rect">
            <a:avLst/>
          </a:prstGeom>
          <a:noFill/>
        </p:spPr>
        <p:txBody>
          <a:bodyPr wrap="square" lIns="0" rIns="0" tIns="0" bIns="0" anchor="t">
            <a:noAutofit/>
          </a:bodyPr>
          <a:lstStyle/>
          <a:p>
            <a:pPr algn="l">
              <a:spcAft>
                <a:spcPts val="0"/>
              </a:spcAft>
            </a:pPr>
            <a:r>
              <a:rPr sz="1100" b="0" i="0">
                <a:solidFill>
                  <a:srgbClr val="5B6875"/>
                </a:solidFill>
                <a:latin typeface="Calibri"/>
              </a:rPr>
              <a:t>Fold 0</a:t>
            </a:r>
          </a:p>
        </p:txBody>
      </p:sp>
      <p:sp>
        <p:nvSpPr>
          <p:cNvPr id="19" name="Fold 0 I-SPY2"/>
          <p:cNvSpPr/>
          <p:nvPr/>
        </p:nvSpPr>
        <p:spPr>
          <a:xfrm>
            <a:off x="4965192" y="2240280"/>
            <a:ext cx="1642663" cy="274320"/>
          </a:xfrm>
          <a:prstGeom prst="rect">
            <a:avLst/>
          </a:prstGeom>
          <a:solidFill>
            <a:srgbClr val="0760AB"/>
          </a:solidFill>
          <a:ln>
            <a:noFill/>
          </a:ln>
        </p:spPr>
        <p:txBody>
          <a:bodyPr rtlCol="0" anchor="ctr"/>
          <a:lstStyle/>
          <a:p>
            <a:pPr algn="ctr"/>
          </a:p>
        </p:txBody>
      </p:sp>
      <p:sp>
        <p:nvSpPr>
          <p:cNvPr id="20" name="Fold 0 Duke"/>
          <p:cNvSpPr/>
          <p:nvPr/>
        </p:nvSpPr>
        <p:spPr>
          <a:xfrm>
            <a:off x="6626143" y="2240280"/>
            <a:ext cx="428891" cy="274320"/>
          </a:xfrm>
          <a:prstGeom prst="rect">
            <a:avLst/>
          </a:prstGeom>
          <a:solidFill>
            <a:srgbClr val="5B9BD5"/>
          </a:solidFill>
          <a:ln>
            <a:noFill/>
          </a:ln>
        </p:spPr>
        <p:txBody>
          <a:bodyPr rtlCol="0" anchor="ctr"/>
          <a:lstStyle/>
          <a:p>
            <a:pPr algn="ctr"/>
          </a:p>
        </p:txBody>
      </p:sp>
      <p:sp>
        <p:nvSpPr>
          <p:cNvPr id="21" name="Fold 0 I-SPY1"/>
          <p:cNvSpPr/>
          <p:nvPr/>
        </p:nvSpPr>
        <p:spPr>
          <a:xfrm>
            <a:off x="7073322" y="2240280"/>
            <a:ext cx="205301" cy="274320"/>
          </a:xfrm>
          <a:prstGeom prst="rect">
            <a:avLst/>
          </a:prstGeom>
          <a:solidFill>
            <a:srgbClr val="A9C8E8"/>
          </a:solidFill>
          <a:ln>
            <a:noFill/>
          </a:ln>
        </p:spPr>
        <p:txBody>
          <a:bodyPr rtlCol="0" anchor="ctr"/>
          <a:lstStyle/>
          <a:p>
            <a:pPr algn="ctr"/>
          </a:p>
        </p:txBody>
      </p:sp>
      <p:sp>
        <p:nvSpPr>
          <p:cNvPr id="22" name="TextBox 21"/>
          <p:cNvSpPr txBox="1"/>
          <p:nvPr/>
        </p:nvSpPr>
        <p:spPr>
          <a:xfrm>
            <a:off x="7370063" y="2267712"/>
            <a:ext cx="548640" cy="228600"/>
          </a:xfrm>
          <a:prstGeom prst="rect">
            <a:avLst/>
          </a:prstGeom>
          <a:noFill/>
        </p:spPr>
        <p:txBody>
          <a:bodyPr wrap="square" lIns="0" rIns="0" tIns="0" bIns="0" anchor="t">
            <a:noAutofit/>
          </a:bodyPr>
          <a:lstStyle/>
          <a:p>
            <a:pPr algn="l">
              <a:spcAft>
                <a:spcPts val="0"/>
              </a:spcAft>
            </a:pPr>
            <a:r>
              <a:rPr sz="1100" b="0" i="0">
                <a:solidFill>
                  <a:srgbClr val="1C2733"/>
                </a:solidFill>
                <a:latin typeface="Calibri"/>
              </a:rPr>
              <a:t>29 %</a:t>
            </a:r>
          </a:p>
        </p:txBody>
      </p:sp>
      <p:sp>
        <p:nvSpPr>
          <p:cNvPr id="23" name="TextBox 22"/>
          <p:cNvSpPr txBox="1"/>
          <p:nvPr/>
        </p:nvSpPr>
        <p:spPr>
          <a:xfrm>
            <a:off x="4343400" y="2633472"/>
            <a:ext cx="603504" cy="228600"/>
          </a:xfrm>
          <a:prstGeom prst="rect">
            <a:avLst/>
          </a:prstGeom>
          <a:noFill/>
        </p:spPr>
        <p:txBody>
          <a:bodyPr wrap="square" lIns="0" rIns="0" tIns="0" bIns="0" anchor="t">
            <a:noAutofit/>
          </a:bodyPr>
          <a:lstStyle/>
          <a:p>
            <a:pPr algn="l">
              <a:spcAft>
                <a:spcPts val="0"/>
              </a:spcAft>
            </a:pPr>
            <a:r>
              <a:rPr sz="1100" b="0" i="0">
                <a:solidFill>
                  <a:srgbClr val="5B6875"/>
                </a:solidFill>
                <a:latin typeface="Calibri"/>
              </a:rPr>
              <a:t>Fold 1</a:t>
            </a:r>
          </a:p>
        </p:txBody>
      </p:sp>
      <p:sp>
        <p:nvSpPr>
          <p:cNvPr id="24" name="Fold 1 I-SPY2"/>
          <p:cNvSpPr/>
          <p:nvPr/>
        </p:nvSpPr>
        <p:spPr>
          <a:xfrm>
            <a:off x="4965192" y="2606040"/>
            <a:ext cx="1642663" cy="274320"/>
          </a:xfrm>
          <a:prstGeom prst="rect">
            <a:avLst/>
          </a:prstGeom>
          <a:solidFill>
            <a:srgbClr val="0760AB"/>
          </a:solidFill>
          <a:ln>
            <a:noFill/>
          </a:ln>
        </p:spPr>
        <p:txBody>
          <a:bodyPr rtlCol="0" anchor="ctr"/>
          <a:lstStyle/>
          <a:p>
            <a:pPr algn="ctr"/>
          </a:p>
        </p:txBody>
      </p:sp>
      <p:sp>
        <p:nvSpPr>
          <p:cNvPr id="25" name="Fold 1 Duke"/>
          <p:cNvSpPr/>
          <p:nvPr/>
        </p:nvSpPr>
        <p:spPr>
          <a:xfrm>
            <a:off x="6626143" y="2606040"/>
            <a:ext cx="428891" cy="274320"/>
          </a:xfrm>
          <a:prstGeom prst="rect">
            <a:avLst/>
          </a:prstGeom>
          <a:solidFill>
            <a:srgbClr val="5B9BD5"/>
          </a:solidFill>
          <a:ln>
            <a:noFill/>
          </a:ln>
        </p:spPr>
        <p:txBody>
          <a:bodyPr rtlCol="0" anchor="ctr"/>
          <a:lstStyle/>
          <a:p>
            <a:pPr algn="ctr"/>
          </a:p>
        </p:txBody>
      </p:sp>
      <p:sp>
        <p:nvSpPr>
          <p:cNvPr id="26" name="Fold 1 I-SPY1"/>
          <p:cNvSpPr/>
          <p:nvPr/>
        </p:nvSpPr>
        <p:spPr>
          <a:xfrm>
            <a:off x="7073322" y="2606040"/>
            <a:ext cx="205301" cy="274320"/>
          </a:xfrm>
          <a:prstGeom prst="rect">
            <a:avLst/>
          </a:prstGeom>
          <a:solidFill>
            <a:srgbClr val="A9C8E8"/>
          </a:solidFill>
          <a:ln>
            <a:noFill/>
          </a:ln>
        </p:spPr>
        <p:txBody>
          <a:bodyPr rtlCol="0" anchor="ctr"/>
          <a:lstStyle/>
          <a:p>
            <a:pPr algn="ctr"/>
          </a:p>
        </p:txBody>
      </p:sp>
      <p:sp>
        <p:nvSpPr>
          <p:cNvPr id="27" name="TextBox 26"/>
          <p:cNvSpPr txBox="1"/>
          <p:nvPr/>
        </p:nvSpPr>
        <p:spPr>
          <a:xfrm>
            <a:off x="7370063" y="2633472"/>
            <a:ext cx="548640" cy="228600"/>
          </a:xfrm>
          <a:prstGeom prst="rect">
            <a:avLst/>
          </a:prstGeom>
          <a:noFill/>
        </p:spPr>
        <p:txBody>
          <a:bodyPr wrap="square" lIns="0" rIns="0" tIns="0" bIns="0" anchor="t">
            <a:noAutofit/>
          </a:bodyPr>
          <a:lstStyle/>
          <a:p>
            <a:pPr algn="l">
              <a:spcAft>
                <a:spcPts val="0"/>
              </a:spcAft>
            </a:pPr>
            <a:r>
              <a:rPr sz="1100" b="0" i="0">
                <a:solidFill>
                  <a:srgbClr val="1C2733"/>
                </a:solidFill>
                <a:latin typeface="Calibri"/>
              </a:rPr>
              <a:t>28 %</a:t>
            </a:r>
          </a:p>
        </p:txBody>
      </p:sp>
      <p:sp>
        <p:nvSpPr>
          <p:cNvPr id="28" name="TextBox 27"/>
          <p:cNvSpPr txBox="1"/>
          <p:nvPr/>
        </p:nvSpPr>
        <p:spPr>
          <a:xfrm>
            <a:off x="4343400" y="2999232"/>
            <a:ext cx="603504" cy="228600"/>
          </a:xfrm>
          <a:prstGeom prst="rect">
            <a:avLst/>
          </a:prstGeom>
          <a:noFill/>
        </p:spPr>
        <p:txBody>
          <a:bodyPr wrap="square" lIns="0" rIns="0" tIns="0" bIns="0" anchor="t">
            <a:noAutofit/>
          </a:bodyPr>
          <a:lstStyle/>
          <a:p>
            <a:pPr algn="l">
              <a:spcAft>
                <a:spcPts val="0"/>
              </a:spcAft>
            </a:pPr>
            <a:r>
              <a:rPr sz="1100" b="0" i="0">
                <a:solidFill>
                  <a:srgbClr val="5B6875"/>
                </a:solidFill>
                <a:latin typeface="Calibri"/>
              </a:rPr>
              <a:t>Fold 2</a:t>
            </a:r>
          </a:p>
        </p:txBody>
      </p:sp>
      <p:sp>
        <p:nvSpPr>
          <p:cNvPr id="29" name="Fold 2 I-SPY2"/>
          <p:cNvSpPr/>
          <p:nvPr/>
        </p:nvSpPr>
        <p:spPr>
          <a:xfrm>
            <a:off x="4965192" y="2971800"/>
            <a:ext cx="1656310" cy="274320"/>
          </a:xfrm>
          <a:prstGeom prst="rect">
            <a:avLst/>
          </a:prstGeom>
          <a:solidFill>
            <a:srgbClr val="0760AB"/>
          </a:solidFill>
          <a:ln>
            <a:noFill/>
          </a:ln>
        </p:spPr>
        <p:txBody>
          <a:bodyPr rtlCol="0" anchor="ctr"/>
          <a:lstStyle/>
          <a:p>
            <a:pPr algn="ctr"/>
          </a:p>
        </p:txBody>
      </p:sp>
      <p:sp>
        <p:nvSpPr>
          <p:cNvPr id="30" name="Fold 2 Duke"/>
          <p:cNvSpPr/>
          <p:nvPr/>
        </p:nvSpPr>
        <p:spPr>
          <a:xfrm>
            <a:off x="6639790" y="2971800"/>
            <a:ext cx="416259" cy="274320"/>
          </a:xfrm>
          <a:prstGeom prst="rect">
            <a:avLst/>
          </a:prstGeom>
          <a:solidFill>
            <a:srgbClr val="5B9BD5"/>
          </a:solidFill>
          <a:ln>
            <a:noFill/>
          </a:ln>
        </p:spPr>
        <p:txBody>
          <a:bodyPr rtlCol="0" anchor="ctr"/>
          <a:lstStyle/>
          <a:p>
            <a:pPr algn="ctr"/>
          </a:p>
        </p:txBody>
      </p:sp>
      <p:sp>
        <p:nvSpPr>
          <p:cNvPr id="31" name="Fold 2 I-SPY1"/>
          <p:cNvSpPr/>
          <p:nvPr/>
        </p:nvSpPr>
        <p:spPr>
          <a:xfrm>
            <a:off x="7074338" y="2971800"/>
            <a:ext cx="204285" cy="274320"/>
          </a:xfrm>
          <a:prstGeom prst="rect">
            <a:avLst/>
          </a:prstGeom>
          <a:solidFill>
            <a:srgbClr val="A9C8E8"/>
          </a:solidFill>
          <a:ln>
            <a:noFill/>
          </a:ln>
        </p:spPr>
        <p:txBody>
          <a:bodyPr rtlCol="0" anchor="ctr"/>
          <a:lstStyle/>
          <a:p>
            <a:pPr algn="ctr"/>
          </a:p>
        </p:txBody>
      </p:sp>
      <p:sp>
        <p:nvSpPr>
          <p:cNvPr id="32" name="TextBox 31"/>
          <p:cNvSpPr txBox="1"/>
          <p:nvPr/>
        </p:nvSpPr>
        <p:spPr>
          <a:xfrm>
            <a:off x="7370063" y="2999232"/>
            <a:ext cx="548640" cy="228600"/>
          </a:xfrm>
          <a:prstGeom prst="rect">
            <a:avLst/>
          </a:prstGeom>
          <a:noFill/>
        </p:spPr>
        <p:txBody>
          <a:bodyPr wrap="square" lIns="0" rIns="0" tIns="0" bIns="0" anchor="t">
            <a:noAutofit/>
          </a:bodyPr>
          <a:lstStyle/>
          <a:p>
            <a:pPr algn="l">
              <a:spcAft>
                <a:spcPts val="0"/>
              </a:spcAft>
            </a:pPr>
            <a:r>
              <a:rPr sz="1100" b="0" i="0">
                <a:solidFill>
                  <a:srgbClr val="1C2733"/>
                </a:solidFill>
                <a:latin typeface="Calibri"/>
              </a:rPr>
              <a:t>27 %</a:t>
            </a:r>
          </a:p>
        </p:txBody>
      </p:sp>
      <p:sp>
        <p:nvSpPr>
          <p:cNvPr id="33" name="TextBox 32"/>
          <p:cNvSpPr txBox="1"/>
          <p:nvPr/>
        </p:nvSpPr>
        <p:spPr>
          <a:xfrm>
            <a:off x="4343400" y="3364992"/>
            <a:ext cx="603504" cy="228600"/>
          </a:xfrm>
          <a:prstGeom prst="rect">
            <a:avLst/>
          </a:prstGeom>
          <a:noFill/>
        </p:spPr>
        <p:txBody>
          <a:bodyPr wrap="square" lIns="0" rIns="0" tIns="0" bIns="0" anchor="t">
            <a:noAutofit/>
          </a:bodyPr>
          <a:lstStyle/>
          <a:p>
            <a:pPr algn="l">
              <a:spcAft>
                <a:spcPts val="0"/>
              </a:spcAft>
            </a:pPr>
            <a:r>
              <a:rPr sz="1100" b="0" i="0">
                <a:solidFill>
                  <a:srgbClr val="5B6875"/>
                </a:solidFill>
                <a:latin typeface="Calibri"/>
              </a:rPr>
              <a:t>Fold 3</a:t>
            </a:r>
          </a:p>
        </p:txBody>
      </p:sp>
      <p:sp>
        <p:nvSpPr>
          <p:cNvPr id="34" name="Fold 3 I-SPY2"/>
          <p:cNvSpPr/>
          <p:nvPr/>
        </p:nvSpPr>
        <p:spPr>
          <a:xfrm>
            <a:off x="4965192" y="3337560"/>
            <a:ext cx="1645712" cy="274320"/>
          </a:xfrm>
          <a:prstGeom prst="rect">
            <a:avLst/>
          </a:prstGeom>
          <a:solidFill>
            <a:srgbClr val="0760AB"/>
          </a:solidFill>
          <a:ln>
            <a:noFill/>
          </a:ln>
        </p:spPr>
        <p:txBody>
          <a:bodyPr rtlCol="0" anchor="ctr"/>
          <a:lstStyle/>
          <a:p>
            <a:pPr algn="ctr"/>
          </a:p>
        </p:txBody>
      </p:sp>
      <p:sp>
        <p:nvSpPr>
          <p:cNvPr id="35" name="Fold 3 Duke"/>
          <p:cNvSpPr/>
          <p:nvPr/>
        </p:nvSpPr>
        <p:spPr>
          <a:xfrm>
            <a:off x="6629192" y="3337560"/>
            <a:ext cx="426858" cy="274320"/>
          </a:xfrm>
          <a:prstGeom prst="rect">
            <a:avLst/>
          </a:prstGeom>
          <a:solidFill>
            <a:srgbClr val="5B9BD5"/>
          </a:solidFill>
          <a:ln>
            <a:noFill/>
          </a:ln>
        </p:spPr>
        <p:txBody>
          <a:bodyPr rtlCol="0" anchor="ctr"/>
          <a:lstStyle/>
          <a:p>
            <a:pPr algn="ctr"/>
          </a:p>
        </p:txBody>
      </p:sp>
      <p:sp>
        <p:nvSpPr>
          <p:cNvPr id="36" name="Fold 3 I-SPY1"/>
          <p:cNvSpPr/>
          <p:nvPr/>
        </p:nvSpPr>
        <p:spPr>
          <a:xfrm>
            <a:off x="7074338" y="3337560"/>
            <a:ext cx="204285" cy="274320"/>
          </a:xfrm>
          <a:prstGeom prst="rect">
            <a:avLst/>
          </a:prstGeom>
          <a:solidFill>
            <a:srgbClr val="A9C8E8"/>
          </a:solidFill>
          <a:ln>
            <a:noFill/>
          </a:ln>
        </p:spPr>
        <p:txBody>
          <a:bodyPr rtlCol="0" anchor="ctr"/>
          <a:lstStyle/>
          <a:p>
            <a:pPr algn="ctr"/>
          </a:p>
        </p:txBody>
      </p:sp>
      <p:sp>
        <p:nvSpPr>
          <p:cNvPr id="37" name="TextBox 36"/>
          <p:cNvSpPr txBox="1"/>
          <p:nvPr/>
        </p:nvSpPr>
        <p:spPr>
          <a:xfrm>
            <a:off x="7370063" y="3364992"/>
            <a:ext cx="548640" cy="228600"/>
          </a:xfrm>
          <a:prstGeom prst="rect">
            <a:avLst/>
          </a:prstGeom>
          <a:noFill/>
        </p:spPr>
        <p:txBody>
          <a:bodyPr wrap="square" lIns="0" rIns="0" tIns="0" bIns="0" anchor="t">
            <a:noAutofit/>
          </a:bodyPr>
          <a:lstStyle/>
          <a:p>
            <a:pPr algn="l">
              <a:spcAft>
                <a:spcPts val="0"/>
              </a:spcAft>
            </a:pPr>
            <a:r>
              <a:rPr sz="1100" b="0" i="0">
                <a:solidFill>
                  <a:srgbClr val="1C2733"/>
                </a:solidFill>
                <a:latin typeface="Calibri"/>
              </a:rPr>
              <a:t>34 %</a:t>
            </a:r>
          </a:p>
        </p:txBody>
      </p:sp>
      <p:sp>
        <p:nvSpPr>
          <p:cNvPr id="38" name="TextBox 37"/>
          <p:cNvSpPr txBox="1"/>
          <p:nvPr/>
        </p:nvSpPr>
        <p:spPr>
          <a:xfrm>
            <a:off x="4343400" y="3730752"/>
            <a:ext cx="603504" cy="228600"/>
          </a:xfrm>
          <a:prstGeom prst="rect">
            <a:avLst/>
          </a:prstGeom>
          <a:noFill/>
        </p:spPr>
        <p:txBody>
          <a:bodyPr wrap="square" lIns="0" rIns="0" tIns="0" bIns="0" anchor="t">
            <a:noAutofit/>
          </a:bodyPr>
          <a:lstStyle/>
          <a:p>
            <a:pPr algn="l">
              <a:spcAft>
                <a:spcPts val="0"/>
              </a:spcAft>
            </a:pPr>
            <a:r>
              <a:rPr sz="1100" b="0" i="0">
                <a:solidFill>
                  <a:srgbClr val="5B6875"/>
                </a:solidFill>
                <a:latin typeface="Calibri"/>
              </a:rPr>
              <a:t>Fold 4</a:t>
            </a:r>
          </a:p>
        </p:txBody>
      </p:sp>
      <p:sp>
        <p:nvSpPr>
          <p:cNvPr id="39" name="Fold 4 I-SPY2"/>
          <p:cNvSpPr/>
          <p:nvPr/>
        </p:nvSpPr>
        <p:spPr>
          <a:xfrm>
            <a:off x="4965192" y="3703320"/>
            <a:ext cx="1653310" cy="274320"/>
          </a:xfrm>
          <a:prstGeom prst="rect">
            <a:avLst/>
          </a:prstGeom>
          <a:solidFill>
            <a:srgbClr val="0760AB"/>
          </a:solidFill>
          <a:ln>
            <a:noFill/>
          </a:ln>
        </p:spPr>
        <p:txBody>
          <a:bodyPr rtlCol="0" anchor="ctr"/>
          <a:lstStyle/>
          <a:p>
            <a:pPr algn="ctr"/>
          </a:p>
        </p:txBody>
      </p:sp>
      <p:sp>
        <p:nvSpPr>
          <p:cNvPr id="40" name="Fold 4 Duke"/>
          <p:cNvSpPr/>
          <p:nvPr/>
        </p:nvSpPr>
        <p:spPr>
          <a:xfrm>
            <a:off x="6636790" y="3703320"/>
            <a:ext cx="428891" cy="274320"/>
          </a:xfrm>
          <a:prstGeom prst="rect">
            <a:avLst/>
          </a:prstGeom>
          <a:solidFill>
            <a:srgbClr val="5B9BD5"/>
          </a:solidFill>
          <a:ln>
            <a:noFill/>
          </a:ln>
        </p:spPr>
        <p:txBody>
          <a:bodyPr rtlCol="0" anchor="ctr"/>
          <a:lstStyle/>
          <a:p>
            <a:pPr algn="ctr"/>
          </a:p>
        </p:txBody>
      </p:sp>
      <p:sp>
        <p:nvSpPr>
          <p:cNvPr id="41" name="Fold 4 I-SPY1"/>
          <p:cNvSpPr/>
          <p:nvPr/>
        </p:nvSpPr>
        <p:spPr>
          <a:xfrm>
            <a:off x="7083969" y="3703320"/>
            <a:ext cx="194654" cy="274320"/>
          </a:xfrm>
          <a:prstGeom prst="rect">
            <a:avLst/>
          </a:prstGeom>
          <a:solidFill>
            <a:srgbClr val="A9C8E8"/>
          </a:solidFill>
          <a:ln>
            <a:noFill/>
          </a:ln>
        </p:spPr>
        <p:txBody>
          <a:bodyPr rtlCol="0" anchor="ctr"/>
          <a:lstStyle/>
          <a:p>
            <a:pPr algn="ctr"/>
          </a:p>
        </p:txBody>
      </p:sp>
      <p:sp>
        <p:nvSpPr>
          <p:cNvPr id="42" name="TextBox 41"/>
          <p:cNvSpPr txBox="1"/>
          <p:nvPr/>
        </p:nvSpPr>
        <p:spPr>
          <a:xfrm>
            <a:off x="7370063" y="3730752"/>
            <a:ext cx="548640" cy="228600"/>
          </a:xfrm>
          <a:prstGeom prst="rect">
            <a:avLst/>
          </a:prstGeom>
          <a:noFill/>
        </p:spPr>
        <p:txBody>
          <a:bodyPr wrap="square" lIns="0" rIns="0" tIns="0" bIns="0" anchor="t">
            <a:noAutofit/>
          </a:bodyPr>
          <a:lstStyle/>
          <a:p>
            <a:pPr algn="l">
              <a:spcAft>
                <a:spcPts val="0"/>
              </a:spcAft>
            </a:pPr>
            <a:r>
              <a:rPr sz="1100" b="0" i="0">
                <a:solidFill>
                  <a:srgbClr val="1C2733"/>
                </a:solidFill>
                <a:latin typeface="Calibri"/>
              </a:rPr>
              <a:t>28 %</a:t>
            </a:r>
          </a:p>
        </p:txBody>
      </p:sp>
      <p:sp>
        <p:nvSpPr>
          <p:cNvPr id="43" name="TextBox 42"/>
          <p:cNvSpPr txBox="1"/>
          <p:nvPr/>
        </p:nvSpPr>
        <p:spPr>
          <a:xfrm>
            <a:off x="7370063" y="2029968"/>
            <a:ext cx="685800" cy="182880"/>
          </a:xfrm>
          <a:prstGeom prst="rect">
            <a:avLst/>
          </a:prstGeom>
          <a:noFill/>
        </p:spPr>
        <p:txBody>
          <a:bodyPr wrap="square" lIns="0" rIns="0" tIns="0" bIns="0" anchor="t">
            <a:noAutofit/>
          </a:bodyPr>
          <a:lstStyle/>
          <a:p>
            <a:pPr algn="l">
              <a:spcAft>
                <a:spcPts val="0"/>
              </a:spcAft>
            </a:pPr>
            <a:r>
              <a:rPr sz="1000" b="0" i="0">
                <a:solidFill>
                  <a:srgbClr val="5B6875"/>
                </a:solidFill>
                <a:latin typeface="Calibri"/>
              </a:rPr>
              <a:t>pCR</a:t>
            </a:r>
          </a:p>
        </p:txBody>
      </p:sp>
      <p:sp>
        <p:nvSpPr>
          <p:cNvPr id="44" name="Leyenda I-SPY2"/>
          <p:cNvSpPr/>
          <p:nvPr/>
        </p:nvSpPr>
        <p:spPr>
          <a:xfrm>
            <a:off x="4343400" y="4160520"/>
            <a:ext cx="128016" cy="128016"/>
          </a:xfrm>
          <a:prstGeom prst="rect">
            <a:avLst/>
          </a:prstGeom>
          <a:solidFill>
            <a:srgbClr val="0760AB"/>
          </a:solidFill>
          <a:ln>
            <a:noFill/>
          </a:ln>
        </p:spPr>
        <p:txBody>
          <a:bodyPr rtlCol="0" anchor="ctr"/>
          <a:lstStyle/>
          <a:p>
            <a:pPr algn="ctr"/>
          </a:p>
        </p:txBody>
      </p:sp>
      <p:sp>
        <p:nvSpPr>
          <p:cNvPr id="45" name="TextBox 44"/>
          <p:cNvSpPr txBox="1"/>
          <p:nvPr/>
        </p:nvSpPr>
        <p:spPr>
          <a:xfrm>
            <a:off x="4544568" y="4114800"/>
            <a:ext cx="3200400" cy="219456"/>
          </a:xfrm>
          <a:prstGeom prst="rect">
            <a:avLst/>
          </a:prstGeom>
          <a:noFill/>
        </p:spPr>
        <p:txBody>
          <a:bodyPr wrap="square" lIns="0" rIns="0" tIns="0" bIns="0" anchor="t">
            <a:noAutofit/>
          </a:bodyPr>
          <a:lstStyle/>
          <a:p>
            <a:pPr algn="l">
              <a:spcAft>
                <a:spcPts val="0"/>
              </a:spcAft>
            </a:pPr>
            <a:r>
              <a:rPr sz="1150" b="1" i="0">
                <a:solidFill>
                  <a:srgbClr val="1C2733"/>
                </a:solidFill>
                <a:latin typeface="Calibri"/>
              </a:rPr>
              <a:t>I-SPY2: </a:t>
            </a:r>
            <a:r>
              <a:rPr sz="1150" b="0" i="0">
                <a:solidFill>
                  <a:srgbClr val="1C2733"/>
                </a:solidFill>
                <a:latin typeface="Calibri"/>
              </a:rPr>
              <a:t>784 pacientes, 32 % pCR</a:t>
            </a:r>
          </a:p>
        </p:txBody>
      </p:sp>
      <p:sp>
        <p:nvSpPr>
          <p:cNvPr id="46" name="Leyenda Duke"/>
          <p:cNvSpPr/>
          <p:nvPr/>
        </p:nvSpPr>
        <p:spPr>
          <a:xfrm>
            <a:off x="4343400" y="4389120"/>
            <a:ext cx="128016" cy="128016"/>
          </a:xfrm>
          <a:prstGeom prst="rect">
            <a:avLst/>
          </a:prstGeom>
          <a:solidFill>
            <a:srgbClr val="5B9BD5"/>
          </a:solidFill>
          <a:ln>
            <a:noFill/>
          </a:ln>
        </p:spPr>
        <p:txBody>
          <a:bodyPr rtlCol="0" anchor="ctr"/>
          <a:lstStyle/>
          <a:p>
            <a:pPr algn="ctr"/>
          </a:p>
        </p:txBody>
      </p:sp>
      <p:sp>
        <p:nvSpPr>
          <p:cNvPr id="47" name="TextBox 46"/>
          <p:cNvSpPr txBox="1"/>
          <p:nvPr/>
        </p:nvSpPr>
        <p:spPr>
          <a:xfrm>
            <a:off x="4544568" y="4343400"/>
            <a:ext cx="3200400" cy="219456"/>
          </a:xfrm>
          <a:prstGeom prst="rect">
            <a:avLst/>
          </a:prstGeom>
          <a:noFill/>
        </p:spPr>
        <p:txBody>
          <a:bodyPr wrap="square" lIns="0" rIns="0" tIns="0" bIns="0" anchor="t">
            <a:noAutofit/>
          </a:bodyPr>
          <a:lstStyle/>
          <a:p>
            <a:pPr algn="l">
              <a:spcAft>
                <a:spcPts val="0"/>
              </a:spcAft>
            </a:pPr>
            <a:r>
              <a:rPr sz="1150" b="1" i="0">
                <a:solidFill>
                  <a:srgbClr val="1C2733"/>
                </a:solidFill>
                <a:latin typeface="Calibri"/>
              </a:rPr>
              <a:t>Duke: </a:t>
            </a:r>
            <a:r>
              <a:rPr sz="1150" b="0" i="0">
                <a:solidFill>
                  <a:srgbClr val="1C2733"/>
                </a:solidFill>
                <a:latin typeface="Calibri"/>
              </a:rPr>
              <a:t>209, 21 %</a:t>
            </a:r>
          </a:p>
        </p:txBody>
      </p:sp>
      <p:sp>
        <p:nvSpPr>
          <p:cNvPr id="48" name="Leyenda I-SPY1"/>
          <p:cNvSpPr/>
          <p:nvPr/>
        </p:nvSpPr>
        <p:spPr>
          <a:xfrm>
            <a:off x="4343400" y="4617720"/>
            <a:ext cx="128016" cy="128016"/>
          </a:xfrm>
          <a:prstGeom prst="rect">
            <a:avLst/>
          </a:prstGeom>
          <a:solidFill>
            <a:srgbClr val="A9C8E8"/>
          </a:solidFill>
          <a:ln>
            <a:noFill/>
          </a:ln>
        </p:spPr>
        <p:txBody>
          <a:bodyPr rtlCol="0" anchor="ctr"/>
          <a:lstStyle/>
          <a:p>
            <a:pPr algn="ctr"/>
          </a:p>
        </p:txBody>
      </p:sp>
      <p:sp>
        <p:nvSpPr>
          <p:cNvPr id="49" name="TextBox 48"/>
          <p:cNvSpPr txBox="1"/>
          <p:nvPr/>
        </p:nvSpPr>
        <p:spPr>
          <a:xfrm>
            <a:off x="4544568" y="4572000"/>
            <a:ext cx="3200400" cy="219456"/>
          </a:xfrm>
          <a:prstGeom prst="rect">
            <a:avLst/>
          </a:prstGeom>
          <a:noFill/>
        </p:spPr>
        <p:txBody>
          <a:bodyPr wrap="square" lIns="0" rIns="0" tIns="0" bIns="0" anchor="t">
            <a:noAutofit/>
          </a:bodyPr>
          <a:lstStyle/>
          <a:p>
            <a:pPr algn="l">
              <a:spcAft>
                <a:spcPts val="0"/>
              </a:spcAft>
            </a:pPr>
            <a:r>
              <a:rPr sz="1150" b="1" i="0">
                <a:solidFill>
                  <a:srgbClr val="1C2733"/>
                </a:solidFill>
                <a:latin typeface="Calibri"/>
              </a:rPr>
              <a:t>I-SPY1: </a:t>
            </a:r>
            <a:r>
              <a:rPr sz="1150" b="0" i="0">
                <a:solidFill>
                  <a:srgbClr val="1C2733"/>
                </a:solidFill>
                <a:latin typeface="Calibri"/>
              </a:rPr>
              <a:t>104, 25 %</a:t>
            </a:r>
          </a:p>
        </p:txBody>
      </p:sp>
      <p:sp>
        <p:nvSpPr>
          <p:cNvPr id="50" name="Test"/>
          <p:cNvSpPr/>
          <p:nvPr/>
        </p:nvSpPr>
        <p:spPr>
          <a:xfrm>
            <a:off x="4343400" y="4892040"/>
            <a:ext cx="3429000" cy="329184"/>
          </a:xfrm>
          <a:prstGeom prst="roundRect">
            <a:avLst/>
          </a:prstGeom>
          <a:noFill/>
          <a:ln w="22225">
            <a:solidFill>
              <a:srgbClr val="F2A541"/>
            </a:solidFill>
          </a:ln>
        </p:spPr>
        <p:txBody>
          <a:bodyPr rtlCol="0" anchor="ctr" wrap="square" lIns="73152" rIns="73152" tIns="36576" bIns="36576">
            <a:noAutofit/>
          </a:bodyPr>
          <a:lstStyle/>
          <a:p>
            <a:pPr algn="l">
              <a:spcAft>
                <a:spcPts val="0"/>
              </a:spcAft>
            </a:pPr>
            <a:r>
              <a:rPr sz="1200" b="1" i="0">
                <a:solidFill>
                  <a:srgbClr val="1C2733"/>
                </a:solidFill>
                <a:latin typeface="Calibri"/>
              </a:rPr>
              <a:t>Test: </a:t>
            </a:r>
            <a:r>
              <a:rPr sz="1200" b="0" i="0">
                <a:solidFill>
                  <a:srgbClr val="1C2733"/>
                </a:solidFill>
                <a:latin typeface="Calibri"/>
              </a:rPr>
              <a:t>176 pacientes, se miró una sola vez</a:t>
            </a:r>
          </a:p>
        </p:txBody>
      </p:sp>
      <p:sp>
        <p:nvSpPr>
          <p:cNvPr id="51" name="Validación privada"/>
          <p:cNvSpPr/>
          <p:nvPr/>
        </p:nvSpPr>
        <p:spPr>
          <a:xfrm>
            <a:off x="4343400" y="5321808"/>
            <a:ext cx="3429000" cy="329184"/>
          </a:xfrm>
          <a:prstGeom prst="roundRect">
            <a:avLst/>
          </a:prstGeom>
          <a:noFill/>
          <a:ln w="15875">
            <a:solidFill>
              <a:srgbClr val="98A6B3"/>
            </a:solidFill>
            <a:prstDash val="dash"/>
          </a:ln>
        </p:spPr>
        <p:txBody>
          <a:bodyPr rtlCol="0" anchor="ctr" wrap="square" lIns="73152" rIns="73152" tIns="36576" bIns="36576">
            <a:noAutofit/>
          </a:bodyPr>
          <a:lstStyle/>
          <a:p>
            <a:pPr algn="l">
              <a:spcAft>
                <a:spcPts val="0"/>
              </a:spcAft>
            </a:pPr>
            <a:r>
              <a:rPr sz="1200" b="1" i="0">
                <a:solidFill>
                  <a:srgbClr val="5B6875"/>
                </a:solidFill>
                <a:latin typeface="Calibri"/>
              </a:rPr>
              <a:t>Validación privada del profesor: </a:t>
            </a:r>
            <a:r>
              <a:rPr sz="1200" b="0" i="0">
                <a:solidFill>
                  <a:srgbClr val="5B6875"/>
                </a:solidFill>
                <a:latin typeface="Calibri"/>
              </a:rPr>
              <a:t>177, no la tengo</a:t>
            </a:r>
          </a:p>
        </p:txBody>
      </p:sp>
      <p:sp>
        <p:nvSpPr>
          <p:cNvPr id="52" name="TextBox 51"/>
          <p:cNvSpPr txBox="1"/>
          <p:nvPr/>
        </p:nvSpPr>
        <p:spPr>
          <a:xfrm>
            <a:off x="8183879" y="1481328"/>
            <a:ext cx="3566160" cy="274320"/>
          </a:xfrm>
          <a:prstGeom prst="rect">
            <a:avLst/>
          </a:prstGeom>
          <a:noFill/>
        </p:spPr>
        <p:txBody>
          <a:bodyPr wrap="square" lIns="0" rIns="0" tIns="0" bIns="0" anchor="t">
            <a:noAutofit/>
          </a:bodyPr>
          <a:lstStyle/>
          <a:p>
            <a:pPr algn="l">
              <a:spcAft>
                <a:spcPts val="0"/>
              </a:spcAft>
            </a:pPr>
            <a:r>
              <a:rPr sz="1500" b="1" i="0">
                <a:solidFill>
                  <a:srgbClr val="1C2733"/>
                </a:solidFill>
                <a:latin typeface="Calibri"/>
              </a:rPr>
              <a:t>Cuántas tienen pCR</a:t>
            </a:r>
          </a:p>
        </p:txBody>
      </p:sp>
      <p:sp>
        <p:nvSpPr>
          <p:cNvPr id="53" name="TextBox 52"/>
          <p:cNvSpPr txBox="1"/>
          <p:nvPr/>
        </p:nvSpPr>
        <p:spPr>
          <a:xfrm>
            <a:off x="8183879" y="1764792"/>
            <a:ext cx="3566160" cy="256032"/>
          </a:xfrm>
          <a:prstGeom prst="rect">
            <a:avLst/>
          </a:prstGeom>
          <a:noFill/>
        </p:spPr>
        <p:txBody>
          <a:bodyPr wrap="square" lIns="0" rIns="0" tIns="0" bIns="0" anchor="t">
            <a:noAutofit/>
          </a:bodyPr>
          <a:lstStyle/>
          <a:p>
            <a:pPr algn="l">
              <a:spcAft>
                <a:spcPts val="0"/>
              </a:spcAft>
            </a:pPr>
            <a:r>
              <a:rPr sz="1200" b="0" i="0">
                <a:solidFill>
                  <a:srgbClr val="5B6875"/>
                </a:solidFill>
                <a:latin typeface="Calibri"/>
              </a:rPr>
              <a:t>De cada 100 pacientes de entrenamiento</a:t>
            </a:r>
          </a:p>
        </p:txBody>
      </p:sp>
      <p:pic>
        <p:nvPicPr>
          <p:cNvPr id="54" name="Paciente 1" descr="mujer_ambar.png"/>
          <p:cNvPicPr>
            <a:picLocks noChangeAspect="1"/>
          </p:cNvPicPr>
          <p:nvPr/>
        </p:nvPicPr>
        <p:blipFill>
          <a:blip r:embed="rId5"/>
          <a:stretch>
            <a:fillRect/>
          </a:stretch>
        </p:blipFill>
        <p:spPr>
          <a:xfrm>
            <a:off x="8183879" y="2240280"/>
            <a:ext cx="169164" cy="169164"/>
          </a:xfrm>
          <a:prstGeom prst="rect">
            <a:avLst/>
          </a:prstGeom>
        </p:spPr>
      </p:pic>
      <p:pic>
        <p:nvPicPr>
          <p:cNvPr id="55" name="Paciente 2" descr="mujer_ambar.png"/>
          <p:cNvPicPr>
            <a:picLocks noChangeAspect="1"/>
          </p:cNvPicPr>
          <p:nvPr/>
        </p:nvPicPr>
        <p:blipFill>
          <a:blip r:embed="rId5"/>
          <a:stretch>
            <a:fillRect/>
          </a:stretch>
        </p:blipFill>
        <p:spPr>
          <a:xfrm>
            <a:off x="8380475" y="2240280"/>
            <a:ext cx="169164" cy="169164"/>
          </a:xfrm>
          <a:prstGeom prst="rect">
            <a:avLst/>
          </a:prstGeom>
        </p:spPr>
      </p:pic>
      <p:pic>
        <p:nvPicPr>
          <p:cNvPr id="56" name="Paciente 3" descr="mujer_ambar.png"/>
          <p:cNvPicPr>
            <a:picLocks noChangeAspect="1"/>
          </p:cNvPicPr>
          <p:nvPr/>
        </p:nvPicPr>
        <p:blipFill>
          <a:blip r:embed="rId5"/>
          <a:stretch>
            <a:fillRect/>
          </a:stretch>
        </p:blipFill>
        <p:spPr>
          <a:xfrm>
            <a:off x="8577072" y="2240280"/>
            <a:ext cx="169164" cy="169164"/>
          </a:xfrm>
          <a:prstGeom prst="rect">
            <a:avLst/>
          </a:prstGeom>
        </p:spPr>
      </p:pic>
      <p:pic>
        <p:nvPicPr>
          <p:cNvPr id="57" name="Paciente 4" descr="mujer_ambar.png"/>
          <p:cNvPicPr>
            <a:picLocks noChangeAspect="1"/>
          </p:cNvPicPr>
          <p:nvPr/>
        </p:nvPicPr>
        <p:blipFill>
          <a:blip r:embed="rId5"/>
          <a:stretch>
            <a:fillRect/>
          </a:stretch>
        </p:blipFill>
        <p:spPr>
          <a:xfrm>
            <a:off x="8773667" y="2240280"/>
            <a:ext cx="169164" cy="169164"/>
          </a:xfrm>
          <a:prstGeom prst="rect">
            <a:avLst/>
          </a:prstGeom>
        </p:spPr>
      </p:pic>
      <p:pic>
        <p:nvPicPr>
          <p:cNvPr id="58" name="Paciente 5" descr="mujer_ambar.png"/>
          <p:cNvPicPr>
            <a:picLocks noChangeAspect="1"/>
          </p:cNvPicPr>
          <p:nvPr/>
        </p:nvPicPr>
        <p:blipFill>
          <a:blip r:embed="rId5"/>
          <a:stretch>
            <a:fillRect/>
          </a:stretch>
        </p:blipFill>
        <p:spPr>
          <a:xfrm>
            <a:off x="8970263" y="2240280"/>
            <a:ext cx="169164" cy="169164"/>
          </a:xfrm>
          <a:prstGeom prst="rect">
            <a:avLst/>
          </a:prstGeom>
        </p:spPr>
      </p:pic>
      <p:pic>
        <p:nvPicPr>
          <p:cNvPr id="59" name="Paciente 6" descr="mujer_ambar.png"/>
          <p:cNvPicPr>
            <a:picLocks noChangeAspect="1"/>
          </p:cNvPicPr>
          <p:nvPr/>
        </p:nvPicPr>
        <p:blipFill>
          <a:blip r:embed="rId5"/>
          <a:stretch>
            <a:fillRect/>
          </a:stretch>
        </p:blipFill>
        <p:spPr>
          <a:xfrm>
            <a:off x="9166859" y="2240280"/>
            <a:ext cx="169164" cy="169164"/>
          </a:xfrm>
          <a:prstGeom prst="rect">
            <a:avLst/>
          </a:prstGeom>
        </p:spPr>
      </p:pic>
      <p:pic>
        <p:nvPicPr>
          <p:cNvPr id="60" name="Paciente 7" descr="mujer_ambar.png"/>
          <p:cNvPicPr>
            <a:picLocks noChangeAspect="1"/>
          </p:cNvPicPr>
          <p:nvPr/>
        </p:nvPicPr>
        <p:blipFill>
          <a:blip r:embed="rId5"/>
          <a:stretch>
            <a:fillRect/>
          </a:stretch>
        </p:blipFill>
        <p:spPr>
          <a:xfrm>
            <a:off x="9363455" y="2240280"/>
            <a:ext cx="169164" cy="169164"/>
          </a:xfrm>
          <a:prstGeom prst="rect">
            <a:avLst/>
          </a:prstGeom>
        </p:spPr>
      </p:pic>
      <p:pic>
        <p:nvPicPr>
          <p:cNvPr id="61" name="Paciente 8" descr="mujer_ambar.png"/>
          <p:cNvPicPr>
            <a:picLocks noChangeAspect="1"/>
          </p:cNvPicPr>
          <p:nvPr/>
        </p:nvPicPr>
        <p:blipFill>
          <a:blip r:embed="rId5"/>
          <a:stretch>
            <a:fillRect/>
          </a:stretch>
        </p:blipFill>
        <p:spPr>
          <a:xfrm>
            <a:off x="9560051" y="2240280"/>
            <a:ext cx="169164" cy="169164"/>
          </a:xfrm>
          <a:prstGeom prst="rect">
            <a:avLst/>
          </a:prstGeom>
        </p:spPr>
      </p:pic>
      <p:pic>
        <p:nvPicPr>
          <p:cNvPr id="62" name="Paciente 9" descr="mujer_ambar.png"/>
          <p:cNvPicPr>
            <a:picLocks noChangeAspect="1"/>
          </p:cNvPicPr>
          <p:nvPr/>
        </p:nvPicPr>
        <p:blipFill>
          <a:blip r:embed="rId5"/>
          <a:stretch>
            <a:fillRect/>
          </a:stretch>
        </p:blipFill>
        <p:spPr>
          <a:xfrm>
            <a:off x="9756648" y="2240280"/>
            <a:ext cx="169164" cy="169164"/>
          </a:xfrm>
          <a:prstGeom prst="rect">
            <a:avLst/>
          </a:prstGeom>
        </p:spPr>
      </p:pic>
      <p:pic>
        <p:nvPicPr>
          <p:cNvPr id="63" name="Paciente 10" descr="mujer_ambar.png"/>
          <p:cNvPicPr>
            <a:picLocks noChangeAspect="1"/>
          </p:cNvPicPr>
          <p:nvPr/>
        </p:nvPicPr>
        <p:blipFill>
          <a:blip r:embed="rId5"/>
          <a:stretch>
            <a:fillRect/>
          </a:stretch>
        </p:blipFill>
        <p:spPr>
          <a:xfrm>
            <a:off x="9953244" y="2240280"/>
            <a:ext cx="169164" cy="169164"/>
          </a:xfrm>
          <a:prstGeom prst="rect">
            <a:avLst/>
          </a:prstGeom>
        </p:spPr>
      </p:pic>
      <p:pic>
        <p:nvPicPr>
          <p:cNvPr id="64" name="Paciente 11" descr="mujer_ambar.png"/>
          <p:cNvPicPr>
            <a:picLocks noChangeAspect="1"/>
          </p:cNvPicPr>
          <p:nvPr/>
        </p:nvPicPr>
        <p:blipFill>
          <a:blip r:embed="rId5"/>
          <a:stretch>
            <a:fillRect/>
          </a:stretch>
        </p:blipFill>
        <p:spPr>
          <a:xfrm>
            <a:off x="8183879" y="2455164"/>
            <a:ext cx="169164" cy="169164"/>
          </a:xfrm>
          <a:prstGeom prst="rect">
            <a:avLst/>
          </a:prstGeom>
        </p:spPr>
      </p:pic>
      <p:pic>
        <p:nvPicPr>
          <p:cNvPr id="65" name="Paciente 12" descr="mujer_ambar.png"/>
          <p:cNvPicPr>
            <a:picLocks noChangeAspect="1"/>
          </p:cNvPicPr>
          <p:nvPr/>
        </p:nvPicPr>
        <p:blipFill>
          <a:blip r:embed="rId5"/>
          <a:stretch>
            <a:fillRect/>
          </a:stretch>
        </p:blipFill>
        <p:spPr>
          <a:xfrm>
            <a:off x="8380475" y="2455164"/>
            <a:ext cx="169164" cy="169164"/>
          </a:xfrm>
          <a:prstGeom prst="rect">
            <a:avLst/>
          </a:prstGeom>
        </p:spPr>
      </p:pic>
      <p:pic>
        <p:nvPicPr>
          <p:cNvPr id="66" name="Paciente 13" descr="mujer_ambar.png"/>
          <p:cNvPicPr>
            <a:picLocks noChangeAspect="1"/>
          </p:cNvPicPr>
          <p:nvPr/>
        </p:nvPicPr>
        <p:blipFill>
          <a:blip r:embed="rId5"/>
          <a:stretch>
            <a:fillRect/>
          </a:stretch>
        </p:blipFill>
        <p:spPr>
          <a:xfrm>
            <a:off x="8577072" y="2455164"/>
            <a:ext cx="169164" cy="169164"/>
          </a:xfrm>
          <a:prstGeom prst="rect">
            <a:avLst/>
          </a:prstGeom>
        </p:spPr>
      </p:pic>
      <p:pic>
        <p:nvPicPr>
          <p:cNvPr id="67" name="Paciente 14" descr="mujer_ambar.png"/>
          <p:cNvPicPr>
            <a:picLocks noChangeAspect="1"/>
          </p:cNvPicPr>
          <p:nvPr/>
        </p:nvPicPr>
        <p:blipFill>
          <a:blip r:embed="rId5"/>
          <a:stretch>
            <a:fillRect/>
          </a:stretch>
        </p:blipFill>
        <p:spPr>
          <a:xfrm>
            <a:off x="8773667" y="2455164"/>
            <a:ext cx="169164" cy="169164"/>
          </a:xfrm>
          <a:prstGeom prst="rect">
            <a:avLst/>
          </a:prstGeom>
        </p:spPr>
      </p:pic>
      <p:pic>
        <p:nvPicPr>
          <p:cNvPr id="68" name="Paciente 15" descr="mujer_ambar.png"/>
          <p:cNvPicPr>
            <a:picLocks noChangeAspect="1"/>
          </p:cNvPicPr>
          <p:nvPr/>
        </p:nvPicPr>
        <p:blipFill>
          <a:blip r:embed="rId5"/>
          <a:stretch>
            <a:fillRect/>
          </a:stretch>
        </p:blipFill>
        <p:spPr>
          <a:xfrm>
            <a:off x="8970263" y="2455164"/>
            <a:ext cx="169164" cy="169164"/>
          </a:xfrm>
          <a:prstGeom prst="rect">
            <a:avLst/>
          </a:prstGeom>
        </p:spPr>
      </p:pic>
      <p:pic>
        <p:nvPicPr>
          <p:cNvPr id="69" name="Paciente 16" descr="mujer_ambar.png"/>
          <p:cNvPicPr>
            <a:picLocks noChangeAspect="1"/>
          </p:cNvPicPr>
          <p:nvPr/>
        </p:nvPicPr>
        <p:blipFill>
          <a:blip r:embed="rId5"/>
          <a:stretch>
            <a:fillRect/>
          </a:stretch>
        </p:blipFill>
        <p:spPr>
          <a:xfrm>
            <a:off x="9166859" y="2455164"/>
            <a:ext cx="169164" cy="169164"/>
          </a:xfrm>
          <a:prstGeom prst="rect">
            <a:avLst/>
          </a:prstGeom>
        </p:spPr>
      </p:pic>
      <p:pic>
        <p:nvPicPr>
          <p:cNvPr id="70" name="Paciente 17" descr="mujer_ambar.png"/>
          <p:cNvPicPr>
            <a:picLocks noChangeAspect="1"/>
          </p:cNvPicPr>
          <p:nvPr/>
        </p:nvPicPr>
        <p:blipFill>
          <a:blip r:embed="rId5"/>
          <a:stretch>
            <a:fillRect/>
          </a:stretch>
        </p:blipFill>
        <p:spPr>
          <a:xfrm>
            <a:off x="9363455" y="2455164"/>
            <a:ext cx="169164" cy="169164"/>
          </a:xfrm>
          <a:prstGeom prst="rect">
            <a:avLst/>
          </a:prstGeom>
        </p:spPr>
      </p:pic>
      <p:pic>
        <p:nvPicPr>
          <p:cNvPr id="71" name="Paciente 18" descr="mujer_ambar.png"/>
          <p:cNvPicPr>
            <a:picLocks noChangeAspect="1"/>
          </p:cNvPicPr>
          <p:nvPr/>
        </p:nvPicPr>
        <p:blipFill>
          <a:blip r:embed="rId5"/>
          <a:stretch>
            <a:fillRect/>
          </a:stretch>
        </p:blipFill>
        <p:spPr>
          <a:xfrm>
            <a:off x="9560051" y="2455164"/>
            <a:ext cx="169164" cy="169164"/>
          </a:xfrm>
          <a:prstGeom prst="rect">
            <a:avLst/>
          </a:prstGeom>
        </p:spPr>
      </p:pic>
      <p:pic>
        <p:nvPicPr>
          <p:cNvPr id="72" name="Paciente 19" descr="mujer_ambar.png"/>
          <p:cNvPicPr>
            <a:picLocks noChangeAspect="1"/>
          </p:cNvPicPr>
          <p:nvPr/>
        </p:nvPicPr>
        <p:blipFill>
          <a:blip r:embed="rId5"/>
          <a:stretch>
            <a:fillRect/>
          </a:stretch>
        </p:blipFill>
        <p:spPr>
          <a:xfrm>
            <a:off x="9756648" y="2455164"/>
            <a:ext cx="169164" cy="169164"/>
          </a:xfrm>
          <a:prstGeom prst="rect">
            <a:avLst/>
          </a:prstGeom>
        </p:spPr>
      </p:pic>
      <p:pic>
        <p:nvPicPr>
          <p:cNvPr id="73" name="Paciente 20" descr="mujer_ambar.png"/>
          <p:cNvPicPr>
            <a:picLocks noChangeAspect="1"/>
          </p:cNvPicPr>
          <p:nvPr/>
        </p:nvPicPr>
        <p:blipFill>
          <a:blip r:embed="rId5"/>
          <a:stretch>
            <a:fillRect/>
          </a:stretch>
        </p:blipFill>
        <p:spPr>
          <a:xfrm>
            <a:off x="9953244" y="2455164"/>
            <a:ext cx="169164" cy="169164"/>
          </a:xfrm>
          <a:prstGeom prst="rect">
            <a:avLst/>
          </a:prstGeom>
        </p:spPr>
      </p:pic>
      <p:pic>
        <p:nvPicPr>
          <p:cNvPr id="74" name="Paciente 21" descr="mujer_ambar.png"/>
          <p:cNvPicPr>
            <a:picLocks noChangeAspect="1"/>
          </p:cNvPicPr>
          <p:nvPr/>
        </p:nvPicPr>
        <p:blipFill>
          <a:blip r:embed="rId5"/>
          <a:stretch>
            <a:fillRect/>
          </a:stretch>
        </p:blipFill>
        <p:spPr>
          <a:xfrm>
            <a:off x="8183879" y="2670048"/>
            <a:ext cx="169164" cy="169164"/>
          </a:xfrm>
          <a:prstGeom prst="rect">
            <a:avLst/>
          </a:prstGeom>
        </p:spPr>
      </p:pic>
      <p:pic>
        <p:nvPicPr>
          <p:cNvPr id="75" name="Paciente 22" descr="mujer_ambar.png"/>
          <p:cNvPicPr>
            <a:picLocks noChangeAspect="1"/>
          </p:cNvPicPr>
          <p:nvPr/>
        </p:nvPicPr>
        <p:blipFill>
          <a:blip r:embed="rId5"/>
          <a:stretch>
            <a:fillRect/>
          </a:stretch>
        </p:blipFill>
        <p:spPr>
          <a:xfrm>
            <a:off x="8380475" y="2670048"/>
            <a:ext cx="169164" cy="169164"/>
          </a:xfrm>
          <a:prstGeom prst="rect">
            <a:avLst/>
          </a:prstGeom>
        </p:spPr>
      </p:pic>
      <p:pic>
        <p:nvPicPr>
          <p:cNvPr id="76" name="Paciente 23" descr="mujer_ambar.png"/>
          <p:cNvPicPr>
            <a:picLocks noChangeAspect="1"/>
          </p:cNvPicPr>
          <p:nvPr/>
        </p:nvPicPr>
        <p:blipFill>
          <a:blip r:embed="rId5"/>
          <a:stretch>
            <a:fillRect/>
          </a:stretch>
        </p:blipFill>
        <p:spPr>
          <a:xfrm>
            <a:off x="8577072" y="2670048"/>
            <a:ext cx="169164" cy="169164"/>
          </a:xfrm>
          <a:prstGeom prst="rect">
            <a:avLst/>
          </a:prstGeom>
        </p:spPr>
      </p:pic>
      <p:pic>
        <p:nvPicPr>
          <p:cNvPr id="77" name="Paciente 24" descr="mujer_ambar.png"/>
          <p:cNvPicPr>
            <a:picLocks noChangeAspect="1"/>
          </p:cNvPicPr>
          <p:nvPr/>
        </p:nvPicPr>
        <p:blipFill>
          <a:blip r:embed="rId5"/>
          <a:stretch>
            <a:fillRect/>
          </a:stretch>
        </p:blipFill>
        <p:spPr>
          <a:xfrm>
            <a:off x="8773667" y="2670048"/>
            <a:ext cx="169164" cy="169164"/>
          </a:xfrm>
          <a:prstGeom prst="rect">
            <a:avLst/>
          </a:prstGeom>
        </p:spPr>
      </p:pic>
      <p:pic>
        <p:nvPicPr>
          <p:cNvPr id="78" name="Paciente 25" descr="mujer_ambar.png"/>
          <p:cNvPicPr>
            <a:picLocks noChangeAspect="1"/>
          </p:cNvPicPr>
          <p:nvPr/>
        </p:nvPicPr>
        <p:blipFill>
          <a:blip r:embed="rId5"/>
          <a:stretch>
            <a:fillRect/>
          </a:stretch>
        </p:blipFill>
        <p:spPr>
          <a:xfrm>
            <a:off x="8970263" y="2670048"/>
            <a:ext cx="169164" cy="169164"/>
          </a:xfrm>
          <a:prstGeom prst="rect">
            <a:avLst/>
          </a:prstGeom>
        </p:spPr>
      </p:pic>
      <p:pic>
        <p:nvPicPr>
          <p:cNvPr id="79" name="Paciente 26" descr="mujer_ambar.png"/>
          <p:cNvPicPr>
            <a:picLocks noChangeAspect="1"/>
          </p:cNvPicPr>
          <p:nvPr/>
        </p:nvPicPr>
        <p:blipFill>
          <a:blip r:embed="rId5"/>
          <a:stretch>
            <a:fillRect/>
          </a:stretch>
        </p:blipFill>
        <p:spPr>
          <a:xfrm>
            <a:off x="9166859" y="2670048"/>
            <a:ext cx="169164" cy="169164"/>
          </a:xfrm>
          <a:prstGeom prst="rect">
            <a:avLst/>
          </a:prstGeom>
        </p:spPr>
      </p:pic>
      <p:pic>
        <p:nvPicPr>
          <p:cNvPr id="80" name="Paciente 27" descr="mujer_ambar.png"/>
          <p:cNvPicPr>
            <a:picLocks noChangeAspect="1"/>
          </p:cNvPicPr>
          <p:nvPr/>
        </p:nvPicPr>
        <p:blipFill>
          <a:blip r:embed="rId5"/>
          <a:stretch>
            <a:fillRect/>
          </a:stretch>
        </p:blipFill>
        <p:spPr>
          <a:xfrm>
            <a:off x="9363455" y="2670048"/>
            <a:ext cx="169164" cy="169164"/>
          </a:xfrm>
          <a:prstGeom prst="rect">
            <a:avLst/>
          </a:prstGeom>
        </p:spPr>
      </p:pic>
      <p:pic>
        <p:nvPicPr>
          <p:cNvPr id="81" name="Paciente 28" descr="mujer_ambar.png"/>
          <p:cNvPicPr>
            <a:picLocks noChangeAspect="1"/>
          </p:cNvPicPr>
          <p:nvPr/>
        </p:nvPicPr>
        <p:blipFill>
          <a:blip r:embed="rId5"/>
          <a:stretch>
            <a:fillRect/>
          </a:stretch>
        </p:blipFill>
        <p:spPr>
          <a:xfrm>
            <a:off x="9560051" y="2670048"/>
            <a:ext cx="169164" cy="169164"/>
          </a:xfrm>
          <a:prstGeom prst="rect">
            <a:avLst/>
          </a:prstGeom>
        </p:spPr>
      </p:pic>
      <p:pic>
        <p:nvPicPr>
          <p:cNvPr id="82" name="Paciente 29" descr="mujer_ambar.png"/>
          <p:cNvPicPr>
            <a:picLocks noChangeAspect="1"/>
          </p:cNvPicPr>
          <p:nvPr/>
        </p:nvPicPr>
        <p:blipFill>
          <a:blip r:embed="rId5"/>
          <a:stretch>
            <a:fillRect/>
          </a:stretch>
        </p:blipFill>
        <p:spPr>
          <a:xfrm>
            <a:off x="9756648" y="2670048"/>
            <a:ext cx="169164" cy="169164"/>
          </a:xfrm>
          <a:prstGeom prst="rect">
            <a:avLst/>
          </a:prstGeom>
        </p:spPr>
      </p:pic>
      <p:pic>
        <p:nvPicPr>
          <p:cNvPr id="83" name="Paciente 30" descr="mujer_gris.png"/>
          <p:cNvPicPr>
            <a:picLocks noChangeAspect="1"/>
          </p:cNvPicPr>
          <p:nvPr/>
        </p:nvPicPr>
        <p:blipFill>
          <a:blip r:embed="rId6"/>
          <a:stretch>
            <a:fillRect/>
          </a:stretch>
        </p:blipFill>
        <p:spPr>
          <a:xfrm>
            <a:off x="9953244" y="2670048"/>
            <a:ext cx="169164" cy="169164"/>
          </a:xfrm>
          <a:prstGeom prst="rect">
            <a:avLst/>
          </a:prstGeom>
        </p:spPr>
      </p:pic>
      <p:pic>
        <p:nvPicPr>
          <p:cNvPr id="84" name="Paciente 31" descr="mujer_gris.png"/>
          <p:cNvPicPr>
            <a:picLocks noChangeAspect="1"/>
          </p:cNvPicPr>
          <p:nvPr/>
        </p:nvPicPr>
        <p:blipFill>
          <a:blip r:embed="rId6"/>
          <a:stretch>
            <a:fillRect/>
          </a:stretch>
        </p:blipFill>
        <p:spPr>
          <a:xfrm>
            <a:off x="8183879" y="2884932"/>
            <a:ext cx="169164" cy="169164"/>
          </a:xfrm>
          <a:prstGeom prst="rect">
            <a:avLst/>
          </a:prstGeom>
        </p:spPr>
      </p:pic>
      <p:pic>
        <p:nvPicPr>
          <p:cNvPr id="85" name="Paciente 32" descr="mujer_gris.png"/>
          <p:cNvPicPr>
            <a:picLocks noChangeAspect="1"/>
          </p:cNvPicPr>
          <p:nvPr/>
        </p:nvPicPr>
        <p:blipFill>
          <a:blip r:embed="rId6"/>
          <a:stretch>
            <a:fillRect/>
          </a:stretch>
        </p:blipFill>
        <p:spPr>
          <a:xfrm>
            <a:off x="8380475" y="2884932"/>
            <a:ext cx="169164" cy="169164"/>
          </a:xfrm>
          <a:prstGeom prst="rect">
            <a:avLst/>
          </a:prstGeom>
        </p:spPr>
      </p:pic>
      <p:pic>
        <p:nvPicPr>
          <p:cNvPr id="86" name="Paciente 33" descr="mujer_gris.png"/>
          <p:cNvPicPr>
            <a:picLocks noChangeAspect="1"/>
          </p:cNvPicPr>
          <p:nvPr/>
        </p:nvPicPr>
        <p:blipFill>
          <a:blip r:embed="rId6"/>
          <a:stretch>
            <a:fillRect/>
          </a:stretch>
        </p:blipFill>
        <p:spPr>
          <a:xfrm>
            <a:off x="8577072" y="2884932"/>
            <a:ext cx="169164" cy="169164"/>
          </a:xfrm>
          <a:prstGeom prst="rect">
            <a:avLst/>
          </a:prstGeom>
        </p:spPr>
      </p:pic>
      <p:pic>
        <p:nvPicPr>
          <p:cNvPr id="87" name="Paciente 34" descr="mujer_gris.png"/>
          <p:cNvPicPr>
            <a:picLocks noChangeAspect="1"/>
          </p:cNvPicPr>
          <p:nvPr/>
        </p:nvPicPr>
        <p:blipFill>
          <a:blip r:embed="rId6"/>
          <a:stretch>
            <a:fillRect/>
          </a:stretch>
        </p:blipFill>
        <p:spPr>
          <a:xfrm>
            <a:off x="8773667" y="2884932"/>
            <a:ext cx="169164" cy="169164"/>
          </a:xfrm>
          <a:prstGeom prst="rect">
            <a:avLst/>
          </a:prstGeom>
        </p:spPr>
      </p:pic>
      <p:pic>
        <p:nvPicPr>
          <p:cNvPr id="88" name="Paciente 35" descr="mujer_gris.png"/>
          <p:cNvPicPr>
            <a:picLocks noChangeAspect="1"/>
          </p:cNvPicPr>
          <p:nvPr/>
        </p:nvPicPr>
        <p:blipFill>
          <a:blip r:embed="rId6"/>
          <a:stretch>
            <a:fillRect/>
          </a:stretch>
        </p:blipFill>
        <p:spPr>
          <a:xfrm>
            <a:off x="8970263" y="2884932"/>
            <a:ext cx="169164" cy="169164"/>
          </a:xfrm>
          <a:prstGeom prst="rect">
            <a:avLst/>
          </a:prstGeom>
        </p:spPr>
      </p:pic>
      <p:pic>
        <p:nvPicPr>
          <p:cNvPr id="89" name="Paciente 36" descr="mujer_gris.png"/>
          <p:cNvPicPr>
            <a:picLocks noChangeAspect="1"/>
          </p:cNvPicPr>
          <p:nvPr/>
        </p:nvPicPr>
        <p:blipFill>
          <a:blip r:embed="rId6"/>
          <a:stretch>
            <a:fillRect/>
          </a:stretch>
        </p:blipFill>
        <p:spPr>
          <a:xfrm>
            <a:off x="9166859" y="2884932"/>
            <a:ext cx="169164" cy="169164"/>
          </a:xfrm>
          <a:prstGeom prst="rect">
            <a:avLst/>
          </a:prstGeom>
        </p:spPr>
      </p:pic>
      <p:pic>
        <p:nvPicPr>
          <p:cNvPr id="90" name="Paciente 37" descr="mujer_gris.png"/>
          <p:cNvPicPr>
            <a:picLocks noChangeAspect="1"/>
          </p:cNvPicPr>
          <p:nvPr/>
        </p:nvPicPr>
        <p:blipFill>
          <a:blip r:embed="rId6"/>
          <a:stretch>
            <a:fillRect/>
          </a:stretch>
        </p:blipFill>
        <p:spPr>
          <a:xfrm>
            <a:off x="9363455" y="2884932"/>
            <a:ext cx="169164" cy="169164"/>
          </a:xfrm>
          <a:prstGeom prst="rect">
            <a:avLst/>
          </a:prstGeom>
        </p:spPr>
      </p:pic>
      <p:pic>
        <p:nvPicPr>
          <p:cNvPr id="91" name="Paciente 38" descr="mujer_gris.png"/>
          <p:cNvPicPr>
            <a:picLocks noChangeAspect="1"/>
          </p:cNvPicPr>
          <p:nvPr/>
        </p:nvPicPr>
        <p:blipFill>
          <a:blip r:embed="rId6"/>
          <a:stretch>
            <a:fillRect/>
          </a:stretch>
        </p:blipFill>
        <p:spPr>
          <a:xfrm>
            <a:off x="9560051" y="2884932"/>
            <a:ext cx="169164" cy="169164"/>
          </a:xfrm>
          <a:prstGeom prst="rect">
            <a:avLst/>
          </a:prstGeom>
        </p:spPr>
      </p:pic>
      <p:pic>
        <p:nvPicPr>
          <p:cNvPr id="92" name="Paciente 39" descr="mujer_gris.png"/>
          <p:cNvPicPr>
            <a:picLocks noChangeAspect="1"/>
          </p:cNvPicPr>
          <p:nvPr/>
        </p:nvPicPr>
        <p:blipFill>
          <a:blip r:embed="rId6"/>
          <a:stretch>
            <a:fillRect/>
          </a:stretch>
        </p:blipFill>
        <p:spPr>
          <a:xfrm>
            <a:off x="9756648" y="2884932"/>
            <a:ext cx="169164" cy="169164"/>
          </a:xfrm>
          <a:prstGeom prst="rect">
            <a:avLst/>
          </a:prstGeom>
        </p:spPr>
      </p:pic>
      <p:pic>
        <p:nvPicPr>
          <p:cNvPr id="93" name="Paciente 40" descr="mujer_gris.png"/>
          <p:cNvPicPr>
            <a:picLocks noChangeAspect="1"/>
          </p:cNvPicPr>
          <p:nvPr/>
        </p:nvPicPr>
        <p:blipFill>
          <a:blip r:embed="rId6"/>
          <a:stretch>
            <a:fillRect/>
          </a:stretch>
        </p:blipFill>
        <p:spPr>
          <a:xfrm>
            <a:off x="9953244" y="2884932"/>
            <a:ext cx="169164" cy="169164"/>
          </a:xfrm>
          <a:prstGeom prst="rect">
            <a:avLst/>
          </a:prstGeom>
        </p:spPr>
      </p:pic>
      <p:pic>
        <p:nvPicPr>
          <p:cNvPr id="94" name="Paciente 41" descr="mujer_gris.png"/>
          <p:cNvPicPr>
            <a:picLocks noChangeAspect="1"/>
          </p:cNvPicPr>
          <p:nvPr/>
        </p:nvPicPr>
        <p:blipFill>
          <a:blip r:embed="rId6"/>
          <a:stretch>
            <a:fillRect/>
          </a:stretch>
        </p:blipFill>
        <p:spPr>
          <a:xfrm>
            <a:off x="8183879" y="3099816"/>
            <a:ext cx="169164" cy="169164"/>
          </a:xfrm>
          <a:prstGeom prst="rect">
            <a:avLst/>
          </a:prstGeom>
        </p:spPr>
      </p:pic>
      <p:pic>
        <p:nvPicPr>
          <p:cNvPr id="95" name="Paciente 42" descr="mujer_gris.png"/>
          <p:cNvPicPr>
            <a:picLocks noChangeAspect="1"/>
          </p:cNvPicPr>
          <p:nvPr/>
        </p:nvPicPr>
        <p:blipFill>
          <a:blip r:embed="rId6"/>
          <a:stretch>
            <a:fillRect/>
          </a:stretch>
        </p:blipFill>
        <p:spPr>
          <a:xfrm>
            <a:off x="8380475" y="3099816"/>
            <a:ext cx="169164" cy="169164"/>
          </a:xfrm>
          <a:prstGeom prst="rect">
            <a:avLst/>
          </a:prstGeom>
        </p:spPr>
      </p:pic>
      <p:pic>
        <p:nvPicPr>
          <p:cNvPr id="96" name="Paciente 43" descr="mujer_gris.png"/>
          <p:cNvPicPr>
            <a:picLocks noChangeAspect="1"/>
          </p:cNvPicPr>
          <p:nvPr/>
        </p:nvPicPr>
        <p:blipFill>
          <a:blip r:embed="rId6"/>
          <a:stretch>
            <a:fillRect/>
          </a:stretch>
        </p:blipFill>
        <p:spPr>
          <a:xfrm>
            <a:off x="8577072" y="3099816"/>
            <a:ext cx="169164" cy="169164"/>
          </a:xfrm>
          <a:prstGeom prst="rect">
            <a:avLst/>
          </a:prstGeom>
        </p:spPr>
      </p:pic>
      <p:pic>
        <p:nvPicPr>
          <p:cNvPr id="97" name="Paciente 44" descr="mujer_gris.png"/>
          <p:cNvPicPr>
            <a:picLocks noChangeAspect="1"/>
          </p:cNvPicPr>
          <p:nvPr/>
        </p:nvPicPr>
        <p:blipFill>
          <a:blip r:embed="rId6"/>
          <a:stretch>
            <a:fillRect/>
          </a:stretch>
        </p:blipFill>
        <p:spPr>
          <a:xfrm>
            <a:off x="8773667" y="3099816"/>
            <a:ext cx="169164" cy="169164"/>
          </a:xfrm>
          <a:prstGeom prst="rect">
            <a:avLst/>
          </a:prstGeom>
        </p:spPr>
      </p:pic>
      <p:pic>
        <p:nvPicPr>
          <p:cNvPr id="98" name="Paciente 45" descr="mujer_gris.png"/>
          <p:cNvPicPr>
            <a:picLocks noChangeAspect="1"/>
          </p:cNvPicPr>
          <p:nvPr/>
        </p:nvPicPr>
        <p:blipFill>
          <a:blip r:embed="rId6"/>
          <a:stretch>
            <a:fillRect/>
          </a:stretch>
        </p:blipFill>
        <p:spPr>
          <a:xfrm>
            <a:off x="8970263" y="3099816"/>
            <a:ext cx="169164" cy="169164"/>
          </a:xfrm>
          <a:prstGeom prst="rect">
            <a:avLst/>
          </a:prstGeom>
        </p:spPr>
      </p:pic>
      <p:pic>
        <p:nvPicPr>
          <p:cNvPr id="99" name="Paciente 46" descr="mujer_gris.png"/>
          <p:cNvPicPr>
            <a:picLocks noChangeAspect="1"/>
          </p:cNvPicPr>
          <p:nvPr/>
        </p:nvPicPr>
        <p:blipFill>
          <a:blip r:embed="rId6"/>
          <a:stretch>
            <a:fillRect/>
          </a:stretch>
        </p:blipFill>
        <p:spPr>
          <a:xfrm>
            <a:off x="9166859" y="3099816"/>
            <a:ext cx="169164" cy="169164"/>
          </a:xfrm>
          <a:prstGeom prst="rect">
            <a:avLst/>
          </a:prstGeom>
        </p:spPr>
      </p:pic>
      <p:pic>
        <p:nvPicPr>
          <p:cNvPr id="100" name="Paciente 47" descr="mujer_gris.png"/>
          <p:cNvPicPr>
            <a:picLocks noChangeAspect="1"/>
          </p:cNvPicPr>
          <p:nvPr/>
        </p:nvPicPr>
        <p:blipFill>
          <a:blip r:embed="rId6"/>
          <a:stretch>
            <a:fillRect/>
          </a:stretch>
        </p:blipFill>
        <p:spPr>
          <a:xfrm>
            <a:off x="9363455" y="3099816"/>
            <a:ext cx="169164" cy="169164"/>
          </a:xfrm>
          <a:prstGeom prst="rect">
            <a:avLst/>
          </a:prstGeom>
        </p:spPr>
      </p:pic>
      <p:pic>
        <p:nvPicPr>
          <p:cNvPr id="101" name="Paciente 48" descr="mujer_gris.png"/>
          <p:cNvPicPr>
            <a:picLocks noChangeAspect="1"/>
          </p:cNvPicPr>
          <p:nvPr/>
        </p:nvPicPr>
        <p:blipFill>
          <a:blip r:embed="rId6"/>
          <a:stretch>
            <a:fillRect/>
          </a:stretch>
        </p:blipFill>
        <p:spPr>
          <a:xfrm>
            <a:off x="9560051" y="3099816"/>
            <a:ext cx="169164" cy="169164"/>
          </a:xfrm>
          <a:prstGeom prst="rect">
            <a:avLst/>
          </a:prstGeom>
        </p:spPr>
      </p:pic>
      <p:pic>
        <p:nvPicPr>
          <p:cNvPr id="102" name="Paciente 49" descr="mujer_gris.png"/>
          <p:cNvPicPr>
            <a:picLocks noChangeAspect="1"/>
          </p:cNvPicPr>
          <p:nvPr/>
        </p:nvPicPr>
        <p:blipFill>
          <a:blip r:embed="rId6"/>
          <a:stretch>
            <a:fillRect/>
          </a:stretch>
        </p:blipFill>
        <p:spPr>
          <a:xfrm>
            <a:off x="9756648" y="3099816"/>
            <a:ext cx="169164" cy="169164"/>
          </a:xfrm>
          <a:prstGeom prst="rect">
            <a:avLst/>
          </a:prstGeom>
        </p:spPr>
      </p:pic>
      <p:pic>
        <p:nvPicPr>
          <p:cNvPr id="103" name="Paciente 50" descr="mujer_gris.png"/>
          <p:cNvPicPr>
            <a:picLocks noChangeAspect="1"/>
          </p:cNvPicPr>
          <p:nvPr/>
        </p:nvPicPr>
        <p:blipFill>
          <a:blip r:embed="rId6"/>
          <a:stretch>
            <a:fillRect/>
          </a:stretch>
        </p:blipFill>
        <p:spPr>
          <a:xfrm>
            <a:off x="9953244" y="3099816"/>
            <a:ext cx="169164" cy="169164"/>
          </a:xfrm>
          <a:prstGeom prst="rect">
            <a:avLst/>
          </a:prstGeom>
        </p:spPr>
      </p:pic>
      <p:pic>
        <p:nvPicPr>
          <p:cNvPr id="104" name="Paciente 51" descr="mujer_gris.png"/>
          <p:cNvPicPr>
            <a:picLocks noChangeAspect="1"/>
          </p:cNvPicPr>
          <p:nvPr/>
        </p:nvPicPr>
        <p:blipFill>
          <a:blip r:embed="rId6"/>
          <a:stretch>
            <a:fillRect/>
          </a:stretch>
        </p:blipFill>
        <p:spPr>
          <a:xfrm>
            <a:off x="8183879" y="3314700"/>
            <a:ext cx="169164" cy="169164"/>
          </a:xfrm>
          <a:prstGeom prst="rect">
            <a:avLst/>
          </a:prstGeom>
        </p:spPr>
      </p:pic>
      <p:pic>
        <p:nvPicPr>
          <p:cNvPr id="105" name="Paciente 52" descr="mujer_gris.png"/>
          <p:cNvPicPr>
            <a:picLocks noChangeAspect="1"/>
          </p:cNvPicPr>
          <p:nvPr/>
        </p:nvPicPr>
        <p:blipFill>
          <a:blip r:embed="rId6"/>
          <a:stretch>
            <a:fillRect/>
          </a:stretch>
        </p:blipFill>
        <p:spPr>
          <a:xfrm>
            <a:off x="8380475" y="3314700"/>
            <a:ext cx="169164" cy="169164"/>
          </a:xfrm>
          <a:prstGeom prst="rect">
            <a:avLst/>
          </a:prstGeom>
        </p:spPr>
      </p:pic>
      <p:pic>
        <p:nvPicPr>
          <p:cNvPr id="106" name="Paciente 53" descr="mujer_gris.png"/>
          <p:cNvPicPr>
            <a:picLocks noChangeAspect="1"/>
          </p:cNvPicPr>
          <p:nvPr/>
        </p:nvPicPr>
        <p:blipFill>
          <a:blip r:embed="rId6"/>
          <a:stretch>
            <a:fillRect/>
          </a:stretch>
        </p:blipFill>
        <p:spPr>
          <a:xfrm>
            <a:off x="8577072" y="3314700"/>
            <a:ext cx="169164" cy="169164"/>
          </a:xfrm>
          <a:prstGeom prst="rect">
            <a:avLst/>
          </a:prstGeom>
        </p:spPr>
      </p:pic>
      <p:pic>
        <p:nvPicPr>
          <p:cNvPr id="107" name="Paciente 54" descr="mujer_gris.png"/>
          <p:cNvPicPr>
            <a:picLocks noChangeAspect="1"/>
          </p:cNvPicPr>
          <p:nvPr/>
        </p:nvPicPr>
        <p:blipFill>
          <a:blip r:embed="rId6"/>
          <a:stretch>
            <a:fillRect/>
          </a:stretch>
        </p:blipFill>
        <p:spPr>
          <a:xfrm>
            <a:off x="8773667" y="3314700"/>
            <a:ext cx="169164" cy="169164"/>
          </a:xfrm>
          <a:prstGeom prst="rect">
            <a:avLst/>
          </a:prstGeom>
        </p:spPr>
      </p:pic>
      <p:pic>
        <p:nvPicPr>
          <p:cNvPr id="108" name="Paciente 55" descr="mujer_gris.png"/>
          <p:cNvPicPr>
            <a:picLocks noChangeAspect="1"/>
          </p:cNvPicPr>
          <p:nvPr/>
        </p:nvPicPr>
        <p:blipFill>
          <a:blip r:embed="rId6"/>
          <a:stretch>
            <a:fillRect/>
          </a:stretch>
        </p:blipFill>
        <p:spPr>
          <a:xfrm>
            <a:off x="8970263" y="3314700"/>
            <a:ext cx="169164" cy="169164"/>
          </a:xfrm>
          <a:prstGeom prst="rect">
            <a:avLst/>
          </a:prstGeom>
        </p:spPr>
      </p:pic>
      <p:pic>
        <p:nvPicPr>
          <p:cNvPr id="109" name="Paciente 56" descr="mujer_gris.png"/>
          <p:cNvPicPr>
            <a:picLocks noChangeAspect="1"/>
          </p:cNvPicPr>
          <p:nvPr/>
        </p:nvPicPr>
        <p:blipFill>
          <a:blip r:embed="rId6"/>
          <a:stretch>
            <a:fillRect/>
          </a:stretch>
        </p:blipFill>
        <p:spPr>
          <a:xfrm>
            <a:off x="9166859" y="3314700"/>
            <a:ext cx="169164" cy="169164"/>
          </a:xfrm>
          <a:prstGeom prst="rect">
            <a:avLst/>
          </a:prstGeom>
        </p:spPr>
      </p:pic>
      <p:pic>
        <p:nvPicPr>
          <p:cNvPr id="110" name="Paciente 57" descr="mujer_gris.png"/>
          <p:cNvPicPr>
            <a:picLocks noChangeAspect="1"/>
          </p:cNvPicPr>
          <p:nvPr/>
        </p:nvPicPr>
        <p:blipFill>
          <a:blip r:embed="rId6"/>
          <a:stretch>
            <a:fillRect/>
          </a:stretch>
        </p:blipFill>
        <p:spPr>
          <a:xfrm>
            <a:off x="9363455" y="3314700"/>
            <a:ext cx="169164" cy="169164"/>
          </a:xfrm>
          <a:prstGeom prst="rect">
            <a:avLst/>
          </a:prstGeom>
        </p:spPr>
      </p:pic>
      <p:pic>
        <p:nvPicPr>
          <p:cNvPr id="111" name="Paciente 58" descr="mujer_gris.png"/>
          <p:cNvPicPr>
            <a:picLocks noChangeAspect="1"/>
          </p:cNvPicPr>
          <p:nvPr/>
        </p:nvPicPr>
        <p:blipFill>
          <a:blip r:embed="rId6"/>
          <a:stretch>
            <a:fillRect/>
          </a:stretch>
        </p:blipFill>
        <p:spPr>
          <a:xfrm>
            <a:off x="9560051" y="3314700"/>
            <a:ext cx="169164" cy="169164"/>
          </a:xfrm>
          <a:prstGeom prst="rect">
            <a:avLst/>
          </a:prstGeom>
        </p:spPr>
      </p:pic>
      <p:pic>
        <p:nvPicPr>
          <p:cNvPr id="112" name="Paciente 59" descr="mujer_gris.png"/>
          <p:cNvPicPr>
            <a:picLocks noChangeAspect="1"/>
          </p:cNvPicPr>
          <p:nvPr/>
        </p:nvPicPr>
        <p:blipFill>
          <a:blip r:embed="rId6"/>
          <a:stretch>
            <a:fillRect/>
          </a:stretch>
        </p:blipFill>
        <p:spPr>
          <a:xfrm>
            <a:off x="9756648" y="3314700"/>
            <a:ext cx="169164" cy="169164"/>
          </a:xfrm>
          <a:prstGeom prst="rect">
            <a:avLst/>
          </a:prstGeom>
        </p:spPr>
      </p:pic>
      <p:pic>
        <p:nvPicPr>
          <p:cNvPr id="113" name="Paciente 60" descr="mujer_gris.png"/>
          <p:cNvPicPr>
            <a:picLocks noChangeAspect="1"/>
          </p:cNvPicPr>
          <p:nvPr/>
        </p:nvPicPr>
        <p:blipFill>
          <a:blip r:embed="rId6"/>
          <a:stretch>
            <a:fillRect/>
          </a:stretch>
        </p:blipFill>
        <p:spPr>
          <a:xfrm>
            <a:off x="9953244" y="3314700"/>
            <a:ext cx="169164" cy="169164"/>
          </a:xfrm>
          <a:prstGeom prst="rect">
            <a:avLst/>
          </a:prstGeom>
        </p:spPr>
      </p:pic>
      <p:pic>
        <p:nvPicPr>
          <p:cNvPr id="114" name="Paciente 61" descr="mujer_gris.png"/>
          <p:cNvPicPr>
            <a:picLocks noChangeAspect="1"/>
          </p:cNvPicPr>
          <p:nvPr/>
        </p:nvPicPr>
        <p:blipFill>
          <a:blip r:embed="rId6"/>
          <a:stretch>
            <a:fillRect/>
          </a:stretch>
        </p:blipFill>
        <p:spPr>
          <a:xfrm>
            <a:off x="8183879" y="3529584"/>
            <a:ext cx="169164" cy="169164"/>
          </a:xfrm>
          <a:prstGeom prst="rect">
            <a:avLst/>
          </a:prstGeom>
        </p:spPr>
      </p:pic>
      <p:pic>
        <p:nvPicPr>
          <p:cNvPr id="115" name="Paciente 62" descr="mujer_gris.png"/>
          <p:cNvPicPr>
            <a:picLocks noChangeAspect="1"/>
          </p:cNvPicPr>
          <p:nvPr/>
        </p:nvPicPr>
        <p:blipFill>
          <a:blip r:embed="rId6"/>
          <a:stretch>
            <a:fillRect/>
          </a:stretch>
        </p:blipFill>
        <p:spPr>
          <a:xfrm>
            <a:off x="8380475" y="3529584"/>
            <a:ext cx="169164" cy="169164"/>
          </a:xfrm>
          <a:prstGeom prst="rect">
            <a:avLst/>
          </a:prstGeom>
        </p:spPr>
      </p:pic>
      <p:pic>
        <p:nvPicPr>
          <p:cNvPr id="116" name="Paciente 63" descr="mujer_gris.png"/>
          <p:cNvPicPr>
            <a:picLocks noChangeAspect="1"/>
          </p:cNvPicPr>
          <p:nvPr/>
        </p:nvPicPr>
        <p:blipFill>
          <a:blip r:embed="rId6"/>
          <a:stretch>
            <a:fillRect/>
          </a:stretch>
        </p:blipFill>
        <p:spPr>
          <a:xfrm>
            <a:off x="8577072" y="3529584"/>
            <a:ext cx="169164" cy="169164"/>
          </a:xfrm>
          <a:prstGeom prst="rect">
            <a:avLst/>
          </a:prstGeom>
        </p:spPr>
      </p:pic>
      <p:pic>
        <p:nvPicPr>
          <p:cNvPr id="117" name="Paciente 64" descr="mujer_gris.png"/>
          <p:cNvPicPr>
            <a:picLocks noChangeAspect="1"/>
          </p:cNvPicPr>
          <p:nvPr/>
        </p:nvPicPr>
        <p:blipFill>
          <a:blip r:embed="rId6"/>
          <a:stretch>
            <a:fillRect/>
          </a:stretch>
        </p:blipFill>
        <p:spPr>
          <a:xfrm>
            <a:off x="8773667" y="3529584"/>
            <a:ext cx="169164" cy="169164"/>
          </a:xfrm>
          <a:prstGeom prst="rect">
            <a:avLst/>
          </a:prstGeom>
        </p:spPr>
      </p:pic>
      <p:pic>
        <p:nvPicPr>
          <p:cNvPr id="118" name="Paciente 65" descr="mujer_gris.png"/>
          <p:cNvPicPr>
            <a:picLocks noChangeAspect="1"/>
          </p:cNvPicPr>
          <p:nvPr/>
        </p:nvPicPr>
        <p:blipFill>
          <a:blip r:embed="rId6"/>
          <a:stretch>
            <a:fillRect/>
          </a:stretch>
        </p:blipFill>
        <p:spPr>
          <a:xfrm>
            <a:off x="8970263" y="3529584"/>
            <a:ext cx="169164" cy="169164"/>
          </a:xfrm>
          <a:prstGeom prst="rect">
            <a:avLst/>
          </a:prstGeom>
        </p:spPr>
      </p:pic>
      <p:pic>
        <p:nvPicPr>
          <p:cNvPr id="119" name="Paciente 66" descr="mujer_gris.png"/>
          <p:cNvPicPr>
            <a:picLocks noChangeAspect="1"/>
          </p:cNvPicPr>
          <p:nvPr/>
        </p:nvPicPr>
        <p:blipFill>
          <a:blip r:embed="rId6"/>
          <a:stretch>
            <a:fillRect/>
          </a:stretch>
        </p:blipFill>
        <p:spPr>
          <a:xfrm>
            <a:off x="9166859" y="3529584"/>
            <a:ext cx="169164" cy="169164"/>
          </a:xfrm>
          <a:prstGeom prst="rect">
            <a:avLst/>
          </a:prstGeom>
        </p:spPr>
      </p:pic>
      <p:pic>
        <p:nvPicPr>
          <p:cNvPr id="120" name="Paciente 67" descr="mujer_gris.png"/>
          <p:cNvPicPr>
            <a:picLocks noChangeAspect="1"/>
          </p:cNvPicPr>
          <p:nvPr/>
        </p:nvPicPr>
        <p:blipFill>
          <a:blip r:embed="rId6"/>
          <a:stretch>
            <a:fillRect/>
          </a:stretch>
        </p:blipFill>
        <p:spPr>
          <a:xfrm>
            <a:off x="9363455" y="3529584"/>
            <a:ext cx="169164" cy="169164"/>
          </a:xfrm>
          <a:prstGeom prst="rect">
            <a:avLst/>
          </a:prstGeom>
        </p:spPr>
      </p:pic>
      <p:pic>
        <p:nvPicPr>
          <p:cNvPr id="121" name="Paciente 68" descr="mujer_gris.png"/>
          <p:cNvPicPr>
            <a:picLocks noChangeAspect="1"/>
          </p:cNvPicPr>
          <p:nvPr/>
        </p:nvPicPr>
        <p:blipFill>
          <a:blip r:embed="rId6"/>
          <a:stretch>
            <a:fillRect/>
          </a:stretch>
        </p:blipFill>
        <p:spPr>
          <a:xfrm>
            <a:off x="9560051" y="3529584"/>
            <a:ext cx="169164" cy="169164"/>
          </a:xfrm>
          <a:prstGeom prst="rect">
            <a:avLst/>
          </a:prstGeom>
        </p:spPr>
      </p:pic>
      <p:pic>
        <p:nvPicPr>
          <p:cNvPr id="122" name="Paciente 69" descr="mujer_gris.png"/>
          <p:cNvPicPr>
            <a:picLocks noChangeAspect="1"/>
          </p:cNvPicPr>
          <p:nvPr/>
        </p:nvPicPr>
        <p:blipFill>
          <a:blip r:embed="rId6"/>
          <a:stretch>
            <a:fillRect/>
          </a:stretch>
        </p:blipFill>
        <p:spPr>
          <a:xfrm>
            <a:off x="9756648" y="3529584"/>
            <a:ext cx="169164" cy="169164"/>
          </a:xfrm>
          <a:prstGeom prst="rect">
            <a:avLst/>
          </a:prstGeom>
        </p:spPr>
      </p:pic>
      <p:pic>
        <p:nvPicPr>
          <p:cNvPr id="123" name="Paciente 70" descr="mujer_gris.png"/>
          <p:cNvPicPr>
            <a:picLocks noChangeAspect="1"/>
          </p:cNvPicPr>
          <p:nvPr/>
        </p:nvPicPr>
        <p:blipFill>
          <a:blip r:embed="rId6"/>
          <a:stretch>
            <a:fillRect/>
          </a:stretch>
        </p:blipFill>
        <p:spPr>
          <a:xfrm>
            <a:off x="9953244" y="3529584"/>
            <a:ext cx="169164" cy="169164"/>
          </a:xfrm>
          <a:prstGeom prst="rect">
            <a:avLst/>
          </a:prstGeom>
        </p:spPr>
      </p:pic>
      <p:pic>
        <p:nvPicPr>
          <p:cNvPr id="124" name="Paciente 71" descr="mujer_gris.png"/>
          <p:cNvPicPr>
            <a:picLocks noChangeAspect="1"/>
          </p:cNvPicPr>
          <p:nvPr/>
        </p:nvPicPr>
        <p:blipFill>
          <a:blip r:embed="rId6"/>
          <a:stretch>
            <a:fillRect/>
          </a:stretch>
        </p:blipFill>
        <p:spPr>
          <a:xfrm>
            <a:off x="8183879" y="3744468"/>
            <a:ext cx="169164" cy="169164"/>
          </a:xfrm>
          <a:prstGeom prst="rect">
            <a:avLst/>
          </a:prstGeom>
        </p:spPr>
      </p:pic>
      <p:pic>
        <p:nvPicPr>
          <p:cNvPr id="125" name="Paciente 72" descr="mujer_gris.png"/>
          <p:cNvPicPr>
            <a:picLocks noChangeAspect="1"/>
          </p:cNvPicPr>
          <p:nvPr/>
        </p:nvPicPr>
        <p:blipFill>
          <a:blip r:embed="rId6"/>
          <a:stretch>
            <a:fillRect/>
          </a:stretch>
        </p:blipFill>
        <p:spPr>
          <a:xfrm>
            <a:off x="8380475" y="3744468"/>
            <a:ext cx="169164" cy="169164"/>
          </a:xfrm>
          <a:prstGeom prst="rect">
            <a:avLst/>
          </a:prstGeom>
        </p:spPr>
      </p:pic>
      <p:pic>
        <p:nvPicPr>
          <p:cNvPr id="126" name="Paciente 73" descr="mujer_gris.png"/>
          <p:cNvPicPr>
            <a:picLocks noChangeAspect="1"/>
          </p:cNvPicPr>
          <p:nvPr/>
        </p:nvPicPr>
        <p:blipFill>
          <a:blip r:embed="rId6"/>
          <a:stretch>
            <a:fillRect/>
          </a:stretch>
        </p:blipFill>
        <p:spPr>
          <a:xfrm>
            <a:off x="8577072" y="3744468"/>
            <a:ext cx="169164" cy="169164"/>
          </a:xfrm>
          <a:prstGeom prst="rect">
            <a:avLst/>
          </a:prstGeom>
        </p:spPr>
      </p:pic>
      <p:pic>
        <p:nvPicPr>
          <p:cNvPr id="127" name="Paciente 74" descr="mujer_gris.png"/>
          <p:cNvPicPr>
            <a:picLocks noChangeAspect="1"/>
          </p:cNvPicPr>
          <p:nvPr/>
        </p:nvPicPr>
        <p:blipFill>
          <a:blip r:embed="rId6"/>
          <a:stretch>
            <a:fillRect/>
          </a:stretch>
        </p:blipFill>
        <p:spPr>
          <a:xfrm>
            <a:off x="8773667" y="3744468"/>
            <a:ext cx="169164" cy="169164"/>
          </a:xfrm>
          <a:prstGeom prst="rect">
            <a:avLst/>
          </a:prstGeom>
        </p:spPr>
      </p:pic>
      <p:pic>
        <p:nvPicPr>
          <p:cNvPr id="128" name="Paciente 75" descr="mujer_gris.png"/>
          <p:cNvPicPr>
            <a:picLocks noChangeAspect="1"/>
          </p:cNvPicPr>
          <p:nvPr/>
        </p:nvPicPr>
        <p:blipFill>
          <a:blip r:embed="rId6"/>
          <a:stretch>
            <a:fillRect/>
          </a:stretch>
        </p:blipFill>
        <p:spPr>
          <a:xfrm>
            <a:off x="8970263" y="3744468"/>
            <a:ext cx="169164" cy="169164"/>
          </a:xfrm>
          <a:prstGeom prst="rect">
            <a:avLst/>
          </a:prstGeom>
        </p:spPr>
      </p:pic>
      <p:pic>
        <p:nvPicPr>
          <p:cNvPr id="129" name="Paciente 76" descr="mujer_gris.png"/>
          <p:cNvPicPr>
            <a:picLocks noChangeAspect="1"/>
          </p:cNvPicPr>
          <p:nvPr/>
        </p:nvPicPr>
        <p:blipFill>
          <a:blip r:embed="rId6"/>
          <a:stretch>
            <a:fillRect/>
          </a:stretch>
        </p:blipFill>
        <p:spPr>
          <a:xfrm>
            <a:off x="9166859" y="3744468"/>
            <a:ext cx="169164" cy="169164"/>
          </a:xfrm>
          <a:prstGeom prst="rect">
            <a:avLst/>
          </a:prstGeom>
        </p:spPr>
      </p:pic>
      <p:pic>
        <p:nvPicPr>
          <p:cNvPr id="130" name="Paciente 77" descr="mujer_gris.png"/>
          <p:cNvPicPr>
            <a:picLocks noChangeAspect="1"/>
          </p:cNvPicPr>
          <p:nvPr/>
        </p:nvPicPr>
        <p:blipFill>
          <a:blip r:embed="rId6"/>
          <a:stretch>
            <a:fillRect/>
          </a:stretch>
        </p:blipFill>
        <p:spPr>
          <a:xfrm>
            <a:off x="9363455" y="3744468"/>
            <a:ext cx="169164" cy="169164"/>
          </a:xfrm>
          <a:prstGeom prst="rect">
            <a:avLst/>
          </a:prstGeom>
        </p:spPr>
      </p:pic>
      <p:pic>
        <p:nvPicPr>
          <p:cNvPr id="131" name="Paciente 78" descr="mujer_gris.png"/>
          <p:cNvPicPr>
            <a:picLocks noChangeAspect="1"/>
          </p:cNvPicPr>
          <p:nvPr/>
        </p:nvPicPr>
        <p:blipFill>
          <a:blip r:embed="rId6"/>
          <a:stretch>
            <a:fillRect/>
          </a:stretch>
        </p:blipFill>
        <p:spPr>
          <a:xfrm>
            <a:off x="9560051" y="3744468"/>
            <a:ext cx="169164" cy="169164"/>
          </a:xfrm>
          <a:prstGeom prst="rect">
            <a:avLst/>
          </a:prstGeom>
        </p:spPr>
      </p:pic>
      <p:pic>
        <p:nvPicPr>
          <p:cNvPr id="132" name="Paciente 79" descr="mujer_gris.png"/>
          <p:cNvPicPr>
            <a:picLocks noChangeAspect="1"/>
          </p:cNvPicPr>
          <p:nvPr/>
        </p:nvPicPr>
        <p:blipFill>
          <a:blip r:embed="rId6"/>
          <a:stretch>
            <a:fillRect/>
          </a:stretch>
        </p:blipFill>
        <p:spPr>
          <a:xfrm>
            <a:off x="9756648" y="3744468"/>
            <a:ext cx="169164" cy="169164"/>
          </a:xfrm>
          <a:prstGeom prst="rect">
            <a:avLst/>
          </a:prstGeom>
        </p:spPr>
      </p:pic>
      <p:pic>
        <p:nvPicPr>
          <p:cNvPr id="133" name="Paciente 80" descr="mujer_gris.png"/>
          <p:cNvPicPr>
            <a:picLocks noChangeAspect="1"/>
          </p:cNvPicPr>
          <p:nvPr/>
        </p:nvPicPr>
        <p:blipFill>
          <a:blip r:embed="rId6"/>
          <a:stretch>
            <a:fillRect/>
          </a:stretch>
        </p:blipFill>
        <p:spPr>
          <a:xfrm>
            <a:off x="9953244" y="3744468"/>
            <a:ext cx="169164" cy="169164"/>
          </a:xfrm>
          <a:prstGeom prst="rect">
            <a:avLst/>
          </a:prstGeom>
        </p:spPr>
      </p:pic>
      <p:pic>
        <p:nvPicPr>
          <p:cNvPr id="134" name="Paciente 81" descr="mujer_gris.png"/>
          <p:cNvPicPr>
            <a:picLocks noChangeAspect="1"/>
          </p:cNvPicPr>
          <p:nvPr/>
        </p:nvPicPr>
        <p:blipFill>
          <a:blip r:embed="rId6"/>
          <a:stretch>
            <a:fillRect/>
          </a:stretch>
        </p:blipFill>
        <p:spPr>
          <a:xfrm>
            <a:off x="8183879" y="3959352"/>
            <a:ext cx="169164" cy="169164"/>
          </a:xfrm>
          <a:prstGeom prst="rect">
            <a:avLst/>
          </a:prstGeom>
        </p:spPr>
      </p:pic>
      <p:pic>
        <p:nvPicPr>
          <p:cNvPr id="135" name="Paciente 82" descr="mujer_gris.png"/>
          <p:cNvPicPr>
            <a:picLocks noChangeAspect="1"/>
          </p:cNvPicPr>
          <p:nvPr/>
        </p:nvPicPr>
        <p:blipFill>
          <a:blip r:embed="rId6"/>
          <a:stretch>
            <a:fillRect/>
          </a:stretch>
        </p:blipFill>
        <p:spPr>
          <a:xfrm>
            <a:off x="8380475" y="3959352"/>
            <a:ext cx="169164" cy="169164"/>
          </a:xfrm>
          <a:prstGeom prst="rect">
            <a:avLst/>
          </a:prstGeom>
        </p:spPr>
      </p:pic>
      <p:pic>
        <p:nvPicPr>
          <p:cNvPr id="136" name="Paciente 83" descr="mujer_gris.png"/>
          <p:cNvPicPr>
            <a:picLocks noChangeAspect="1"/>
          </p:cNvPicPr>
          <p:nvPr/>
        </p:nvPicPr>
        <p:blipFill>
          <a:blip r:embed="rId6"/>
          <a:stretch>
            <a:fillRect/>
          </a:stretch>
        </p:blipFill>
        <p:spPr>
          <a:xfrm>
            <a:off x="8577072" y="3959352"/>
            <a:ext cx="169164" cy="169164"/>
          </a:xfrm>
          <a:prstGeom prst="rect">
            <a:avLst/>
          </a:prstGeom>
        </p:spPr>
      </p:pic>
      <p:pic>
        <p:nvPicPr>
          <p:cNvPr id="137" name="Paciente 84" descr="mujer_gris.png"/>
          <p:cNvPicPr>
            <a:picLocks noChangeAspect="1"/>
          </p:cNvPicPr>
          <p:nvPr/>
        </p:nvPicPr>
        <p:blipFill>
          <a:blip r:embed="rId6"/>
          <a:stretch>
            <a:fillRect/>
          </a:stretch>
        </p:blipFill>
        <p:spPr>
          <a:xfrm>
            <a:off x="8773667" y="3959352"/>
            <a:ext cx="169164" cy="169164"/>
          </a:xfrm>
          <a:prstGeom prst="rect">
            <a:avLst/>
          </a:prstGeom>
        </p:spPr>
      </p:pic>
      <p:pic>
        <p:nvPicPr>
          <p:cNvPr id="138" name="Paciente 85" descr="mujer_gris.png"/>
          <p:cNvPicPr>
            <a:picLocks noChangeAspect="1"/>
          </p:cNvPicPr>
          <p:nvPr/>
        </p:nvPicPr>
        <p:blipFill>
          <a:blip r:embed="rId6"/>
          <a:stretch>
            <a:fillRect/>
          </a:stretch>
        </p:blipFill>
        <p:spPr>
          <a:xfrm>
            <a:off x="8970263" y="3959352"/>
            <a:ext cx="169164" cy="169164"/>
          </a:xfrm>
          <a:prstGeom prst="rect">
            <a:avLst/>
          </a:prstGeom>
        </p:spPr>
      </p:pic>
      <p:pic>
        <p:nvPicPr>
          <p:cNvPr id="139" name="Paciente 86" descr="mujer_gris.png"/>
          <p:cNvPicPr>
            <a:picLocks noChangeAspect="1"/>
          </p:cNvPicPr>
          <p:nvPr/>
        </p:nvPicPr>
        <p:blipFill>
          <a:blip r:embed="rId6"/>
          <a:stretch>
            <a:fillRect/>
          </a:stretch>
        </p:blipFill>
        <p:spPr>
          <a:xfrm>
            <a:off x="9166859" y="3959352"/>
            <a:ext cx="169164" cy="169164"/>
          </a:xfrm>
          <a:prstGeom prst="rect">
            <a:avLst/>
          </a:prstGeom>
        </p:spPr>
      </p:pic>
      <p:pic>
        <p:nvPicPr>
          <p:cNvPr id="140" name="Paciente 87" descr="mujer_gris.png"/>
          <p:cNvPicPr>
            <a:picLocks noChangeAspect="1"/>
          </p:cNvPicPr>
          <p:nvPr/>
        </p:nvPicPr>
        <p:blipFill>
          <a:blip r:embed="rId6"/>
          <a:stretch>
            <a:fillRect/>
          </a:stretch>
        </p:blipFill>
        <p:spPr>
          <a:xfrm>
            <a:off x="9363455" y="3959352"/>
            <a:ext cx="169164" cy="169164"/>
          </a:xfrm>
          <a:prstGeom prst="rect">
            <a:avLst/>
          </a:prstGeom>
        </p:spPr>
      </p:pic>
      <p:pic>
        <p:nvPicPr>
          <p:cNvPr id="141" name="Paciente 88" descr="mujer_gris.png"/>
          <p:cNvPicPr>
            <a:picLocks noChangeAspect="1"/>
          </p:cNvPicPr>
          <p:nvPr/>
        </p:nvPicPr>
        <p:blipFill>
          <a:blip r:embed="rId6"/>
          <a:stretch>
            <a:fillRect/>
          </a:stretch>
        </p:blipFill>
        <p:spPr>
          <a:xfrm>
            <a:off x="9560051" y="3959352"/>
            <a:ext cx="169164" cy="169164"/>
          </a:xfrm>
          <a:prstGeom prst="rect">
            <a:avLst/>
          </a:prstGeom>
        </p:spPr>
      </p:pic>
      <p:pic>
        <p:nvPicPr>
          <p:cNvPr id="142" name="Paciente 89" descr="mujer_gris.png"/>
          <p:cNvPicPr>
            <a:picLocks noChangeAspect="1"/>
          </p:cNvPicPr>
          <p:nvPr/>
        </p:nvPicPr>
        <p:blipFill>
          <a:blip r:embed="rId6"/>
          <a:stretch>
            <a:fillRect/>
          </a:stretch>
        </p:blipFill>
        <p:spPr>
          <a:xfrm>
            <a:off x="9756648" y="3959352"/>
            <a:ext cx="169164" cy="169164"/>
          </a:xfrm>
          <a:prstGeom prst="rect">
            <a:avLst/>
          </a:prstGeom>
        </p:spPr>
      </p:pic>
      <p:pic>
        <p:nvPicPr>
          <p:cNvPr id="143" name="Paciente 90" descr="mujer_gris.png"/>
          <p:cNvPicPr>
            <a:picLocks noChangeAspect="1"/>
          </p:cNvPicPr>
          <p:nvPr/>
        </p:nvPicPr>
        <p:blipFill>
          <a:blip r:embed="rId6"/>
          <a:stretch>
            <a:fillRect/>
          </a:stretch>
        </p:blipFill>
        <p:spPr>
          <a:xfrm>
            <a:off x="9953244" y="3959352"/>
            <a:ext cx="169164" cy="169164"/>
          </a:xfrm>
          <a:prstGeom prst="rect">
            <a:avLst/>
          </a:prstGeom>
        </p:spPr>
      </p:pic>
      <p:pic>
        <p:nvPicPr>
          <p:cNvPr id="144" name="Paciente 91" descr="mujer_gris.png"/>
          <p:cNvPicPr>
            <a:picLocks noChangeAspect="1"/>
          </p:cNvPicPr>
          <p:nvPr/>
        </p:nvPicPr>
        <p:blipFill>
          <a:blip r:embed="rId6"/>
          <a:stretch>
            <a:fillRect/>
          </a:stretch>
        </p:blipFill>
        <p:spPr>
          <a:xfrm>
            <a:off x="8183879" y="4174235"/>
            <a:ext cx="169164" cy="169164"/>
          </a:xfrm>
          <a:prstGeom prst="rect">
            <a:avLst/>
          </a:prstGeom>
        </p:spPr>
      </p:pic>
      <p:pic>
        <p:nvPicPr>
          <p:cNvPr id="145" name="Paciente 92" descr="mujer_gris.png"/>
          <p:cNvPicPr>
            <a:picLocks noChangeAspect="1"/>
          </p:cNvPicPr>
          <p:nvPr/>
        </p:nvPicPr>
        <p:blipFill>
          <a:blip r:embed="rId6"/>
          <a:stretch>
            <a:fillRect/>
          </a:stretch>
        </p:blipFill>
        <p:spPr>
          <a:xfrm>
            <a:off x="8380475" y="4174235"/>
            <a:ext cx="169164" cy="169164"/>
          </a:xfrm>
          <a:prstGeom prst="rect">
            <a:avLst/>
          </a:prstGeom>
        </p:spPr>
      </p:pic>
      <p:pic>
        <p:nvPicPr>
          <p:cNvPr id="146" name="Paciente 93" descr="mujer_gris.png"/>
          <p:cNvPicPr>
            <a:picLocks noChangeAspect="1"/>
          </p:cNvPicPr>
          <p:nvPr/>
        </p:nvPicPr>
        <p:blipFill>
          <a:blip r:embed="rId6"/>
          <a:stretch>
            <a:fillRect/>
          </a:stretch>
        </p:blipFill>
        <p:spPr>
          <a:xfrm>
            <a:off x="8577072" y="4174235"/>
            <a:ext cx="169164" cy="169164"/>
          </a:xfrm>
          <a:prstGeom prst="rect">
            <a:avLst/>
          </a:prstGeom>
        </p:spPr>
      </p:pic>
      <p:pic>
        <p:nvPicPr>
          <p:cNvPr id="147" name="Paciente 94" descr="mujer_gris.png"/>
          <p:cNvPicPr>
            <a:picLocks noChangeAspect="1"/>
          </p:cNvPicPr>
          <p:nvPr/>
        </p:nvPicPr>
        <p:blipFill>
          <a:blip r:embed="rId6"/>
          <a:stretch>
            <a:fillRect/>
          </a:stretch>
        </p:blipFill>
        <p:spPr>
          <a:xfrm>
            <a:off x="8773667" y="4174235"/>
            <a:ext cx="169164" cy="169164"/>
          </a:xfrm>
          <a:prstGeom prst="rect">
            <a:avLst/>
          </a:prstGeom>
        </p:spPr>
      </p:pic>
      <p:pic>
        <p:nvPicPr>
          <p:cNvPr id="148" name="Paciente 95" descr="mujer_gris.png"/>
          <p:cNvPicPr>
            <a:picLocks noChangeAspect="1"/>
          </p:cNvPicPr>
          <p:nvPr/>
        </p:nvPicPr>
        <p:blipFill>
          <a:blip r:embed="rId6"/>
          <a:stretch>
            <a:fillRect/>
          </a:stretch>
        </p:blipFill>
        <p:spPr>
          <a:xfrm>
            <a:off x="8970263" y="4174235"/>
            <a:ext cx="169164" cy="169164"/>
          </a:xfrm>
          <a:prstGeom prst="rect">
            <a:avLst/>
          </a:prstGeom>
        </p:spPr>
      </p:pic>
      <p:pic>
        <p:nvPicPr>
          <p:cNvPr id="149" name="Paciente 96" descr="mujer_gris.png"/>
          <p:cNvPicPr>
            <a:picLocks noChangeAspect="1"/>
          </p:cNvPicPr>
          <p:nvPr/>
        </p:nvPicPr>
        <p:blipFill>
          <a:blip r:embed="rId6"/>
          <a:stretch>
            <a:fillRect/>
          </a:stretch>
        </p:blipFill>
        <p:spPr>
          <a:xfrm>
            <a:off x="9166859" y="4174235"/>
            <a:ext cx="169164" cy="169164"/>
          </a:xfrm>
          <a:prstGeom prst="rect">
            <a:avLst/>
          </a:prstGeom>
        </p:spPr>
      </p:pic>
      <p:pic>
        <p:nvPicPr>
          <p:cNvPr id="150" name="Paciente 97" descr="mujer_gris.png"/>
          <p:cNvPicPr>
            <a:picLocks noChangeAspect="1"/>
          </p:cNvPicPr>
          <p:nvPr/>
        </p:nvPicPr>
        <p:blipFill>
          <a:blip r:embed="rId6"/>
          <a:stretch>
            <a:fillRect/>
          </a:stretch>
        </p:blipFill>
        <p:spPr>
          <a:xfrm>
            <a:off x="9363455" y="4174235"/>
            <a:ext cx="169164" cy="169164"/>
          </a:xfrm>
          <a:prstGeom prst="rect">
            <a:avLst/>
          </a:prstGeom>
        </p:spPr>
      </p:pic>
      <p:pic>
        <p:nvPicPr>
          <p:cNvPr id="151" name="Paciente 98" descr="mujer_gris.png"/>
          <p:cNvPicPr>
            <a:picLocks noChangeAspect="1"/>
          </p:cNvPicPr>
          <p:nvPr/>
        </p:nvPicPr>
        <p:blipFill>
          <a:blip r:embed="rId6"/>
          <a:stretch>
            <a:fillRect/>
          </a:stretch>
        </p:blipFill>
        <p:spPr>
          <a:xfrm>
            <a:off x="9560051" y="4174235"/>
            <a:ext cx="169164" cy="169164"/>
          </a:xfrm>
          <a:prstGeom prst="rect">
            <a:avLst/>
          </a:prstGeom>
        </p:spPr>
      </p:pic>
      <p:pic>
        <p:nvPicPr>
          <p:cNvPr id="152" name="Paciente 99" descr="mujer_gris.png"/>
          <p:cNvPicPr>
            <a:picLocks noChangeAspect="1"/>
          </p:cNvPicPr>
          <p:nvPr/>
        </p:nvPicPr>
        <p:blipFill>
          <a:blip r:embed="rId6"/>
          <a:stretch>
            <a:fillRect/>
          </a:stretch>
        </p:blipFill>
        <p:spPr>
          <a:xfrm>
            <a:off x="9756648" y="4174235"/>
            <a:ext cx="169164" cy="169164"/>
          </a:xfrm>
          <a:prstGeom prst="rect">
            <a:avLst/>
          </a:prstGeom>
        </p:spPr>
      </p:pic>
      <p:pic>
        <p:nvPicPr>
          <p:cNvPr id="153" name="Paciente 100" descr="mujer_gris.png"/>
          <p:cNvPicPr>
            <a:picLocks noChangeAspect="1"/>
          </p:cNvPicPr>
          <p:nvPr/>
        </p:nvPicPr>
        <p:blipFill>
          <a:blip r:embed="rId6"/>
          <a:stretch>
            <a:fillRect/>
          </a:stretch>
        </p:blipFill>
        <p:spPr>
          <a:xfrm>
            <a:off x="9953244" y="4174235"/>
            <a:ext cx="169164" cy="169164"/>
          </a:xfrm>
          <a:prstGeom prst="rect">
            <a:avLst/>
          </a:prstGeom>
        </p:spPr>
      </p:pic>
      <p:sp>
        <p:nvSpPr>
          <p:cNvPr id="154" name="TextBox 153"/>
          <p:cNvSpPr txBox="1"/>
          <p:nvPr/>
        </p:nvSpPr>
        <p:spPr>
          <a:xfrm>
            <a:off x="10332719" y="2240280"/>
            <a:ext cx="1463040" cy="566928"/>
          </a:xfrm>
          <a:prstGeom prst="rect">
            <a:avLst/>
          </a:prstGeom>
          <a:noFill/>
        </p:spPr>
        <p:txBody>
          <a:bodyPr wrap="square" lIns="0" rIns="0" tIns="0" bIns="0" anchor="t">
            <a:noAutofit/>
          </a:bodyPr>
          <a:lstStyle/>
          <a:p>
            <a:pPr algn="l">
              <a:spcAft>
                <a:spcPts val="0"/>
              </a:spcAft>
            </a:pPr>
            <a:r>
              <a:rPr sz="4400" b="1" i="0">
                <a:solidFill>
                  <a:srgbClr val="9A5800"/>
                </a:solidFill>
                <a:latin typeface="+mj-lt"/>
              </a:rPr>
              <a:t>29</a:t>
            </a:r>
          </a:p>
        </p:txBody>
      </p:sp>
      <p:sp>
        <p:nvSpPr>
          <p:cNvPr id="155" name="TextBox 154"/>
          <p:cNvSpPr txBox="1"/>
          <p:nvPr/>
        </p:nvSpPr>
        <p:spPr>
          <a:xfrm>
            <a:off x="10332719" y="2807208"/>
            <a:ext cx="1463040" cy="457200"/>
          </a:xfrm>
          <a:prstGeom prst="rect">
            <a:avLst/>
          </a:prstGeom>
          <a:noFill/>
        </p:spPr>
        <p:txBody>
          <a:bodyPr wrap="square" lIns="0" rIns="0" tIns="0" bIns="0" anchor="t">
            <a:noAutofit/>
          </a:bodyPr>
          <a:lstStyle/>
          <a:p>
            <a:pPr algn="l">
              <a:spcAft>
                <a:spcPts val="0"/>
              </a:spcAft>
            </a:pPr>
            <a:r>
              <a:rPr sz="1300" b="0" i="0">
                <a:solidFill>
                  <a:srgbClr val="1C2733"/>
                </a:solidFill>
                <a:latin typeface="Calibri"/>
              </a:rPr>
              <a:t>con pCR</a:t>
            </a:r>
          </a:p>
        </p:txBody>
      </p:sp>
      <p:sp>
        <p:nvSpPr>
          <p:cNvPr id="156" name="TextBox 155"/>
          <p:cNvSpPr txBox="1"/>
          <p:nvPr/>
        </p:nvSpPr>
        <p:spPr>
          <a:xfrm>
            <a:off x="10332719" y="3291840"/>
            <a:ext cx="1463040" cy="566928"/>
          </a:xfrm>
          <a:prstGeom prst="rect">
            <a:avLst/>
          </a:prstGeom>
          <a:noFill/>
        </p:spPr>
        <p:txBody>
          <a:bodyPr wrap="square" lIns="0" rIns="0" tIns="0" bIns="0" anchor="t">
            <a:noAutofit/>
          </a:bodyPr>
          <a:lstStyle/>
          <a:p>
            <a:pPr algn="l">
              <a:spcAft>
                <a:spcPts val="0"/>
              </a:spcAft>
            </a:pPr>
            <a:r>
              <a:rPr sz="4400" b="1" i="0">
                <a:solidFill>
                  <a:srgbClr val="8A97A3"/>
                </a:solidFill>
                <a:latin typeface="+mj-lt"/>
              </a:rPr>
              <a:t>71</a:t>
            </a:r>
          </a:p>
        </p:txBody>
      </p:sp>
      <p:sp>
        <p:nvSpPr>
          <p:cNvPr id="157" name="TextBox 156"/>
          <p:cNvSpPr txBox="1"/>
          <p:nvPr/>
        </p:nvSpPr>
        <p:spPr>
          <a:xfrm>
            <a:off x="10332719" y="3858768"/>
            <a:ext cx="1463040" cy="274320"/>
          </a:xfrm>
          <a:prstGeom prst="rect">
            <a:avLst/>
          </a:prstGeom>
          <a:noFill/>
        </p:spPr>
        <p:txBody>
          <a:bodyPr wrap="square" lIns="0" rIns="0" tIns="0" bIns="0" anchor="t">
            <a:noAutofit/>
          </a:bodyPr>
          <a:lstStyle/>
          <a:p>
            <a:pPr algn="l">
              <a:spcAft>
                <a:spcPts val="0"/>
              </a:spcAft>
            </a:pPr>
            <a:r>
              <a:rPr sz="1300" b="0" i="0">
                <a:solidFill>
                  <a:srgbClr val="1C2733"/>
                </a:solidFill>
                <a:latin typeface="Calibri"/>
              </a:rPr>
              <a:t>sin pCR</a:t>
            </a:r>
          </a:p>
        </p:txBody>
      </p:sp>
      <p:sp>
        <p:nvSpPr>
          <p:cNvPr id="158" name="TextBox 157"/>
          <p:cNvSpPr txBox="1"/>
          <p:nvPr/>
        </p:nvSpPr>
        <p:spPr>
          <a:xfrm>
            <a:off x="8183879" y="4553712"/>
            <a:ext cx="3566160" cy="777240"/>
          </a:xfrm>
          <a:prstGeom prst="rect">
            <a:avLst/>
          </a:prstGeom>
          <a:noFill/>
        </p:spPr>
        <p:txBody>
          <a:bodyPr wrap="square" lIns="0" rIns="0" tIns="0" bIns="0" anchor="t">
            <a:noAutofit/>
          </a:bodyPr>
          <a:lstStyle/>
          <a:p>
            <a:pPr algn="l">
              <a:spcAft>
                <a:spcPts val="0"/>
              </a:spcAft>
            </a:pPr>
            <a:r>
              <a:rPr sz="1300" b="1" i="0">
                <a:solidFill>
                  <a:srgbClr val="1C2733"/>
                </a:solidFill>
                <a:latin typeface="Calibri"/>
              </a:rPr>
              <a:t>Decir siempre «no pCR» acierta el 70,6 %. </a:t>
            </a:r>
            <a:r>
              <a:rPr sz="1300" b="0" i="0">
                <a:solidFill>
                  <a:srgbClr val="1C2733"/>
                </a:solidFill>
                <a:latin typeface="Calibri"/>
              </a:rPr>
              <a:t>La accuracy engaña: se mide el AUC por paciente, donde 0,5 es el azar.</a:t>
            </a:r>
          </a:p>
        </p:txBody>
      </p:sp>
      <p:sp>
        <p:nvSpPr>
          <p:cNvPr id="159" name="TextBox 158"/>
          <p:cNvSpPr txBox="1"/>
          <p:nvPr/>
        </p:nvSpPr>
        <p:spPr>
          <a:xfrm>
            <a:off x="8183879" y="5349240"/>
            <a:ext cx="3566160" cy="548640"/>
          </a:xfrm>
          <a:prstGeom prst="rect">
            <a:avLst/>
          </a:prstGeom>
          <a:noFill/>
        </p:spPr>
        <p:txBody>
          <a:bodyPr wrap="square" lIns="0" rIns="0" tIns="0" bIns="0" anchor="t">
            <a:noAutofit/>
          </a:bodyPr>
          <a:lstStyle/>
          <a:p>
            <a:pPr algn="l">
              <a:spcAft>
                <a:spcPts val="0"/>
              </a:spcAft>
            </a:pPr>
            <a:r>
              <a:rPr sz="1200" b="1" i="0">
                <a:solidFill>
                  <a:srgbClr val="5B6875"/>
                </a:solidFill>
                <a:latin typeface="Calibri"/>
              </a:rPr>
              <a:t>Depende del subtipo: </a:t>
            </a:r>
            <a:r>
              <a:rPr sz="1200" b="0" i="0">
                <a:solidFill>
                  <a:srgbClr val="5B6875"/>
                </a:solidFill>
                <a:latin typeface="Calibri"/>
              </a:rPr>
              <a:t>HER2+ 43 %, triple negativo 38 %, HR+/HER2− 14 %.</a:t>
            </a:r>
          </a:p>
        </p:txBody>
      </p:sp>
      <p:sp>
        <p:nvSpPr>
          <p:cNvPr id="160" name="TextBox 159"/>
          <p:cNvSpPr txBox="1"/>
          <p:nvPr/>
        </p:nvSpPr>
        <p:spPr>
          <a:xfrm>
            <a:off x="548640" y="5687568"/>
            <a:ext cx="3474720" cy="201168"/>
          </a:xfrm>
          <a:prstGeom prst="rect">
            <a:avLst/>
          </a:prstGeom>
          <a:noFill/>
        </p:spPr>
        <p:txBody>
          <a:bodyPr wrap="square" lIns="0" rIns="0" tIns="0" bIns="0" anchor="t">
            <a:noAutofit/>
          </a:bodyPr>
          <a:lstStyle/>
          <a:p>
            <a:pPr algn="l">
              <a:spcAft>
                <a:spcPts val="0"/>
              </a:spcAft>
            </a:pPr>
            <a:r>
              <a:rPr sz="1000" b="0" i="0">
                <a:solidFill>
                  <a:srgbClr val="5B6875"/>
                </a:solidFill>
                <a:latin typeface="Calibri"/>
              </a:rPr>
              <a:t>Imágenes: BreastDCEDL (Fridman et al., 2026), CC BY-NC 4.0</a:t>
            </a:r>
          </a:p>
        </p:txBody>
      </p:sp>
      <p:sp>
        <p:nvSpPr>
          <p:cNvPr id="161" name="Frase clave"/>
          <p:cNvSpPr/>
          <p:nvPr/>
        </p:nvSpPr>
        <p:spPr>
          <a:xfrm>
            <a:off x="548640" y="6053328"/>
            <a:ext cx="8778240" cy="475488"/>
          </a:xfrm>
          <a:prstGeom prst="parallelogram">
            <a:avLst>
              <a:gd name="adj" fmla="val 69466"/>
            </a:avLst>
          </a:prstGeom>
          <a:solidFill>
            <a:srgbClr val="0760AB"/>
          </a:solidFill>
          <a:ln>
            <a:noFill/>
          </a:ln>
        </p:spPr>
        <p:txBody>
          <a:bodyPr rtlCol="0" anchor="ctr" wrap="square" lIns="440033" rIns="440033" tIns="27432" bIns="27432">
            <a:noAutofit/>
          </a:bodyPr>
          <a:lstStyle/>
          <a:p>
            <a:pPr algn="l">
              <a:spcAft>
                <a:spcPts val="0"/>
              </a:spcAft>
            </a:pPr>
            <a:r>
              <a:rPr sz="1400" b="1" i="0">
                <a:solidFill>
                  <a:srgbClr val="FFFFFF"/>
                </a:solidFill>
                <a:latin typeface="Calibri"/>
              </a:rPr>
              <a:t>Listón: saber solo la cohorte da AUC 0,549; solo el subtipo, 0,657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548640" y="347472"/>
            <a:ext cx="11064240" cy="566928"/>
          </a:xfrm>
          <a:prstGeom prst="rect">
            <a:avLst/>
          </a:prstGeom>
          <a:noFill/>
        </p:spPr>
        <p:txBody>
          <a:bodyPr wrap="square" lIns="0" rIns="0" tIns="0" bIns="0" anchor="t">
            <a:noAutofit/>
          </a:bodyPr>
          <a:lstStyle/>
          <a:p>
            <a:pPr algn="l">
              <a:spcAft>
                <a:spcPts val="0"/>
              </a:spcAft>
            </a:pPr>
            <a:r>
              <a:rPr sz="3200" b="1" i="0">
                <a:solidFill>
                  <a:srgbClr val="0760AB"/>
                </a:solidFill>
                <a:latin typeface="+mj-lt"/>
              </a:rPr>
              <a:t>Una CNN propia: 4 bloques y 97.809 parámetros</a:t>
            </a:r>
          </a:p>
        </p:txBody>
      </p:sp>
      <p:sp>
        <p:nvSpPr>
          <p:cNvPr id="3" name="Entradilla"/>
          <p:cNvSpPr txBox="1"/>
          <p:nvPr/>
        </p:nvSpPr>
        <p:spPr>
          <a:xfrm>
            <a:off x="548640" y="932688"/>
            <a:ext cx="10607040" cy="365760"/>
          </a:xfrm>
          <a:prstGeom prst="rect">
            <a:avLst/>
          </a:prstGeom>
          <a:noFill/>
        </p:spPr>
        <p:txBody>
          <a:bodyPr wrap="square" lIns="0" rIns="0" tIns="0" bIns="0" anchor="t">
            <a:noAutofit/>
          </a:bodyPr>
          <a:lstStyle/>
          <a:p>
            <a:pPr algn="l">
              <a:spcAft>
                <a:spcPts val="0"/>
              </a:spcAft>
            </a:pPr>
            <a:r>
              <a:rPr sz="1600" b="0" i="0">
                <a:solidFill>
                  <a:srgbClr val="5B6875"/>
                </a:solidFill>
                <a:latin typeface="Calibri"/>
              </a:rPr>
              <a:t>Pequeña a propósito: cada modelo aprende con unas 878 pacientes, y sin aumento de datos incluso esta memoriza.</a:t>
            </a:r>
          </a:p>
        </p:txBody>
      </p:sp>
      <p:pic>
        <p:nvPicPr>
          <p:cNvPr id="4" name="Entrada 1" descr="fase_PRE.png"/>
          <p:cNvPicPr>
            <a:picLocks noChangeAspect="1"/>
          </p:cNvPicPr>
          <p:nvPr/>
        </p:nvPicPr>
        <p:blipFill>
          <a:blip r:embed="rId2"/>
          <a:stretch>
            <a:fillRect/>
          </a:stretch>
        </p:blipFill>
        <p:spPr>
          <a:xfrm>
            <a:off x="713232" y="1911095"/>
            <a:ext cx="1298448" cy="1298448"/>
          </a:xfrm>
          <a:prstGeom prst="rect">
            <a:avLst/>
          </a:prstGeom>
        </p:spPr>
      </p:pic>
      <p:pic>
        <p:nvPicPr>
          <p:cNvPr id="5" name="Entrada 2" descr="fase_LATE.png"/>
          <p:cNvPicPr>
            <a:picLocks noChangeAspect="1"/>
          </p:cNvPicPr>
          <p:nvPr/>
        </p:nvPicPr>
        <p:blipFill>
          <a:blip r:embed="rId3"/>
          <a:stretch>
            <a:fillRect/>
          </a:stretch>
        </p:blipFill>
        <p:spPr>
          <a:xfrm>
            <a:off x="630936" y="1993392"/>
            <a:ext cx="1298448" cy="1298448"/>
          </a:xfrm>
          <a:prstGeom prst="rect">
            <a:avLst/>
          </a:prstGeom>
        </p:spPr>
      </p:pic>
      <p:pic>
        <p:nvPicPr>
          <p:cNvPr id="6" name="Entrada 3" descr="fase_EARLY.png"/>
          <p:cNvPicPr>
            <a:picLocks noChangeAspect="1"/>
          </p:cNvPicPr>
          <p:nvPr/>
        </p:nvPicPr>
        <p:blipFill>
          <a:blip r:embed="rId4"/>
          <a:stretch>
            <a:fillRect/>
          </a:stretch>
        </p:blipFill>
        <p:spPr>
          <a:xfrm>
            <a:off x="548640" y="2075688"/>
            <a:ext cx="1298448" cy="1298448"/>
          </a:xfrm>
          <a:prstGeom prst="rect">
            <a:avLst/>
          </a:prstGeom>
        </p:spPr>
      </p:pic>
      <p:sp>
        <p:nvSpPr>
          <p:cNvPr id="7" name="TextBox 6"/>
          <p:cNvSpPr txBox="1"/>
          <p:nvPr/>
        </p:nvSpPr>
        <p:spPr>
          <a:xfrm>
            <a:off x="411480" y="3529584"/>
            <a:ext cx="1737360" cy="219456"/>
          </a:xfrm>
          <a:prstGeom prst="rect">
            <a:avLst/>
          </a:prstGeom>
          <a:noFill/>
        </p:spPr>
        <p:txBody>
          <a:bodyPr wrap="square" lIns="0" rIns="0" tIns="0" bIns="0" anchor="t">
            <a:noAutofit/>
          </a:bodyPr>
          <a:lstStyle/>
          <a:p>
            <a:pPr algn="ctr">
              <a:spcAft>
                <a:spcPts val="0"/>
              </a:spcAft>
            </a:pPr>
            <a:r>
              <a:rPr sz="1100" b="0" i="0">
                <a:solidFill>
                  <a:srgbClr val="5B6875"/>
                </a:solidFill>
                <a:latin typeface="Calibri"/>
              </a:rPr>
              <a:t>Entrada</a:t>
            </a:r>
          </a:p>
        </p:txBody>
      </p:sp>
      <p:sp>
        <p:nvSpPr>
          <p:cNvPr id="8" name="TextBox 7"/>
          <p:cNvSpPr txBox="1"/>
          <p:nvPr/>
        </p:nvSpPr>
        <p:spPr>
          <a:xfrm>
            <a:off x="411480" y="3730752"/>
            <a:ext cx="1737360" cy="237744"/>
          </a:xfrm>
          <a:prstGeom prst="rect">
            <a:avLst/>
          </a:prstGeom>
          <a:noFill/>
        </p:spPr>
        <p:txBody>
          <a:bodyPr wrap="square" lIns="0" rIns="0" tIns="0" bIns="0" anchor="t">
            <a:noAutofit/>
          </a:bodyPr>
          <a:lstStyle/>
          <a:p>
            <a:pPr algn="ctr">
              <a:spcAft>
                <a:spcPts val="0"/>
              </a:spcAft>
            </a:pPr>
            <a:r>
              <a:rPr sz="1250" b="1" i="0">
                <a:solidFill>
                  <a:srgbClr val="1C2733"/>
                </a:solidFill>
                <a:latin typeface="Calibri"/>
              </a:rPr>
              <a:t>3 × 256 × 256</a:t>
            </a:r>
          </a:p>
        </p:txBody>
      </p:sp>
      <p:sp>
        <p:nvSpPr>
          <p:cNvPr id="9" name="TextBox 8"/>
          <p:cNvSpPr txBox="1"/>
          <p:nvPr/>
        </p:nvSpPr>
        <p:spPr>
          <a:xfrm>
            <a:off x="411480" y="3959352"/>
            <a:ext cx="1737360" cy="219456"/>
          </a:xfrm>
          <a:prstGeom prst="rect">
            <a:avLst/>
          </a:prstGeom>
          <a:noFill/>
        </p:spPr>
        <p:txBody>
          <a:bodyPr wrap="square" lIns="0" rIns="0" tIns="0" bIns="0" anchor="t">
            <a:noAutofit/>
          </a:bodyPr>
          <a:lstStyle/>
          <a:p>
            <a:pPr algn="ctr">
              <a:spcAft>
                <a:spcPts val="0"/>
              </a:spcAft>
            </a:pPr>
            <a:r>
              <a:rPr sz="1100" b="0" i="0">
                <a:solidFill>
                  <a:srgbClr val="5B6875"/>
                </a:solidFill>
                <a:latin typeface="Calibri"/>
              </a:rPr>
              <a:t>PRE, EARLY, LATE</a:t>
            </a:r>
          </a:p>
        </p:txBody>
      </p:sp>
      <p:cxnSp>
        <p:nvCxnSpPr>
          <p:cNvPr id="10" name="Connector 9"/>
          <p:cNvCxnSpPr/>
          <p:nvPr/>
        </p:nvCxnSpPr>
        <p:spPr>
          <a:xfrm>
            <a:off x="2066544" y="2724912"/>
            <a:ext cx="219456" cy="0"/>
          </a:xfrm>
          <a:prstGeom prst="line">
            <a:avLst/>
          </a:prstGeom>
          <a:ln w="19050">
            <a:solidFill>
              <a:srgbClr val="8A97A3"/>
            </a:solidFill>
            <a:tailEnd type="triangle" w="med" len="med"/>
          </a:ln>
        </p:spPr>
      </p:cxnSp>
      <p:pic>
        <p:nvPicPr>
          <p:cNvPr id="11" name="Bloque 1 1" descr="bloque1_0.png"/>
          <p:cNvPicPr>
            <a:picLocks noChangeAspect="1"/>
          </p:cNvPicPr>
          <p:nvPr/>
        </p:nvPicPr>
        <p:blipFill>
          <a:blip r:embed="rId5"/>
          <a:stretch>
            <a:fillRect/>
          </a:stretch>
        </p:blipFill>
        <p:spPr>
          <a:xfrm>
            <a:off x="2505456" y="1988819"/>
            <a:ext cx="1143000" cy="1143000"/>
          </a:xfrm>
          <a:prstGeom prst="rect">
            <a:avLst/>
          </a:prstGeom>
        </p:spPr>
      </p:pic>
      <p:pic>
        <p:nvPicPr>
          <p:cNvPr id="12" name="Bloque 1 2" descr="bloque1_1.png"/>
          <p:cNvPicPr>
            <a:picLocks noChangeAspect="1"/>
          </p:cNvPicPr>
          <p:nvPr/>
        </p:nvPicPr>
        <p:blipFill>
          <a:blip r:embed="rId6"/>
          <a:stretch>
            <a:fillRect/>
          </a:stretch>
        </p:blipFill>
        <p:spPr>
          <a:xfrm>
            <a:off x="2423160" y="2071116"/>
            <a:ext cx="1143000" cy="1143000"/>
          </a:xfrm>
          <a:prstGeom prst="rect">
            <a:avLst/>
          </a:prstGeom>
        </p:spPr>
      </p:pic>
      <p:pic>
        <p:nvPicPr>
          <p:cNvPr id="13" name="Bloque 1 3" descr="bloque1_2.png"/>
          <p:cNvPicPr>
            <a:picLocks noChangeAspect="1"/>
          </p:cNvPicPr>
          <p:nvPr/>
        </p:nvPicPr>
        <p:blipFill>
          <a:blip r:embed="rId7"/>
          <a:stretch>
            <a:fillRect/>
          </a:stretch>
        </p:blipFill>
        <p:spPr>
          <a:xfrm>
            <a:off x="2340864" y="2153412"/>
            <a:ext cx="1143000" cy="1143000"/>
          </a:xfrm>
          <a:prstGeom prst="rect">
            <a:avLst/>
          </a:prstGeom>
        </p:spPr>
      </p:pic>
      <p:sp>
        <p:nvSpPr>
          <p:cNvPr id="14" name="TextBox 13"/>
          <p:cNvSpPr txBox="1"/>
          <p:nvPr/>
        </p:nvSpPr>
        <p:spPr>
          <a:xfrm>
            <a:off x="2125980" y="3529584"/>
            <a:ext cx="1737360" cy="219456"/>
          </a:xfrm>
          <a:prstGeom prst="rect">
            <a:avLst/>
          </a:prstGeom>
          <a:noFill/>
        </p:spPr>
        <p:txBody>
          <a:bodyPr wrap="square" lIns="0" rIns="0" tIns="0" bIns="0" anchor="t">
            <a:noAutofit/>
          </a:bodyPr>
          <a:lstStyle/>
          <a:p>
            <a:pPr algn="ctr">
              <a:spcAft>
                <a:spcPts val="0"/>
              </a:spcAft>
            </a:pPr>
            <a:r>
              <a:rPr sz="1100" b="0" i="0">
                <a:solidFill>
                  <a:srgbClr val="5B6875"/>
                </a:solidFill>
                <a:latin typeface="Calibri"/>
              </a:rPr>
              <a:t>Bloque 1</a:t>
            </a:r>
          </a:p>
        </p:txBody>
      </p:sp>
      <p:sp>
        <p:nvSpPr>
          <p:cNvPr id="15" name="TextBox 14"/>
          <p:cNvSpPr txBox="1"/>
          <p:nvPr/>
        </p:nvSpPr>
        <p:spPr>
          <a:xfrm>
            <a:off x="2125980" y="3730752"/>
            <a:ext cx="1737360" cy="237744"/>
          </a:xfrm>
          <a:prstGeom prst="rect">
            <a:avLst/>
          </a:prstGeom>
          <a:noFill/>
        </p:spPr>
        <p:txBody>
          <a:bodyPr wrap="square" lIns="0" rIns="0" tIns="0" bIns="0" anchor="t">
            <a:noAutofit/>
          </a:bodyPr>
          <a:lstStyle/>
          <a:p>
            <a:pPr algn="ctr">
              <a:spcAft>
                <a:spcPts val="0"/>
              </a:spcAft>
            </a:pPr>
            <a:r>
              <a:rPr sz="1250" b="1" i="0">
                <a:solidFill>
                  <a:srgbClr val="1C2733"/>
                </a:solidFill>
                <a:latin typeface="Calibri"/>
              </a:rPr>
              <a:t>16 × 128 × 128</a:t>
            </a:r>
          </a:p>
        </p:txBody>
      </p:sp>
      <p:sp>
        <p:nvSpPr>
          <p:cNvPr id="16" name="TextBox 15"/>
          <p:cNvSpPr txBox="1"/>
          <p:nvPr/>
        </p:nvSpPr>
        <p:spPr>
          <a:xfrm>
            <a:off x="2125980" y="3959352"/>
            <a:ext cx="1737360" cy="219456"/>
          </a:xfrm>
          <a:prstGeom prst="rect">
            <a:avLst/>
          </a:prstGeom>
          <a:noFill/>
        </p:spPr>
        <p:txBody>
          <a:bodyPr wrap="square" lIns="0" rIns="0" tIns="0" bIns="0" anchor="t">
            <a:noAutofit/>
          </a:bodyPr>
          <a:lstStyle/>
          <a:p>
            <a:pPr algn="ctr">
              <a:spcAft>
                <a:spcPts val="0"/>
              </a:spcAft>
            </a:pPr>
            <a:r>
              <a:rPr sz="1100" b="0" i="0">
                <a:solidFill>
                  <a:srgbClr val="5B6875"/>
                </a:solidFill>
                <a:latin typeface="Calibri"/>
              </a:rPr>
              <a:t>464 parámetros</a:t>
            </a:r>
          </a:p>
        </p:txBody>
      </p:sp>
      <p:cxnSp>
        <p:nvCxnSpPr>
          <p:cNvPr id="17" name="Connector 16"/>
          <p:cNvCxnSpPr/>
          <p:nvPr/>
        </p:nvCxnSpPr>
        <p:spPr>
          <a:xfrm>
            <a:off x="3703320" y="2724912"/>
            <a:ext cx="219456" cy="0"/>
          </a:xfrm>
          <a:prstGeom prst="line">
            <a:avLst/>
          </a:prstGeom>
          <a:ln w="19050">
            <a:solidFill>
              <a:srgbClr val="8A97A3"/>
            </a:solidFill>
            <a:tailEnd type="triangle" w="med" len="med"/>
          </a:ln>
        </p:spPr>
      </p:cxnSp>
      <p:pic>
        <p:nvPicPr>
          <p:cNvPr id="18" name="Bloque 2 1" descr="bloque2_0.png"/>
          <p:cNvPicPr>
            <a:picLocks noChangeAspect="1"/>
          </p:cNvPicPr>
          <p:nvPr/>
        </p:nvPicPr>
        <p:blipFill>
          <a:blip r:embed="rId8"/>
          <a:stretch>
            <a:fillRect/>
          </a:stretch>
        </p:blipFill>
        <p:spPr>
          <a:xfrm>
            <a:off x="4142232" y="2080260"/>
            <a:ext cx="960120" cy="960120"/>
          </a:xfrm>
          <a:prstGeom prst="rect">
            <a:avLst/>
          </a:prstGeom>
        </p:spPr>
      </p:pic>
      <p:pic>
        <p:nvPicPr>
          <p:cNvPr id="19" name="Bloque 2 2" descr="bloque2_1.png"/>
          <p:cNvPicPr>
            <a:picLocks noChangeAspect="1"/>
          </p:cNvPicPr>
          <p:nvPr/>
        </p:nvPicPr>
        <p:blipFill>
          <a:blip r:embed="rId9"/>
          <a:stretch>
            <a:fillRect/>
          </a:stretch>
        </p:blipFill>
        <p:spPr>
          <a:xfrm>
            <a:off x="4059936" y="2162556"/>
            <a:ext cx="960120" cy="960120"/>
          </a:xfrm>
          <a:prstGeom prst="rect">
            <a:avLst/>
          </a:prstGeom>
        </p:spPr>
      </p:pic>
      <p:pic>
        <p:nvPicPr>
          <p:cNvPr id="20" name="Bloque 2 3" descr="bloque2_2.png"/>
          <p:cNvPicPr>
            <a:picLocks noChangeAspect="1"/>
          </p:cNvPicPr>
          <p:nvPr/>
        </p:nvPicPr>
        <p:blipFill>
          <a:blip r:embed="rId10"/>
          <a:stretch>
            <a:fillRect/>
          </a:stretch>
        </p:blipFill>
        <p:spPr>
          <a:xfrm>
            <a:off x="3977640" y="2244852"/>
            <a:ext cx="960120" cy="960120"/>
          </a:xfrm>
          <a:prstGeom prst="rect">
            <a:avLst/>
          </a:prstGeom>
        </p:spPr>
      </p:pic>
      <p:sp>
        <p:nvSpPr>
          <p:cNvPr id="21" name="TextBox 20"/>
          <p:cNvSpPr txBox="1"/>
          <p:nvPr/>
        </p:nvSpPr>
        <p:spPr>
          <a:xfrm>
            <a:off x="3671315" y="3529584"/>
            <a:ext cx="1737360" cy="219456"/>
          </a:xfrm>
          <a:prstGeom prst="rect">
            <a:avLst/>
          </a:prstGeom>
          <a:noFill/>
        </p:spPr>
        <p:txBody>
          <a:bodyPr wrap="square" lIns="0" rIns="0" tIns="0" bIns="0" anchor="t">
            <a:noAutofit/>
          </a:bodyPr>
          <a:lstStyle/>
          <a:p>
            <a:pPr algn="ctr">
              <a:spcAft>
                <a:spcPts val="0"/>
              </a:spcAft>
            </a:pPr>
            <a:r>
              <a:rPr sz="1100" b="0" i="0">
                <a:solidFill>
                  <a:srgbClr val="5B6875"/>
                </a:solidFill>
                <a:latin typeface="Calibri"/>
              </a:rPr>
              <a:t>Bloque 2</a:t>
            </a:r>
          </a:p>
        </p:txBody>
      </p:sp>
      <p:sp>
        <p:nvSpPr>
          <p:cNvPr id="22" name="TextBox 21"/>
          <p:cNvSpPr txBox="1"/>
          <p:nvPr/>
        </p:nvSpPr>
        <p:spPr>
          <a:xfrm>
            <a:off x="3671315" y="3730752"/>
            <a:ext cx="1737360" cy="237744"/>
          </a:xfrm>
          <a:prstGeom prst="rect">
            <a:avLst/>
          </a:prstGeom>
          <a:noFill/>
        </p:spPr>
        <p:txBody>
          <a:bodyPr wrap="square" lIns="0" rIns="0" tIns="0" bIns="0" anchor="t">
            <a:noAutofit/>
          </a:bodyPr>
          <a:lstStyle/>
          <a:p>
            <a:pPr algn="ctr">
              <a:spcAft>
                <a:spcPts val="0"/>
              </a:spcAft>
            </a:pPr>
            <a:r>
              <a:rPr sz="1250" b="1" i="0">
                <a:solidFill>
                  <a:srgbClr val="1C2733"/>
                </a:solidFill>
                <a:latin typeface="Calibri"/>
              </a:rPr>
              <a:t>32 × 64 × 64</a:t>
            </a:r>
          </a:p>
        </p:txBody>
      </p:sp>
      <p:sp>
        <p:nvSpPr>
          <p:cNvPr id="23" name="TextBox 22"/>
          <p:cNvSpPr txBox="1"/>
          <p:nvPr/>
        </p:nvSpPr>
        <p:spPr>
          <a:xfrm>
            <a:off x="3671315" y="3959352"/>
            <a:ext cx="1737360" cy="219456"/>
          </a:xfrm>
          <a:prstGeom prst="rect">
            <a:avLst/>
          </a:prstGeom>
          <a:noFill/>
        </p:spPr>
        <p:txBody>
          <a:bodyPr wrap="square" lIns="0" rIns="0" tIns="0" bIns="0" anchor="t">
            <a:noAutofit/>
          </a:bodyPr>
          <a:lstStyle/>
          <a:p>
            <a:pPr algn="ctr">
              <a:spcAft>
                <a:spcPts val="0"/>
              </a:spcAft>
            </a:pPr>
            <a:r>
              <a:rPr sz="1100" b="0" i="0">
                <a:solidFill>
                  <a:srgbClr val="5B6875"/>
                </a:solidFill>
                <a:latin typeface="Calibri"/>
              </a:rPr>
              <a:t>4.672</a:t>
            </a:r>
          </a:p>
        </p:txBody>
      </p:sp>
      <p:cxnSp>
        <p:nvCxnSpPr>
          <p:cNvPr id="24" name="Connector 23"/>
          <p:cNvCxnSpPr/>
          <p:nvPr/>
        </p:nvCxnSpPr>
        <p:spPr>
          <a:xfrm>
            <a:off x="5157216" y="2724912"/>
            <a:ext cx="219456" cy="0"/>
          </a:xfrm>
          <a:prstGeom prst="line">
            <a:avLst/>
          </a:prstGeom>
          <a:ln w="19050">
            <a:solidFill>
              <a:srgbClr val="8A97A3"/>
            </a:solidFill>
            <a:tailEnd type="triangle" w="med" len="med"/>
          </a:ln>
        </p:spPr>
      </p:cxnSp>
      <p:pic>
        <p:nvPicPr>
          <p:cNvPr id="25" name="Bloque 3 1" descr="bloque3_0.png"/>
          <p:cNvPicPr>
            <a:picLocks noChangeAspect="1"/>
          </p:cNvPicPr>
          <p:nvPr/>
        </p:nvPicPr>
        <p:blipFill>
          <a:blip r:embed="rId11"/>
          <a:stretch>
            <a:fillRect/>
          </a:stretch>
        </p:blipFill>
        <p:spPr>
          <a:xfrm>
            <a:off x="5596128" y="2167127"/>
            <a:ext cx="786384" cy="786384"/>
          </a:xfrm>
          <a:prstGeom prst="rect">
            <a:avLst/>
          </a:prstGeom>
        </p:spPr>
      </p:pic>
      <p:pic>
        <p:nvPicPr>
          <p:cNvPr id="26" name="Bloque 3 2" descr="bloque3_1.png"/>
          <p:cNvPicPr>
            <a:picLocks noChangeAspect="1"/>
          </p:cNvPicPr>
          <p:nvPr/>
        </p:nvPicPr>
        <p:blipFill>
          <a:blip r:embed="rId12"/>
          <a:stretch>
            <a:fillRect/>
          </a:stretch>
        </p:blipFill>
        <p:spPr>
          <a:xfrm>
            <a:off x="5513832" y="2249424"/>
            <a:ext cx="786384" cy="786384"/>
          </a:xfrm>
          <a:prstGeom prst="rect">
            <a:avLst/>
          </a:prstGeom>
        </p:spPr>
      </p:pic>
      <p:pic>
        <p:nvPicPr>
          <p:cNvPr id="27" name="Bloque 3 3" descr="bloque3_2.png"/>
          <p:cNvPicPr>
            <a:picLocks noChangeAspect="1"/>
          </p:cNvPicPr>
          <p:nvPr/>
        </p:nvPicPr>
        <p:blipFill>
          <a:blip r:embed="rId13"/>
          <a:stretch>
            <a:fillRect/>
          </a:stretch>
        </p:blipFill>
        <p:spPr>
          <a:xfrm>
            <a:off x="5431536" y="2331720"/>
            <a:ext cx="786384" cy="786384"/>
          </a:xfrm>
          <a:prstGeom prst="rect">
            <a:avLst/>
          </a:prstGeom>
        </p:spPr>
      </p:pic>
      <p:sp>
        <p:nvSpPr>
          <p:cNvPr id="28" name="TextBox 27"/>
          <p:cNvSpPr txBox="1"/>
          <p:nvPr/>
        </p:nvSpPr>
        <p:spPr>
          <a:xfrm>
            <a:off x="5038344" y="3529584"/>
            <a:ext cx="1737360" cy="219456"/>
          </a:xfrm>
          <a:prstGeom prst="rect">
            <a:avLst/>
          </a:prstGeom>
          <a:noFill/>
        </p:spPr>
        <p:txBody>
          <a:bodyPr wrap="square" lIns="0" rIns="0" tIns="0" bIns="0" anchor="t">
            <a:noAutofit/>
          </a:bodyPr>
          <a:lstStyle/>
          <a:p>
            <a:pPr algn="ctr">
              <a:spcAft>
                <a:spcPts val="0"/>
              </a:spcAft>
            </a:pPr>
            <a:r>
              <a:rPr sz="1100" b="0" i="0">
                <a:solidFill>
                  <a:srgbClr val="5B6875"/>
                </a:solidFill>
                <a:latin typeface="Calibri"/>
              </a:rPr>
              <a:t>Bloque 3</a:t>
            </a:r>
          </a:p>
        </p:txBody>
      </p:sp>
      <p:sp>
        <p:nvSpPr>
          <p:cNvPr id="29" name="TextBox 28"/>
          <p:cNvSpPr txBox="1"/>
          <p:nvPr/>
        </p:nvSpPr>
        <p:spPr>
          <a:xfrm>
            <a:off x="5038344" y="3730752"/>
            <a:ext cx="1737360" cy="237744"/>
          </a:xfrm>
          <a:prstGeom prst="rect">
            <a:avLst/>
          </a:prstGeom>
          <a:noFill/>
        </p:spPr>
        <p:txBody>
          <a:bodyPr wrap="square" lIns="0" rIns="0" tIns="0" bIns="0" anchor="t">
            <a:noAutofit/>
          </a:bodyPr>
          <a:lstStyle/>
          <a:p>
            <a:pPr algn="ctr">
              <a:spcAft>
                <a:spcPts val="0"/>
              </a:spcAft>
            </a:pPr>
            <a:r>
              <a:rPr sz="1250" b="1" i="0">
                <a:solidFill>
                  <a:srgbClr val="1C2733"/>
                </a:solidFill>
                <a:latin typeface="Calibri"/>
              </a:rPr>
              <a:t>64 × 32 × 32</a:t>
            </a:r>
          </a:p>
        </p:txBody>
      </p:sp>
      <p:sp>
        <p:nvSpPr>
          <p:cNvPr id="30" name="TextBox 29"/>
          <p:cNvSpPr txBox="1"/>
          <p:nvPr/>
        </p:nvSpPr>
        <p:spPr>
          <a:xfrm>
            <a:off x="5038344" y="3959352"/>
            <a:ext cx="1737360" cy="219456"/>
          </a:xfrm>
          <a:prstGeom prst="rect">
            <a:avLst/>
          </a:prstGeom>
          <a:noFill/>
        </p:spPr>
        <p:txBody>
          <a:bodyPr wrap="square" lIns="0" rIns="0" tIns="0" bIns="0" anchor="t">
            <a:noAutofit/>
          </a:bodyPr>
          <a:lstStyle/>
          <a:p>
            <a:pPr algn="ctr">
              <a:spcAft>
                <a:spcPts val="0"/>
              </a:spcAft>
            </a:pPr>
            <a:r>
              <a:rPr sz="1100" b="0" i="0">
                <a:solidFill>
                  <a:srgbClr val="5B6875"/>
                </a:solidFill>
                <a:latin typeface="Calibri"/>
              </a:rPr>
              <a:t>18.560</a:t>
            </a:r>
          </a:p>
        </p:txBody>
      </p:sp>
      <p:cxnSp>
        <p:nvCxnSpPr>
          <p:cNvPr id="31" name="Connector 30"/>
          <p:cNvCxnSpPr/>
          <p:nvPr/>
        </p:nvCxnSpPr>
        <p:spPr>
          <a:xfrm>
            <a:off x="6437376" y="2724912"/>
            <a:ext cx="219456" cy="0"/>
          </a:xfrm>
          <a:prstGeom prst="line">
            <a:avLst/>
          </a:prstGeom>
          <a:ln w="19050">
            <a:solidFill>
              <a:srgbClr val="8A97A3"/>
            </a:solidFill>
            <a:tailEnd type="triangle" w="med" len="med"/>
          </a:ln>
        </p:spPr>
      </p:cxnSp>
      <p:pic>
        <p:nvPicPr>
          <p:cNvPr id="32" name="Bloque 4 1" descr="bloque4_0.png"/>
          <p:cNvPicPr>
            <a:picLocks noChangeAspect="1"/>
          </p:cNvPicPr>
          <p:nvPr/>
        </p:nvPicPr>
        <p:blipFill>
          <a:blip r:embed="rId14"/>
          <a:stretch>
            <a:fillRect/>
          </a:stretch>
        </p:blipFill>
        <p:spPr>
          <a:xfrm>
            <a:off x="6876288" y="2240279"/>
            <a:ext cx="640080" cy="640080"/>
          </a:xfrm>
          <a:prstGeom prst="rect">
            <a:avLst/>
          </a:prstGeom>
        </p:spPr>
      </p:pic>
      <p:pic>
        <p:nvPicPr>
          <p:cNvPr id="33" name="Bloque 4 2" descr="bloque4_1.png"/>
          <p:cNvPicPr>
            <a:picLocks noChangeAspect="1"/>
          </p:cNvPicPr>
          <p:nvPr/>
        </p:nvPicPr>
        <p:blipFill>
          <a:blip r:embed="rId15"/>
          <a:stretch>
            <a:fillRect/>
          </a:stretch>
        </p:blipFill>
        <p:spPr>
          <a:xfrm>
            <a:off x="6793992" y="2322576"/>
            <a:ext cx="640080" cy="640080"/>
          </a:xfrm>
          <a:prstGeom prst="rect">
            <a:avLst/>
          </a:prstGeom>
        </p:spPr>
      </p:pic>
      <p:pic>
        <p:nvPicPr>
          <p:cNvPr id="34" name="Bloque 4 3" descr="bloque4_2.png"/>
          <p:cNvPicPr>
            <a:picLocks noChangeAspect="1"/>
          </p:cNvPicPr>
          <p:nvPr/>
        </p:nvPicPr>
        <p:blipFill>
          <a:blip r:embed="rId16"/>
          <a:stretch>
            <a:fillRect/>
          </a:stretch>
        </p:blipFill>
        <p:spPr>
          <a:xfrm>
            <a:off x="6711696" y="2404872"/>
            <a:ext cx="640080" cy="640080"/>
          </a:xfrm>
          <a:prstGeom prst="rect">
            <a:avLst/>
          </a:prstGeom>
        </p:spPr>
      </p:pic>
      <p:sp>
        <p:nvSpPr>
          <p:cNvPr id="35" name="TextBox 34"/>
          <p:cNvSpPr txBox="1"/>
          <p:nvPr/>
        </p:nvSpPr>
        <p:spPr>
          <a:xfrm>
            <a:off x="6245352" y="3529584"/>
            <a:ext cx="1737360" cy="219456"/>
          </a:xfrm>
          <a:prstGeom prst="rect">
            <a:avLst/>
          </a:prstGeom>
          <a:noFill/>
        </p:spPr>
        <p:txBody>
          <a:bodyPr wrap="square" lIns="0" rIns="0" tIns="0" bIns="0" anchor="t">
            <a:noAutofit/>
          </a:bodyPr>
          <a:lstStyle/>
          <a:p>
            <a:pPr algn="ctr">
              <a:spcAft>
                <a:spcPts val="0"/>
              </a:spcAft>
            </a:pPr>
            <a:r>
              <a:rPr sz="1100" b="0" i="0">
                <a:solidFill>
                  <a:srgbClr val="5B6875"/>
                </a:solidFill>
                <a:latin typeface="Calibri"/>
              </a:rPr>
              <a:t>Bloque 4</a:t>
            </a:r>
          </a:p>
        </p:txBody>
      </p:sp>
      <p:sp>
        <p:nvSpPr>
          <p:cNvPr id="36" name="TextBox 35"/>
          <p:cNvSpPr txBox="1"/>
          <p:nvPr/>
        </p:nvSpPr>
        <p:spPr>
          <a:xfrm>
            <a:off x="6245352" y="3730752"/>
            <a:ext cx="1737360" cy="237744"/>
          </a:xfrm>
          <a:prstGeom prst="rect">
            <a:avLst/>
          </a:prstGeom>
          <a:noFill/>
        </p:spPr>
        <p:txBody>
          <a:bodyPr wrap="square" lIns="0" rIns="0" tIns="0" bIns="0" anchor="t">
            <a:noAutofit/>
          </a:bodyPr>
          <a:lstStyle/>
          <a:p>
            <a:pPr algn="ctr">
              <a:spcAft>
                <a:spcPts val="0"/>
              </a:spcAft>
            </a:pPr>
            <a:r>
              <a:rPr sz="1250" b="1" i="0">
                <a:solidFill>
                  <a:srgbClr val="1C2733"/>
                </a:solidFill>
                <a:latin typeface="Calibri"/>
              </a:rPr>
              <a:t>128 × 16 × 16</a:t>
            </a:r>
          </a:p>
        </p:txBody>
      </p:sp>
      <p:sp>
        <p:nvSpPr>
          <p:cNvPr id="37" name="TextBox 36"/>
          <p:cNvSpPr txBox="1"/>
          <p:nvPr/>
        </p:nvSpPr>
        <p:spPr>
          <a:xfrm>
            <a:off x="6245352" y="3959352"/>
            <a:ext cx="1737360" cy="219456"/>
          </a:xfrm>
          <a:prstGeom prst="rect">
            <a:avLst/>
          </a:prstGeom>
          <a:noFill/>
        </p:spPr>
        <p:txBody>
          <a:bodyPr wrap="square" lIns="0" rIns="0" tIns="0" bIns="0" anchor="t">
            <a:noAutofit/>
          </a:bodyPr>
          <a:lstStyle/>
          <a:p>
            <a:pPr algn="ctr">
              <a:spcAft>
                <a:spcPts val="0"/>
              </a:spcAft>
            </a:pPr>
            <a:r>
              <a:rPr sz="1100" b="0" i="0">
                <a:solidFill>
                  <a:srgbClr val="5B6875"/>
                </a:solidFill>
                <a:latin typeface="Calibri"/>
              </a:rPr>
              <a:t>73.984</a:t>
            </a:r>
          </a:p>
        </p:txBody>
      </p:sp>
      <p:sp>
        <p:nvSpPr>
          <p:cNvPr id="38" name="Vector 1"/>
          <p:cNvSpPr/>
          <p:nvPr/>
        </p:nvSpPr>
        <p:spPr>
          <a:xfrm>
            <a:off x="8119872" y="2157984"/>
            <a:ext cx="182880" cy="118872"/>
          </a:xfrm>
          <a:prstGeom prst="rect">
            <a:avLst/>
          </a:prstGeom>
          <a:solidFill>
            <a:srgbClr val="F5C98A"/>
          </a:solidFill>
          <a:ln>
            <a:noFill/>
          </a:ln>
        </p:spPr>
        <p:txBody>
          <a:bodyPr rtlCol="0" anchor="ctr"/>
          <a:lstStyle/>
          <a:p>
            <a:pPr algn="ctr"/>
          </a:p>
        </p:txBody>
      </p:sp>
      <p:sp>
        <p:nvSpPr>
          <p:cNvPr id="39" name="Vector 2"/>
          <p:cNvSpPr/>
          <p:nvPr/>
        </p:nvSpPr>
        <p:spPr>
          <a:xfrm>
            <a:off x="8119872" y="2299715"/>
            <a:ext cx="182880" cy="118872"/>
          </a:xfrm>
          <a:prstGeom prst="rect">
            <a:avLst/>
          </a:prstGeom>
          <a:solidFill>
            <a:srgbClr val="F5C98A"/>
          </a:solidFill>
          <a:ln>
            <a:noFill/>
          </a:ln>
        </p:spPr>
        <p:txBody>
          <a:bodyPr rtlCol="0" anchor="ctr"/>
          <a:lstStyle/>
          <a:p>
            <a:pPr algn="ctr"/>
          </a:p>
        </p:txBody>
      </p:sp>
      <p:sp>
        <p:nvSpPr>
          <p:cNvPr id="40" name="Vector 3"/>
          <p:cNvSpPr/>
          <p:nvPr/>
        </p:nvSpPr>
        <p:spPr>
          <a:xfrm>
            <a:off x="8119872" y="2441448"/>
            <a:ext cx="182880" cy="118872"/>
          </a:xfrm>
          <a:prstGeom prst="rect">
            <a:avLst/>
          </a:prstGeom>
          <a:solidFill>
            <a:srgbClr val="F2A541"/>
          </a:solidFill>
          <a:ln>
            <a:noFill/>
          </a:ln>
        </p:spPr>
        <p:txBody>
          <a:bodyPr rtlCol="0" anchor="ctr"/>
          <a:lstStyle/>
          <a:p>
            <a:pPr algn="ctr"/>
          </a:p>
        </p:txBody>
      </p:sp>
      <p:sp>
        <p:nvSpPr>
          <p:cNvPr id="41" name="Vector 4"/>
          <p:cNvSpPr/>
          <p:nvPr/>
        </p:nvSpPr>
        <p:spPr>
          <a:xfrm>
            <a:off x="8119872" y="2583179"/>
            <a:ext cx="182880" cy="118872"/>
          </a:xfrm>
          <a:prstGeom prst="rect">
            <a:avLst/>
          </a:prstGeom>
          <a:solidFill>
            <a:srgbClr val="F5C98A"/>
          </a:solidFill>
          <a:ln>
            <a:noFill/>
          </a:ln>
        </p:spPr>
        <p:txBody>
          <a:bodyPr rtlCol="0" anchor="ctr"/>
          <a:lstStyle/>
          <a:p>
            <a:pPr algn="ctr"/>
          </a:p>
        </p:txBody>
      </p:sp>
      <p:sp>
        <p:nvSpPr>
          <p:cNvPr id="42" name="Vector 5"/>
          <p:cNvSpPr/>
          <p:nvPr/>
        </p:nvSpPr>
        <p:spPr>
          <a:xfrm>
            <a:off x="8119872" y="2724912"/>
            <a:ext cx="182880" cy="118872"/>
          </a:xfrm>
          <a:prstGeom prst="rect">
            <a:avLst/>
          </a:prstGeom>
          <a:solidFill>
            <a:srgbClr val="F5C98A"/>
          </a:solidFill>
          <a:ln>
            <a:noFill/>
          </a:ln>
        </p:spPr>
        <p:txBody>
          <a:bodyPr rtlCol="0" anchor="ctr"/>
          <a:lstStyle/>
          <a:p>
            <a:pPr algn="ctr"/>
          </a:p>
        </p:txBody>
      </p:sp>
      <p:sp>
        <p:nvSpPr>
          <p:cNvPr id="43" name="Vector 6"/>
          <p:cNvSpPr/>
          <p:nvPr/>
        </p:nvSpPr>
        <p:spPr>
          <a:xfrm>
            <a:off x="8119872" y="2866644"/>
            <a:ext cx="182880" cy="118872"/>
          </a:xfrm>
          <a:prstGeom prst="rect">
            <a:avLst/>
          </a:prstGeom>
          <a:solidFill>
            <a:srgbClr val="F2A541"/>
          </a:solidFill>
          <a:ln>
            <a:noFill/>
          </a:ln>
        </p:spPr>
        <p:txBody>
          <a:bodyPr rtlCol="0" anchor="ctr"/>
          <a:lstStyle/>
          <a:p>
            <a:pPr algn="ctr"/>
          </a:p>
        </p:txBody>
      </p:sp>
      <p:sp>
        <p:nvSpPr>
          <p:cNvPr id="44" name="Vector 7"/>
          <p:cNvSpPr/>
          <p:nvPr/>
        </p:nvSpPr>
        <p:spPr>
          <a:xfrm>
            <a:off x="8119872" y="3008376"/>
            <a:ext cx="182880" cy="118872"/>
          </a:xfrm>
          <a:prstGeom prst="rect">
            <a:avLst/>
          </a:prstGeom>
          <a:solidFill>
            <a:srgbClr val="F5C98A"/>
          </a:solidFill>
          <a:ln>
            <a:noFill/>
          </a:ln>
        </p:spPr>
        <p:txBody>
          <a:bodyPr rtlCol="0" anchor="ctr"/>
          <a:lstStyle/>
          <a:p>
            <a:pPr algn="ctr"/>
          </a:p>
        </p:txBody>
      </p:sp>
      <p:sp>
        <p:nvSpPr>
          <p:cNvPr id="45" name="Vector 8"/>
          <p:cNvSpPr/>
          <p:nvPr/>
        </p:nvSpPr>
        <p:spPr>
          <a:xfrm>
            <a:off x="8119872" y="3150108"/>
            <a:ext cx="182880" cy="118872"/>
          </a:xfrm>
          <a:prstGeom prst="rect">
            <a:avLst/>
          </a:prstGeom>
          <a:solidFill>
            <a:srgbClr val="F5C98A"/>
          </a:solidFill>
          <a:ln>
            <a:noFill/>
          </a:ln>
        </p:spPr>
        <p:txBody>
          <a:bodyPr rtlCol="0" anchor="ctr"/>
          <a:lstStyle/>
          <a:p>
            <a:pPr algn="ctr"/>
          </a:p>
        </p:txBody>
      </p:sp>
      <p:sp>
        <p:nvSpPr>
          <p:cNvPr id="46" name="TextBox 45"/>
          <p:cNvSpPr txBox="1"/>
          <p:nvPr/>
        </p:nvSpPr>
        <p:spPr>
          <a:xfrm>
            <a:off x="7571232" y="3529584"/>
            <a:ext cx="1280160" cy="219456"/>
          </a:xfrm>
          <a:prstGeom prst="rect">
            <a:avLst/>
          </a:prstGeom>
          <a:noFill/>
        </p:spPr>
        <p:txBody>
          <a:bodyPr wrap="square" lIns="0" rIns="0" tIns="0" bIns="0" anchor="t">
            <a:noAutofit/>
          </a:bodyPr>
          <a:lstStyle/>
          <a:p>
            <a:pPr algn="ctr">
              <a:spcAft>
                <a:spcPts val="0"/>
              </a:spcAft>
            </a:pPr>
            <a:r>
              <a:rPr sz="1100" b="0" i="0">
                <a:solidFill>
                  <a:srgbClr val="5B6875"/>
                </a:solidFill>
                <a:latin typeface="Calibri"/>
              </a:rPr>
              <a:t>Media global</a:t>
            </a:r>
          </a:p>
        </p:txBody>
      </p:sp>
      <p:sp>
        <p:nvSpPr>
          <p:cNvPr id="47" name="TextBox 46"/>
          <p:cNvSpPr txBox="1"/>
          <p:nvPr/>
        </p:nvSpPr>
        <p:spPr>
          <a:xfrm>
            <a:off x="7571232" y="3730752"/>
            <a:ext cx="1280160" cy="237744"/>
          </a:xfrm>
          <a:prstGeom prst="rect">
            <a:avLst/>
          </a:prstGeom>
          <a:noFill/>
        </p:spPr>
        <p:txBody>
          <a:bodyPr wrap="square" lIns="0" rIns="0" tIns="0" bIns="0" anchor="t">
            <a:noAutofit/>
          </a:bodyPr>
          <a:lstStyle/>
          <a:p>
            <a:pPr algn="ctr">
              <a:spcAft>
                <a:spcPts val="0"/>
              </a:spcAft>
            </a:pPr>
            <a:r>
              <a:rPr sz="1250" b="1" i="0">
                <a:solidFill>
                  <a:srgbClr val="1C2733"/>
                </a:solidFill>
                <a:latin typeface="Calibri"/>
              </a:rPr>
              <a:t>128 valores</a:t>
            </a:r>
          </a:p>
        </p:txBody>
      </p:sp>
      <p:cxnSp>
        <p:nvCxnSpPr>
          <p:cNvPr id="48" name="Connector 47"/>
          <p:cNvCxnSpPr/>
          <p:nvPr/>
        </p:nvCxnSpPr>
        <p:spPr>
          <a:xfrm>
            <a:off x="7827264" y="2724912"/>
            <a:ext cx="237744" cy="0"/>
          </a:xfrm>
          <a:prstGeom prst="line">
            <a:avLst/>
          </a:prstGeom>
          <a:ln w="19050">
            <a:solidFill>
              <a:srgbClr val="8A97A3"/>
            </a:solidFill>
            <a:tailEnd type="triangle" w="med" len="med"/>
          </a:ln>
        </p:spPr>
      </p:cxnSp>
      <p:cxnSp>
        <p:nvCxnSpPr>
          <p:cNvPr id="49" name="Connector 48"/>
          <p:cNvCxnSpPr/>
          <p:nvPr/>
        </p:nvCxnSpPr>
        <p:spPr>
          <a:xfrm>
            <a:off x="8357616" y="2724912"/>
            <a:ext cx="393192" cy="0"/>
          </a:xfrm>
          <a:prstGeom prst="line">
            <a:avLst/>
          </a:prstGeom>
          <a:ln w="19050">
            <a:solidFill>
              <a:srgbClr val="8A97A3"/>
            </a:solidFill>
            <a:tailEnd type="triangle" w="med" len="med"/>
          </a:ln>
        </p:spPr>
      </p:cxnSp>
      <p:sp>
        <p:nvSpPr>
          <p:cNvPr id="50" name="Logit"/>
          <p:cNvSpPr/>
          <p:nvPr/>
        </p:nvSpPr>
        <p:spPr>
          <a:xfrm>
            <a:off x="8805672" y="2478024"/>
            <a:ext cx="493776" cy="493776"/>
          </a:xfrm>
          <a:prstGeom prst="ellipse">
            <a:avLst/>
          </a:prstGeom>
          <a:solidFill>
            <a:srgbClr val="0760AB"/>
          </a:solidFill>
          <a:ln>
            <a:noFill/>
          </a:ln>
        </p:spPr>
        <p:txBody>
          <a:bodyPr rtlCol="0" anchor="ctr" wrap="square" lIns="0" rIns="0" tIns="0" bIns="0">
            <a:noAutofit/>
          </a:bodyPr>
          <a:lstStyle/>
          <a:p>
            <a:pPr algn="ctr">
              <a:spcAft>
                <a:spcPts val="0"/>
              </a:spcAft>
            </a:pPr>
            <a:r>
              <a:rPr sz="1600" b="1" i="0">
                <a:solidFill>
                  <a:srgbClr val="FFFFFF"/>
                </a:solidFill>
                <a:latin typeface="Calibri"/>
              </a:rPr>
              <a:t>1</a:t>
            </a:r>
          </a:p>
        </p:txBody>
      </p:sp>
      <p:sp>
        <p:nvSpPr>
          <p:cNvPr id="51" name="TextBox 50"/>
          <p:cNvSpPr txBox="1"/>
          <p:nvPr/>
        </p:nvSpPr>
        <p:spPr>
          <a:xfrm>
            <a:off x="8348472" y="3529584"/>
            <a:ext cx="1417320" cy="219456"/>
          </a:xfrm>
          <a:prstGeom prst="rect">
            <a:avLst/>
          </a:prstGeom>
          <a:noFill/>
        </p:spPr>
        <p:txBody>
          <a:bodyPr wrap="square" lIns="0" rIns="0" tIns="0" bIns="0" anchor="t">
            <a:noAutofit/>
          </a:bodyPr>
          <a:lstStyle/>
          <a:p>
            <a:pPr algn="ctr">
              <a:spcAft>
                <a:spcPts val="0"/>
              </a:spcAft>
            </a:pPr>
            <a:r>
              <a:rPr sz="1100" b="0" i="0">
                <a:solidFill>
                  <a:srgbClr val="5B6875"/>
                </a:solidFill>
                <a:latin typeface="Calibri"/>
              </a:rPr>
              <a:t>Lineal</a:t>
            </a:r>
          </a:p>
        </p:txBody>
      </p:sp>
      <p:sp>
        <p:nvSpPr>
          <p:cNvPr id="52" name="TextBox 51"/>
          <p:cNvSpPr txBox="1"/>
          <p:nvPr/>
        </p:nvSpPr>
        <p:spPr>
          <a:xfrm>
            <a:off x="8348472" y="3730752"/>
            <a:ext cx="1417320" cy="237744"/>
          </a:xfrm>
          <a:prstGeom prst="rect">
            <a:avLst/>
          </a:prstGeom>
          <a:noFill/>
        </p:spPr>
        <p:txBody>
          <a:bodyPr wrap="square" lIns="0" rIns="0" tIns="0" bIns="0" anchor="t">
            <a:noAutofit/>
          </a:bodyPr>
          <a:lstStyle/>
          <a:p>
            <a:pPr algn="ctr">
              <a:spcAft>
                <a:spcPts val="0"/>
              </a:spcAft>
            </a:pPr>
            <a:r>
              <a:rPr sz="1250" b="1" i="0">
                <a:solidFill>
                  <a:srgbClr val="1C2733"/>
                </a:solidFill>
                <a:latin typeface="Calibri"/>
              </a:rPr>
              <a:t>1 logit</a:t>
            </a:r>
          </a:p>
        </p:txBody>
      </p:sp>
      <p:sp>
        <p:nvSpPr>
          <p:cNvPr id="53" name="TextBox 52"/>
          <p:cNvSpPr txBox="1"/>
          <p:nvPr/>
        </p:nvSpPr>
        <p:spPr>
          <a:xfrm>
            <a:off x="8348472" y="3959352"/>
            <a:ext cx="1417320" cy="219456"/>
          </a:xfrm>
          <a:prstGeom prst="rect">
            <a:avLst/>
          </a:prstGeom>
          <a:noFill/>
        </p:spPr>
        <p:txBody>
          <a:bodyPr wrap="square" lIns="0" rIns="0" tIns="0" bIns="0" anchor="t">
            <a:noAutofit/>
          </a:bodyPr>
          <a:lstStyle/>
          <a:p>
            <a:pPr algn="ctr">
              <a:spcAft>
                <a:spcPts val="0"/>
              </a:spcAft>
            </a:pPr>
            <a:r>
              <a:rPr sz="1100" b="0" i="0">
                <a:solidFill>
                  <a:srgbClr val="5B6875"/>
                </a:solidFill>
                <a:latin typeface="Calibri"/>
              </a:rPr>
              <a:t>129</a:t>
            </a:r>
          </a:p>
        </p:txBody>
      </p:sp>
      <p:sp>
        <p:nvSpPr>
          <p:cNvPr id="54" name="TextBox 53"/>
          <p:cNvSpPr txBox="1"/>
          <p:nvPr/>
        </p:nvSpPr>
        <p:spPr>
          <a:xfrm>
            <a:off x="2340864" y="1463040"/>
            <a:ext cx="5175504" cy="237744"/>
          </a:xfrm>
          <a:prstGeom prst="rect">
            <a:avLst/>
          </a:prstGeom>
          <a:noFill/>
        </p:spPr>
        <p:txBody>
          <a:bodyPr wrap="square" lIns="0" rIns="0" tIns="0" bIns="0" anchor="t">
            <a:noAutofit/>
          </a:bodyPr>
          <a:lstStyle/>
          <a:p>
            <a:pPr algn="ctr">
              <a:spcAft>
                <a:spcPts val="0"/>
              </a:spcAft>
            </a:pPr>
            <a:r>
              <a:rPr sz="1200" b="0" i="0">
                <a:solidFill>
                  <a:srgbClr val="1C2733"/>
                </a:solidFill>
                <a:latin typeface="Calibri"/>
              </a:rPr>
              <a:t>Cada bloque: convolución 3 × 3 → BatchNorm → ReLU → MaxPool 2 × 2</a:t>
            </a:r>
          </a:p>
        </p:txBody>
      </p:sp>
      <p:cxnSp>
        <p:nvCxnSpPr>
          <p:cNvPr id="55" name="Connector 54"/>
          <p:cNvCxnSpPr/>
          <p:nvPr/>
        </p:nvCxnSpPr>
        <p:spPr>
          <a:xfrm>
            <a:off x="2340864" y="1764792"/>
            <a:ext cx="5175504" cy="0"/>
          </a:xfrm>
          <a:prstGeom prst="line">
            <a:avLst/>
          </a:prstGeom>
          <a:ln w="12700">
            <a:solidFill>
              <a:srgbClr val="8A97A3"/>
            </a:solidFill>
          </a:ln>
        </p:spPr>
      </p:cxnSp>
      <p:cxnSp>
        <p:nvCxnSpPr>
          <p:cNvPr id="56" name="Connector 55"/>
          <p:cNvCxnSpPr/>
          <p:nvPr/>
        </p:nvCxnSpPr>
        <p:spPr>
          <a:xfrm>
            <a:off x="2340864" y="1764792"/>
            <a:ext cx="0" cy="91439"/>
          </a:xfrm>
          <a:prstGeom prst="line">
            <a:avLst/>
          </a:prstGeom>
          <a:ln w="12700">
            <a:solidFill>
              <a:srgbClr val="8A97A3"/>
            </a:solidFill>
          </a:ln>
        </p:spPr>
      </p:cxnSp>
      <p:cxnSp>
        <p:nvCxnSpPr>
          <p:cNvPr id="57" name="Connector 56"/>
          <p:cNvCxnSpPr/>
          <p:nvPr/>
        </p:nvCxnSpPr>
        <p:spPr>
          <a:xfrm>
            <a:off x="7516368" y="1764792"/>
            <a:ext cx="0" cy="91439"/>
          </a:xfrm>
          <a:prstGeom prst="line">
            <a:avLst/>
          </a:prstGeom>
          <a:ln w="12700">
            <a:solidFill>
              <a:srgbClr val="8A97A3"/>
            </a:solidFill>
          </a:ln>
        </p:spPr>
      </p:cxnSp>
      <p:sp>
        <p:nvSpPr>
          <p:cNvPr id="58" name="TextBox 57"/>
          <p:cNvSpPr txBox="1"/>
          <p:nvPr/>
        </p:nvSpPr>
        <p:spPr>
          <a:xfrm>
            <a:off x="9555480" y="1371600"/>
            <a:ext cx="2286000" cy="685800"/>
          </a:xfrm>
          <a:prstGeom prst="rect">
            <a:avLst/>
          </a:prstGeom>
          <a:noFill/>
        </p:spPr>
        <p:txBody>
          <a:bodyPr wrap="square" lIns="0" rIns="0" tIns="0" bIns="0" anchor="t">
            <a:noAutofit/>
          </a:bodyPr>
          <a:lstStyle/>
          <a:p>
            <a:pPr algn="r">
              <a:spcAft>
                <a:spcPts val="0"/>
              </a:spcAft>
            </a:pPr>
            <a:r>
              <a:rPr sz="4000" b="1" i="0">
                <a:solidFill>
                  <a:srgbClr val="0760AB"/>
                </a:solidFill>
                <a:latin typeface="+mj-lt"/>
              </a:rPr>
              <a:t>97.809</a:t>
            </a:r>
          </a:p>
        </p:txBody>
      </p:sp>
      <p:sp>
        <p:nvSpPr>
          <p:cNvPr id="59" name="TextBox 58"/>
          <p:cNvSpPr txBox="1"/>
          <p:nvPr/>
        </p:nvSpPr>
        <p:spPr>
          <a:xfrm>
            <a:off x="9098280" y="2029968"/>
            <a:ext cx="2743200" cy="411480"/>
          </a:xfrm>
          <a:prstGeom prst="rect">
            <a:avLst/>
          </a:prstGeom>
          <a:noFill/>
        </p:spPr>
        <p:txBody>
          <a:bodyPr wrap="square" lIns="0" rIns="0" tIns="0" bIns="0" anchor="t">
            <a:noAutofit/>
          </a:bodyPr>
          <a:lstStyle/>
          <a:p>
            <a:pPr algn="r">
              <a:spcAft>
                <a:spcPts val="0"/>
              </a:spcAft>
            </a:pPr>
            <a:r>
              <a:rPr sz="1150" b="0" i="0">
                <a:solidFill>
                  <a:srgbClr val="5B6875"/>
                </a:solidFill>
                <a:latin typeface="Calibri"/>
              </a:rPr>
              <a:t>parámetros en la red base (cnn_v3);</a:t>
            </a:r>
          </a:p>
          <a:p>
            <a:pPr algn="r">
              <a:spcAft>
                <a:spcPts val="0"/>
              </a:spcAft>
            </a:pPr>
            <a:r>
              <a:rPr sz="1150" b="0" i="0">
                <a:solidFill>
                  <a:srgbClr val="5B6875"/>
                </a:solidFill>
                <a:latin typeface="Calibri"/>
              </a:rPr>
              <a:t>las otras versiones, hasta 101.970</a:t>
            </a:r>
          </a:p>
        </p:txBody>
      </p:sp>
      <p:sp>
        <p:nvSpPr>
          <p:cNvPr id="60" name="TextBox 59"/>
          <p:cNvSpPr txBox="1"/>
          <p:nvPr/>
        </p:nvSpPr>
        <p:spPr>
          <a:xfrm>
            <a:off x="548640" y="4224528"/>
            <a:ext cx="8686800" cy="219456"/>
          </a:xfrm>
          <a:prstGeom prst="rect">
            <a:avLst/>
          </a:prstGeom>
          <a:noFill/>
        </p:spPr>
        <p:txBody>
          <a:bodyPr wrap="square" lIns="0" rIns="0" tIns="0" bIns="0" anchor="t">
            <a:noAutofit/>
          </a:bodyPr>
          <a:lstStyle/>
          <a:p>
            <a:pPr algn="l">
              <a:spcAft>
                <a:spcPts val="0"/>
              </a:spcAft>
            </a:pPr>
            <a:r>
              <a:rPr sz="1000" b="0" i="0">
                <a:solidFill>
                  <a:srgbClr val="5B6875"/>
                </a:solidFill>
                <a:latin typeface="Calibri"/>
              </a:rPr>
              <a:t>Mapas reales de la primera red del conjunto (cnn_v3, fold 0) con el corte de ejemplo de la app (BreastDCEDL, CC BY-NC 4.0).</a:t>
            </a:r>
          </a:p>
        </p:txBody>
      </p:sp>
      <p:sp>
        <p:nvSpPr>
          <p:cNvPr id="61" name="TextBox 60"/>
          <p:cNvSpPr txBox="1"/>
          <p:nvPr/>
        </p:nvSpPr>
        <p:spPr>
          <a:xfrm>
            <a:off x="548640" y="4498848"/>
            <a:ext cx="5486400" cy="274320"/>
          </a:xfrm>
          <a:prstGeom prst="rect">
            <a:avLst/>
          </a:prstGeom>
          <a:noFill/>
        </p:spPr>
        <p:txBody>
          <a:bodyPr wrap="square" lIns="0" rIns="0" tIns="0" bIns="0" anchor="t">
            <a:noAutofit/>
          </a:bodyPr>
          <a:lstStyle/>
          <a:p>
            <a:pPr algn="l">
              <a:spcAft>
                <a:spcPts val="0"/>
              </a:spcAft>
            </a:pPr>
            <a:r>
              <a:rPr sz="1500" b="1" i="0">
                <a:solidFill>
                  <a:srgbClr val="1C2733"/>
                </a:solidFill>
                <a:latin typeface="Calibri"/>
              </a:rPr>
              <a:t>El modelo final: 30 redes, una media</a:t>
            </a:r>
          </a:p>
        </p:txBody>
      </p:sp>
      <p:sp>
        <p:nvSpPr>
          <p:cNvPr id="62" name="TextBox 61"/>
          <p:cNvSpPr txBox="1"/>
          <p:nvPr/>
        </p:nvSpPr>
        <p:spPr>
          <a:xfrm>
            <a:off x="1883664" y="4727448"/>
            <a:ext cx="868680" cy="182880"/>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5 folds</a:t>
            </a:r>
          </a:p>
        </p:txBody>
      </p:sp>
      <p:sp>
        <p:nvSpPr>
          <p:cNvPr id="63" name="TextBox 62"/>
          <p:cNvSpPr txBox="1"/>
          <p:nvPr/>
        </p:nvSpPr>
        <p:spPr>
          <a:xfrm>
            <a:off x="457200" y="4928616"/>
            <a:ext cx="1417320" cy="182880"/>
          </a:xfrm>
          <a:prstGeom prst="rect">
            <a:avLst/>
          </a:prstGeom>
          <a:noFill/>
        </p:spPr>
        <p:txBody>
          <a:bodyPr wrap="square" lIns="0" rIns="0" tIns="0" bIns="0" anchor="t">
            <a:noAutofit/>
          </a:bodyPr>
          <a:lstStyle/>
          <a:p>
            <a:pPr algn="r">
              <a:spcAft>
                <a:spcPts val="0"/>
              </a:spcAft>
            </a:pPr>
            <a:r>
              <a:rPr sz="1000" b="0" i="0">
                <a:solidFill>
                  <a:srgbClr val="5B6875"/>
                </a:solidFill>
                <a:latin typeface="Calibri"/>
              </a:rPr>
              <a:t>v3 base</a:t>
            </a:r>
          </a:p>
        </p:txBody>
      </p:sp>
      <p:sp>
        <p:nvSpPr>
          <p:cNvPr id="64" name="Red v3 base fold 0"/>
          <p:cNvSpPr/>
          <p:nvPr/>
        </p:nvSpPr>
        <p:spPr>
          <a:xfrm>
            <a:off x="1938528" y="4956048"/>
            <a:ext cx="128015" cy="128015"/>
          </a:xfrm>
          <a:prstGeom prst="roundRect">
            <a:avLst/>
          </a:prstGeom>
          <a:solidFill>
            <a:srgbClr val="1B9CB1"/>
          </a:solidFill>
          <a:ln>
            <a:noFill/>
          </a:ln>
        </p:spPr>
        <p:txBody>
          <a:bodyPr rtlCol="0" anchor="ctr"/>
          <a:lstStyle/>
          <a:p>
            <a:pPr algn="ctr"/>
          </a:p>
        </p:txBody>
      </p:sp>
      <p:sp>
        <p:nvSpPr>
          <p:cNvPr id="65" name="Red v3 base fold 1"/>
          <p:cNvSpPr/>
          <p:nvPr/>
        </p:nvSpPr>
        <p:spPr>
          <a:xfrm>
            <a:off x="2103120" y="4956048"/>
            <a:ext cx="128015" cy="128015"/>
          </a:xfrm>
          <a:prstGeom prst="roundRect">
            <a:avLst/>
          </a:prstGeom>
          <a:solidFill>
            <a:srgbClr val="1B9CB1"/>
          </a:solidFill>
          <a:ln>
            <a:noFill/>
          </a:ln>
        </p:spPr>
        <p:txBody>
          <a:bodyPr rtlCol="0" anchor="ctr"/>
          <a:lstStyle/>
          <a:p>
            <a:pPr algn="ctr"/>
          </a:p>
        </p:txBody>
      </p:sp>
      <p:sp>
        <p:nvSpPr>
          <p:cNvPr id="66" name="Red v3 base fold 2"/>
          <p:cNvSpPr/>
          <p:nvPr/>
        </p:nvSpPr>
        <p:spPr>
          <a:xfrm>
            <a:off x="2267712" y="4956048"/>
            <a:ext cx="128015" cy="128015"/>
          </a:xfrm>
          <a:prstGeom prst="roundRect">
            <a:avLst/>
          </a:prstGeom>
          <a:solidFill>
            <a:srgbClr val="1B9CB1"/>
          </a:solidFill>
          <a:ln>
            <a:noFill/>
          </a:ln>
        </p:spPr>
        <p:txBody>
          <a:bodyPr rtlCol="0" anchor="ctr"/>
          <a:lstStyle/>
          <a:p>
            <a:pPr algn="ctr"/>
          </a:p>
        </p:txBody>
      </p:sp>
      <p:sp>
        <p:nvSpPr>
          <p:cNvPr id="67" name="Red v3 base fold 3"/>
          <p:cNvSpPr/>
          <p:nvPr/>
        </p:nvSpPr>
        <p:spPr>
          <a:xfrm>
            <a:off x="2432304" y="4956048"/>
            <a:ext cx="128015" cy="128015"/>
          </a:xfrm>
          <a:prstGeom prst="roundRect">
            <a:avLst/>
          </a:prstGeom>
          <a:solidFill>
            <a:srgbClr val="1B9CB1"/>
          </a:solidFill>
          <a:ln>
            <a:noFill/>
          </a:ln>
        </p:spPr>
        <p:txBody>
          <a:bodyPr rtlCol="0" anchor="ctr"/>
          <a:lstStyle/>
          <a:p>
            <a:pPr algn="ctr"/>
          </a:p>
        </p:txBody>
      </p:sp>
      <p:sp>
        <p:nvSpPr>
          <p:cNvPr id="68" name="Red v3 base fold 4"/>
          <p:cNvSpPr/>
          <p:nvPr/>
        </p:nvSpPr>
        <p:spPr>
          <a:xfrm>
            <a:off x="2596896" y="4956048"/>
            <a:ext cx="128015" cy="128015"/>
          </a:xfrm>
          <a:prstGeom prst="roundRect">
            <a:avLst/>
          </a:prstGeom>
          <a:solidFill>
            <a:srgbClr val="1B9CB1"/>
          </a:solidFill>
          <a:ln>
            <a:noFill/>
          </a:ln>
        </p:spPr>
        <p:txBody>
          <a:bodyPr rtlCol="0" anchor="ctr"/>
          <a:lstStyle/>
          <a:p>
            <a:pPr algn="ctr"/>
          </a:p>
        </p:txBody>
      </p:sp>
      <p:sp>
        <p:nvSpPr>
          <p:cNvPr id="69" name="TextBox 68"/>
          <p:cNvSpPr txBox="1"/>
          <p:nvPr/>
        </p:nvSpPr>
        <p:spPr>
          <a:xfrm>
            <a:off x="457200" y="5093207"/>
            <a:ext cx="1417320" cy="182880"/>
          </a:xfrm>
          <a:prstGeom prst="rect">
            <a:avLst/>
          </a:prstGeom>
          <a:noFill/>
        </p:spPr>
        <p:txBody>
          <a:bodyPr wrap="square" lIns="0" rIns="0" tIns="0" bIns="0" anchor="t">
            <a:noAutofit/>
          </a:bodyPr>
          <a:lstStyle/>
          <a:p>
            <a:pPr algn="r">
              <a:spcAft>
                <a:spcPts val="0"/>
              </a:spcAft>
            </a:pPr>
            <a:r>
              <a:rPr sz="1000" b="0" i="0">
                <a:solidFill>
                  <a:srgbClr val="5B6875"/>
                </a:solidFill>
                <a:latin typeface="Calibri"/>
              </a:rPr>
              <a:t>v4 + realce</a:t>
            </a:r>
          </a:p>
        </p:txBody>
      </p:sp>
      <p:sp>
        <p:nvSpPr>
          <p:cNvPr id="70" name="Red v4 + realce fold 0"/>
          <p:cNvSpPr/>
          <p:nvPr/>
        </p:nvSpPr>
        <p:spPr>
          <a:xfrm>
            <a:off x="1938528" y="5120640"/>
            <a:ext cx="128015" cy="128015"/>
          </a:xfrm>
          <a:prstGeom prst="roundRect">
            <a:avLst/>
          </a:prstGeom>
          <a:solidFill>
            <a:srgbClr val="1B9CB1"/>
          </a:solidFill>
          <a:ln>
            <a:noFill/>
          </a:ln>
        </p:spPr>
        <p:txBody>
          <a:bodyPr rtlCol="0" anchor="ctr"/>
          <a:lstStyle/>
          <a:p>
            <a:pPr algn="ctr"/>
          </a:p>
        </p:txBody>
      </p:sp>
      <p:sp>
        <p:nvSpPr>
          <p:cNvPr id="71" name="Red v4 + realce fold 1"/>
          <p:cNvSpPr/>
          <p:nvPr/>
        </p:nvSpPr>
        <p:spPr>
          <a:xfrm>
            <a:off x="2103120" y="5120640"/>
            <a:ext cx="128015" cy="128015"/>
          </a:xfrm>
          <a:prstGeom prst="roundRect">
            <a:avLst/>
          </a:prstGeom>
          <a:solidFill>
            <a:srgbClr val="1B9CB1"/>
          </a:solidFill>
          <a:ln>
            <a:noFill/>
          </a:ln>
        </p:spPr>
        <p:txBody>
          <a:bodyPr rtlCol="0" anchor="ctr"/>
          <a:lstStyle/>
          <a:p>
            <a:pPr algn="ctr"/>
          </a:p>
        </p:txBody>
      </p:sp>
      <p:sp>
        <p:nvSpPr>
          <p:cNvPr id="72" name="Red v4 + realce fold 2"/>
          <p:cNvSpPr/>
          <p:nvPr/>
        </p:nvSpPr>
        <p:spPr>
          <a:xfrm>
            <a:off x="2267712" y="5120640"/>
            <a:ext cx="128015" cy="128015"/>
          </a:xfrm>
          <a:prstGeom prst="roundRect">
            <a:avLst/>
          </a:prstGeom>
          <a:solidFill>
            <a:srgbClr val="1B9CB1"/>
          </a:solidFill>
          <a:ln>
            <a:noFill/>
          </a:ln>
        </p:spPr>
        <p:txBody>
          <a:bodyPr rtlCol="0" anchor="ctr"/>
          <a:lstStyle/>
          <a:p>
            <a:pPr algn="ctr"/>
          </a:p>
        </p:txBody>
      </p:sp>
      <p:sp>
        <p:nvSpPr>
          <p:cNvPr id="73" name="Red v4 + realce fold 3"/>
          <p:cNvSpPr/>
          <p:nvPr/>
        </p:nvSpPr>
        <p:spPr>
          <a:xfrm>
            <a:off x="2432304" y="5120640"/>
            <a:ext cx="128015" cy="128015"/>
          </a:xfrm>
          <a:prstGeom prst="roundRect">
            <a:avLst/>
          </a:prstGeom>
          <a:solidFill>
            <a:srgbClr val="1B9CB1"/>
          </a:solidFill>
          <a:ln>
            <a:noFill/>
          </a:ln>
        </p:spPr>
        <p:txBody>
          <a:bodyPr rtlCol="0" anchor="ctr"/>
          <a:lstStyle/>
          <a:p>
            <a:pPr algn="ctr"/>
          </a:p>
        </p:txBody>
      </p:sp>
      <p:sp>
        <p:nvSpPr>
          <p:cNvPr id="74" name="Red v4 + realce fold 4"/>
          <p:cNvSpPr/>
          <p:nvPr/>
        </p:nvSpPr>
        <p:spPr>
          <a:xfrm>
            <a:off x="2596896" y="5120640"/>
            <a:ext cx="128015" cy="128015"/>
          </a:xfrm>
          <a:prstGeom prst="roundRect">
            <a:avLst/>
          </a:prstGeom>
          <a:solidFill>
            <a:srgbClr val="1B9CB1"/>
          </a:solidFill>
          <a:ln>
            <a:noFill/>
          </a:ln>
        </p:spPr>
        <p:txBody>
          <a:bodyPr rtlCol="0" anchor="ctr"/>
          <a:lstStyle/>
          <a:p>
            <a:pPr algn="ctr"/>
          </a:p>
        </p:txBody>
      </p:sp>
      <p:sp>
        <p:nvSpPr>
          <p:cNvPr id="75" name="TextBox 74"/>
          <p:cNvSpPr txBox="1"/>
          <p:nvPr/>
        </p:nvSpPr>
        <p:spPr>
          <a:xfrm>
            <a:off x="457200" y="5257800"/>
            <a:ext cx="1417320" cy="182880"/>
          </a:xfrm>
          <a:prstGeom prst="rect">
            <a:avLst/>
          </a:prstGeom>
          <a:noFill/>
        </p:spPr>
        <p:txBody>
          <a:bodyPr wrap="square" lIns="0" rIns="0" tIns="0" bIns="0" anchor="t">
            <a:noAutofit/>
          </a:bodyPr>
          <a:lstStyle/>
          <a:p>
            <a:pPr algn="r">
              <a:spcAft>
                <a:spcPts val="0"/>
              </a:spcAft>
            </a:pPr>
            <a:r>
              <a:rPr sz="1000" b="0" i="0">
                <a:solidFill>
                  <a:srgbClr val="5B6875"/>
                </a:solidFill>
                <a:latin typeface="Calibri"/>
              </a:rPr>
              <a:t>v5 relativa al PRE</a:t>
            </a:r>
          </a:p>
        </p:txBody>
      </p:sp>
      <p:sp>
        <p:nvSpPr>
          <p:cNvPr id="76" name="Red v5 relativa al PRE fold 0"/>
          <p:cNvSpPr/>
          <p:nvPr/>
        </p:nvSpPr>
        <p:spPr>
          <a:xfrm>
            <a:off x="1938528" y="5285232"/>
            <a:ext cx="128015" cy="128015"/>
          </a:xfrm>
          <a:prstGeom prst="roundRect">
            <a:avLst/>
          </a:prstGeom>
          <a:solidFill>
            <a:srgbClr val="1B9CB1"/>
          </a:solidFill>
          <a:ln>
            <a:noFill/>
          </a:ln>
        </p:spPr>
        <p:txBody>
          <a:bodyPr rtlCol="0" anchor="ctr"/>
          <a:lstStyle/>
          <a:p>
            <a:pPr algn="ctr"/>
          </a:p>
        </p:txBody>
      </p:sp>
      <p:sp>
        <p:nvSpPr>
          <p:cNvPr id="77" name="Red v5 relativa al PRE fold 1"/>
          <p:cNvSpPr/>
          <p:nvPr/>
        </p:nvSpPr>
        <p:spPr>
          <a:xfrm>
            <a:off x="2103120" y="5285232"/>
            <a:ext cx="128015" cy="128015"/>
          </a:xfrm>
          <a:prstGeom prst="roundRect">
            <a:avLst/>
          </a:prstGeom>
          <a:solidFill>
            <a:srgbClr val="1B9CB1"/>
          </a:solidFill>
          <a:ln>
            <a:noFill/>
          </a:ln>
        </p:spPr>
        <p:txBody>
          <a:bodyPr rtlCol="0" anchor="ctr"/>
          <a:lstStyle/>
          <a:p>
            <a:pPr algn="ctr"/>
          </a:p>
        </p:txBody>
      </p:sp>
      <p:sp>
        <p:nvSpPr>
          <p:cNvPr id="78" name="Red v5 relativa al PRE fold 2"/>
          <p:cNvSpPr/>
          <p:nvPr/>
        </p:nvSpPr>
        <p:spPr>
          <a:xfrm>
            <a:off x="2267712" y="5285232"/>
            <a:ext cx="128015" cy="128015"/>
          </a:xfrm>
          <a:prstGeom prst="roundRect">
            <a:avLst/>
          </a:prstGeom>
          <a:solidFill>
            <a:srgbClr val="1B9CB1"/>
          </a:solidFill>
          <a:ln>
            <a:noFill/>
          </a:ln>
        </p:spPr>
        <p:txBody>
          <a:bodyPr rtlCol="0" anchor="ctr"/>
          <a:lstStyle/>
          <a:p>
            <a:pPr algn="ctr"/>
          </a:p>
        </p:txBody>
      </p:sp>
      <p:sp>
        <p:nvSpPr>
          <p:cNvPr id="79" name="Red v5 relativa al PRE fold 3"/>
          <p:cNvSpPr/>
          <p:nvPr/>
        </p:nvSpPr>
        <p:spPr>
          <a:xfrm>
            <a:off x="2432304" y="5285232"/>
            <a:ext cx="128015" cy="128015"/>
          </a:xfrm>
          <a:prstGeom prst="roundRect">
            <a:avLst/>
          </a:prstGeom>
          <a:solidFill>
            <a:srgbClr val="1B9CB1"/>
          </a:solidFill>
          <a:ln>
            <a:noFill/>
          </a:ln>
        </p:spPr>
        <p:txBody>
          <a:bodyPr rtlCol="0" anchor="ctr"/>
          <a:lstStyle/>
          <a:p>
            <a:pPr algn="ctr"/>
          </a:p>
        </p:txBody>
      </p:sp>
      <p:sp>
        <p:nvSpPr>
          <p:cNvPr id="80" name="Red v5 relativa al PRE fold 4"/>
          <p:cNvSpPr/>
          <p:nvPr/>
        </p:nvSpPr>
        <p:spPr>
          <a:xfrm>
            <a:off x="2596896" y="5285232"/>
            <a:ext cx="128015" cy="128015"/>
          </a:xfrm>
          <a:prstGeom prst="roundRect">
            <a:avLst/>
          </a:prstGeom>
          <a:solidFill>
            <a:srgbClr val="1B9CB1"/>
          </a:solidFill>
          <a:ln>
            <a:noFill/>
          </a:ln>
        </p:spPr>
        <p:txBody>
          <a:bodyPr rtlCol="0" anchor="ctr"/>
          <a:lstStyle/>
          <a:p>
            <a:pPr algn="ctr"/>
          </a:p>
        </p:txBody>
      </p:sp>
      <p:sp>
        <p:nvSpPr>
          <p:cNvPr id="81" name="TextBox 80"/>
          <p:cNvSpPr txBox="1"/>
          <p:nvPr/>
        </p:nvSpPr>
        <p:spPr>
          <a:xfrm>
            <a:off x="457200" y="5422392"/>
            <a:ext cx="1417320" cy="182880"/>
          </a:xfrm>
          <a:prstGeom prst="rect">
            <a:avLst/>
          </a:prstGeom>
          <a:noFill/>
        </p:spPr>
        <p:txBody>
          <a:bodyPr wrap="square" lIns="0" rIns="0" tIns="0" bIns="0" anchor="t">
            <a:noAutofit/>
          </a:bodyPr>
          <a:lstStyle/>
          <a:p>
            <a:pPr algn="r">
              <a:spcAft>
                <a:spcPts val="0"/>
              </a:spcAft>
            </a:pPr>
            <a:r>
              <a:rPr sz="1000" b="0" i="0">
                <a:solidFill>
                  <a:srgbClr val="5B6875"/>
                </a:solidFill>
                <a:latin typeface="Calibri"/>
              </a:rPr>
              <a:t>v6 atención</a:t>
            </a:r>
          </a:p>
        </p:txBody>
      </p:sp>
      <p:sp>
        <p:nvSpPr>
          <p:cNvPr id="82" name="Red v6 atención fold 0"/>
          <p:cNvSpPr/>
          <p:nvPr/>
        </p:nvSpPr>
        <p:spPr>
          <a:xfrm>
            <a:off x="1938528" y="5449824"/>
            <a:ext cx="128015" cy="128015"/>
          </a:xfrm>
          <a:prstGeom prst="roundRect">
            <a:avLst/>
          </a:prstGeom>
          <a:solidFill>
            <a:srgbClr val="1B9CB1"/>
          </a:solidFill>
          <a:ln>
            <a:noFill/>
          </a:ln>
        </p:spPr>
        <p:txBody>
          <a:bodyPr rtlCol="0" anchor="ctr"/>
          <a:lstStyle/>
          <a:p>
            <a:pPr algn="ctr"/>
          </a:p>
        </p:txBody>
      </p:sp>
      <p:sp>
        <p:nvSpPr>
          <p:cNvPr id="83" name="Red v6 atención fold 1"/>
          <p:cNvSpPr/>
          <p:nvPr/>
        </p:nvSpPr>
        <p:spPr>
          <a:xfrm>
            <a:off x="2103120" y="5449824"/>
            <a:ext cx="128015" cy="128015"/>
          </a:xfrm>
          <a:prstGeom prst="roundRect">
            <a:avLst/>
          </a:prstGeom>
          <a:solidFill>
            <a:srgbClr val="1B9CB1"/>
          </a:solidFill>
          <a:ln>
            <a:noFill/>
          </a:ln>
        </p:spPr>
        <p:txBody>
          <a:bodyPr rtlCol="0" anchor="ctr"/>
          <a:lstStyle/>
          <a:p>
            <a:pPr algn="ctr"/>
          </a:p>
        </p:txBody>
      </p:sp>
      <p:sp>
        <p:nvSpPr>
          <p:cNvPr id="84" name="Red v6 atención fold 2"/>
          <p:cNvSpPr/>
          <p:nvPr/>
        </p:nvSpPr>
        <p:spPr>
          <a:xfrm>
            <a:off x="2267712" y="5449824"/>
            <a:ext cx="128015" cy="128015"/>
          </a:xfrm>
          <a:prstGeom prst="roundRect">
            <a:avLst/>
          </a:prstGeom>
          <a:solidFill>
            <a:srgbClr val="1B9CB1"/>
          </a:solidFill>
          <a:ln>
            <a:noFill/>
          </a:ln>
        </p:spPr>
        <p:txBody>
          <a:bodyPr rtlCol="0" anchor="ctr"/>
          <a:lstStyle/>
          <a:p>
            <a:pPr algn="ctr"/>
          </a:p>
        </p:txBody>
      </p:sp>
      <p:sp>
        <p:nvSpPr>
          <p:cNvPr id="85" name="Red v6 atención fold 3"/>
          <p:cNvSpPr/>
          <p:nvPr/>
        </p:nvSpPr>
        <p:spPr>
          <a:xfrm>
            <a:off x="2432304" y="5449824"/>
            <a:ext cx="128015" cy="128015"/>
          </a:xfrm>
          <a:prstGeom prst="roundRect">
            <a:avLst/>
          </a:prstGeom>
          <a:solidFill>
            <a:srgbClr val="1B9CB1"/>
          </a:solidFill>
          <a:ln>
            <a:noFill/>
          </a:ln>
        </p:spPr>
        <p:txBody>
          <a:bodyPr rtlCol="0" anchor="ctr"/>
          <a:lstStyle/>
          <a:p>
            <a:pPr algn="ctr"/>
          </a:p>
        </p:txBody>
      </p:sp>
      <p:sp>
        <p:nvSpPr>
          <p:cNvPr id="86" name="Red v6 atención fold 4"/>
          <p:cNvSpPr/>
          <p:nvPr/>
        </p:nvSpPr>
        <p:spPr>
          <a:xfrm>
            <a:off x="2596896" y="5449824"/>
            <a:ext cx="128015" cy="128015"/>
          </a:xfrm>
          <a:prstGeom prst="roundRect">
            <a:avLst/>
          </a:prstGeom>
          <a:solidFill>
            <a:srgbClr val="1B9CB1"/>
          </a:solidFill>
          <a:ln>
            <a:noFill/>
          </a:ln>
        </p:spPr>
        <p:txBody>
          <a:bodyPr rtlCol="0" anchor="ctr"/>
          <a:lstStyle/>
          <a:p>
            <a:pPr algn="ctr"/>
          </a:p>
        </p:txBody>
      </p:sp>
      <p:sp>
        <p:nvSpPr>
          <p:cNvPr id="87" name="TextBox 86"/>
          <p:cNvSpPr txBox="1"/>
          <p:nvPr/>
        </p:nvSpPr>
        <p:spPr>
          <a:xfrm>
            <a:off x="457200" y="5586983"/>
            <a:ext cx="1417320" cy="182880"/>
          </a:xfrm>
          <a:prstGeom prst="rect">
            <a:avLst/>
          </a:prstGeom>
          <a:noFill/>
        </p:spPr>
        <p:txBody>
          <a:bodyPr wrap="square" lIns="0" rIns="0" tIns="0" bIns="0" anchor="t">
            <a:noAutofit/>
          </a:bodyPr>
          <a:lstStyle/>
          <a:p>
            <a:pPr algn="r">
              <a:spcAft>
                <a:spcPts val="0"/>
              </a:spcAft>
            </a:pPr>
            <a:r>
              <a:rPr sz="1000" b="0" i="0">
                <a:solidFill>
                  <a:srgbClr val="5B6875"/>
                </a:solidFill>
                <a:latin typeface="Calibri"/>
              </a:rPr>
              <a:t>v7 dropout</a:t>
            </a:r>
          </a:p>
        </p:txBody>
      </p:sp>
      <p:sp>
        <p:nvSpPr>
          <p:cNvPr id="88" name="Red v7 dropout fold 0"/>
          <p:cNvSpPr/>
          <p:nvPr/>
        </p:nvSpPr>
        <p:spPr>
          <a:xfrm>
            <a:off x="1938528" y="5614416"/>
            <a:ext cx="128015" cy="128015"/>
          </a:xfrm>
          <a:prstGeom prst="roundRect">
            <a:avLst/>
          </a:prstGeom>
          <a:solidFill>
            <a:srgbClr val="1B9CB1"/>
          </a:solidFill>
          <a:ln>
            <a:noFill/>
          </a:ln>
        </p:spPr>
        <p:txBody>
          <a:bodyPr rtlCol="0" anchor="ctr"/>
          <a:lstStyle/>
          <a:p>
            <a:pPr algn="ctr"/>
          </a:p>
        </p:txBody>
      </p:sp>
      <p:sp>
        <p:nvSpPr>
          <p:cNvPr id="89" name="Red v7 dropout fold 1"/>
          <p:cNvSpPr/>
          <p:nvPr/>
        </p:nvSpPr>
        <p:spPr>
          <a:xfrm>
            <a:off x="2103120" y="5614416"/>
            <a:ext cx="128015" cy="128015"/>
          </a:xfrm>
          <a:prstGeom prst="roundRect">
            <a:avLst/>
          </a:prstGeom>
          <a:solidFill>
            <a:srgbClr val="1B9CB1"/>
          </a:solidFill>
          <a:ln>
            <a:noFill/>
          </a:ln>
        </p:spPr>
        <p:txBody>
          <a:bodyPr rtlCol="0" anchor="ctr"/>
          <a:lstStyle/>
          <a:p>
            <a:pPr algn="ctr"/>
          </a:p>
        </p:txBody>
      </p:sp>
      <p:sp>
        <p:nvSpPr>
          <p:cNvPr id="90" name="Red v7 dropout fold 2"/>
          <p:cNvSpPr/>
          <p:nvPr/>
        </p:nvSpPr>
        <p:spPr>
          <a:xfrm>
            <a:off x="2267712" y="5614416"/>
            <a:ext cx="128015" cy="128015"/>
          </a:xfrm>
          <a:prstGeom prst="roundRect">
            <a:avLst/>
          </a:prstGeom>
          <a:solidFill>
            <a:srgbClr val="1B9CB1"/>
          </a:solidFill>
          <a:ln>
            <a:noFill/>
          </a:ln>
        </p:spPr>
        <p:txBody>
          <a:bodyPr rtlCol="0" anchor="ctr"/>
          <a:lstStyle/>
          <a:p>
            <a:pPr algn="ctr"/>
          </a:p>
        </p:txBody>
      </p:sp>
      <p:sp>
        <p:nvSpPr>
          <p:cNvPr id="91" name="Red v7 dropout fold 3"/>
          <p:cNvSpPr/>
          <p:nvPr/>
        </p:nvSpPr>
        <p:spPr>
          <a:xfrm>
            <a:off x="2432304" y="5614416"/>
            <a:ext cx="128015" cy="128015"/>
          </a:xfrm>
          <a:prstGeom prst="roundRect">
            <a:avLst/>
          </a:prstGeom>
          <a:solidFill>
            <a:srgbClr val="1B9CB1"/>
          </a:solidFill>
          <a:ln>
            <a:noFill/>
          </a:ln>
        </p:spPr>
        <p:txBody>
          <a:bodyPr rtlCol="0" anchor="ctr"/>
          <a:lstStyle/>
          <a:p>
            <a:pPr algn="ctr"/>
          </a:p>
        </p:txBody>
      </p:sp>
      <p:sp>
        <p:nvSpPr>
          <p:cNvPr id="92" name="Red v7 dropout fold 4"/>
          <p:cNvSpPr/>
          <p:nvPr/>
        </p:nvSpPr>
        <p:spPr>
          <a:xfrm>
            <a:off x="2596896" y="5614416"/>
            <a:ext cx="128015" cy="128015"/>
          </a:xfrm>
          <a:prstGeom prst="roundRect">
            <a:avLst/>
          </a:prstGeom>
          <a:solidFill>
            <a:srgbClr val="1B9CB1"/>
          </a:solidFill>
          <a:ln>
            <a:noFill/>
          </a:ln>
        </p:spPr>
        <p:txBody>
          <a:bodyPr rtlCol="0" anchor="ctr"/>
          <a:lstStyle/>
          <a:p>
            <a:pPr algn="ctr"/>
          </a:p>
        </p:txBody>
      </p:sp>
      <p:sp>
        <p:nvSpPr>
          <p:cNvPr id="93" name="TextBox 92"/>
          <p:cNvSpPr txBox="1"/>
          <p:nvPr/>
        </p:nvSpPr>
        <p:spPr>
          <a:xfrm>
            <a:off x="457200" y="5751576"/>
            <a:ext cx="1417320" cy="182880"/>
          </a:xfrm>
          <a:prstGeom prst="rect">
            <a:avLst/>
          </a:prstGeom>
          <a:noFill/>
        </p:spPr>
        <p:txBody>
          <a:bodyPr wrap="square" lIns="0" rIns="0" tIns="0" bIns="0" anchor="t">
            <a:noAutofit/>
          </a:bodyPr>
          <a:lstStyle/>
          <a:p>
            <a:pPr algn="r">
              <a:spcAft>
                <a:spcPts val="0"/>
              </a:spcAft>
            </a:pPr>
            <a:r>
              <a:rPr sz="1000" b="0" i="0">
                <a:solidFill>
                  <a:srgbClr val="5B6875"/>
                </a:solidFill>
                <a:latin typeface="Calibri"/>
              </a:rPr>
              <a:t>v10 giros 90°</a:t>
            </a:r>
          </a:p>
        </p:txBody>
      </p:sp>
      <p:sp>
        <p:nvSpPr>
          <p:cNvPr id="94" name="Red v10 giros 90° fold 0"/>
          <p:cNvSpPr/>
          <p:nvPr/>
        </p:nvSpPr>
        <p:spPr>
          <a:xfrm>
            <a:off x="1938528" y="5779008"/>
            <a:ext cx="128015" cy="128015"/>
          </a:xfrm>
          <a:prstGeom prst="roundRect">
            <a:avLst/>
          </a:prstGeom>
          <a:solidFill>
            <a:srgbClr val="1B9CB1"/>
          </a:solidFill>
          <a:ln>
            <a:noFill/>
          </a:ln>
        </p:spPr>
        <p:txBody>
          <a:bodyPr rtlCol="0" anchor="ctr"/>
          <a:lstStyle/>
          <a:p>
            <a:pPr algn="ctr"/>
          </a:p>
        </p:txBody>
      </p:sp>
      <p:sp>
        <p:nvSpPr>
          <p:cNvPr id="95" name="Red v10 giros 90° fold 1"/>
          <p:cNvSpPr/>
          <p:nvPr/>
        </p:nvSpPr>
        <p:spPr>
          <a:xfrm>
            <a:off x="2103120" y="5779008"/>
            <a:ext cx="128015" cy="128015"/>
          </a:xfrm>
          <a:prstGeom prst="roundRect">
            <a:avLst/>
          </a:prstGeom>
          <a:solidFill>
            <a:srgbClr val="1B9CB1"/>
          </a:solidFill>
          <a:ln>
            <a:noFill/>
          </a:ln>
        </p:spPr>
        <p:txBody>
          <a:bodyPr rtlCol="0" anchor="ctr"/>
          <a:lstStyle/>
          <a:p>
            <a:pPr algn="ctr"/>
          </a:p>
        </p:txBody>
      </p:sp>
      <p:sp>
        <p:nvSpPr>
          <p:cNvPr id="96" name="Red v10 giros 90° fold 2"/>
          <p:cNvSpPr/>
          <p:nvPr/>
        </p:nvSpPr>
        <p:spPr>
          <a:xfrm>
            <a:off x="2267712" y="5779008"/>
            <a:ext cx="128015" cy="128015"/>
          </a:xfrm>
          <a:prstGeom prst="roundRect">
            <a:avLst/>
          </a:prstGeom>
          <a:solidFill>
            <a:srgbClr val="1B9CB1"/>
          </a:solidFill>
          <a:ln>
            <a:noFill/>
          </a:ln>
        </p:spPr>
        <p:txBody>
          <a:bodyPr rtlCol="0" anchor="ctr"/>
          <a:lstStyle/>
          <a:p>
            <a:pPr algn="ctr"/>
          </a:p>
        </p:txBody>
      </p:sp>
      <p:sp>
        <p:nvSpPr>
          <p:cNvPr id="97" name="Red v10 giros 90° fold 3"/>
          <p:cNvSpPr/>
          <p:nvPr/>
        </p:nvSpPr>
        <p:spPr>
          <a:xfrm>
            <a:off x="2432304" y="5779008"/>
            <a:ext cx="128015" cy="128015"/>
          </a:xfrm>
          <a:prstGeom prst="roundRect">
            <a:avLst/>
          </a:prstGeom>
          <a:solidFill>
            <a:srgbClr val="1B9CB1"/>
          </a:solidFill>
          <a:ln>
            <a:noFill/>
          </a:ln>
        </p:spPr>
        <p:txBody>
          <a:bodyPr rtlCol="0" anchor="ctr"/>
          <a:lstStyle/>
          <a:p>
            <a:pPr algn="ctr"/>
          </a:p>
        </p:txBody>
      </p:sp>
      <p:sp>
        <p:nvSpPr>
          <p:cNvPr id="98" name="Red v10 giros 90° fold 4"/>
          <p:cNvSpPr/>
          <p:nvPr/>
        </p:nvSpPr>
        <p:spPr>
          <a:xfrm>
            <a:off x="2596896" y="5779008"/>
            <a:ext cx="128015" cy="128015"/>
          </a:xfrm>
          <a:prstGeom prst="roundRect">
            <a:avLst/>
          </a:prstGeom>
          <a:solidFill>
            <a:srgbClr val="1B9CB1"/>
          </a:solidFill>
          <a:ln>
            <a:noFill/>
          </a:ln>
        </p:spPr>
        <p:txBody>
          <a:bodyPr rtlCol="0" anchor="ctr"/>
          <a:lstStyle/>
          <a:p>
            <a:pPr algn="ctr"/>
          </a:p>
        </p:txBody>
      </p:sp>
      <p:cxnSp>
        <p:nvCxnSpPr>
          <p:cNvPr id="99" name="Connector 98"/>
          <p:cNvCxnSpPr/>
          <p:nvPr/>
        </p:nvCxnSpPr>
        <p:spPr>
          <a:xfrm>
            <a:off x="2798064" y="5431536"/>
            <a:ext cx="274320" cy="0"/>
          </a:xfrm>
          <a:prstGeom prst="line">
            <a:avLst/>
          </a:prstGeom>
          <a:ln w="19050">
            <a:solidFill>
              <a:srgbClr val="8A97A3"/>
            </a:solidFill>
            <a:tailEnd type="triangle" w="med" len="med"/>
          </a:ln>
        </p:spPr>
      </p:cxnSp>
      <p:sp>
        <p:nvSpPr>
          <p:cNvPr id="100" name="media de los 30 logits"/>
          <p:cNvSpPr/>
          <p:nvPr/>
        </p:nvSpPr>
        <p:spPr>
          <a:xfrm>
            <a:off x="3127248" y="5193792"/>
            <a:ext cx="1298448" cy="475488"/>
          </a:xfrm>
          <a:prstGeom prst="roundRect">
            <a:avLst/>
          </a:prstGeom>
          <a:solidFill>
            <a:srgbClr val="EEF2F5"/>
          </a:solidFill>
          <a:ln>
            <a:noFill/>
          </a:ln>
        </p:spPr>
        <p:txBody>
          <a:bodyPr rtlCol="0" anchor="ctr" wrap="square" lIns="73152" rIns="73152" tIns="36576" bIns="36576">
            <a:noAutofit/>
          </a:bodyPr>
          <a:lstStyle/>
          <a:p>
            <a:pPr algn="ctr">
              <a:spcAft>
                <a:spcPts val="0"/>
              </a:spcAft>
            </a:pPr>
            <a:r>
              <a:rPr sz="1100" b="0" i="0">
                <a:solidFill>
                  <a:srgbClr val="1C2733"/>
                </a:solidFill>
                <a:latin typeface="Calibri"/>
              </a:rPr>
              <a:t>media de los 30 logits</a:t>
            </a:r>
          </a:p>
        </p:txBody>
      </p:sp>
      <p:cxnSp>
        <p:nvCxnSpPr>
          <p:cNvPr id="101" name="Connector 100"/>
          <p:cNvCxnSpPr/>
          <p:nvPr/>
        </p:nvCxnSpPr>
        <p:spPr>
          <a:xfrm>
            <a:off x="4462272" y="5431536"/>
            <a:ext cx="219456" cy="0"/>
          </a:xfrm>
          <a:prstGeom prst="line">
            <a:avLst/>
          </a:prstGeom>
          <a:ln w="19050">
            <a:solidFill>
              <a:srgbClr val="8A97A3"/>
            </a:solidFill>
            <a:tailEnd type="triangle" w="med" len="med"/>
          </a:ln>
        </p:spPr>
      </p:cxnSp>
      <p:sp>
        <p:nvSpPr>
          <p:cNvPr id="102" name="calibración de Platt"/>
          <p:cNvSpPr/>
          <p:nvPr/>
        </p:nvSpPr>
        <p:spPr>
          <a:xfrm>
            <a:off x="4736592" y="5193792"/>
            <a:ext cx="1188720" cy="475488"/>
          </a:xfrm>
          <a:prstGeom prst="roundRect">
            <a:avLst/>
          </a:prstGeom>
          <a:solidFill>
            <a:srgbClr val="EEF2F5"/>
          </a:solidFill>
          <a:ln>
            <a:noFill/>
          </a:ln>
        </p:spPr>
        <p:txBody>
          <a:bodyPr rtlCol="0" anchor="ctr" wrap="square" lIns="73152" rIns="73152" tIns="36576" bIns="36576">
            <a:noAutofit/>
          </a:bodyPr>
          <a:lstStyle/>
          <a:p>
            <a:pPr algn="ctr">
              <a:spcAft>
                <a:spcPts val="0"/>
              </a:spcAft>
            </a:pPr>
            <a:r>
              <a:rPr sz="1100" b="0" i="0">
                <a:solidFill>
                  <a:srgbClr val="1C2733"/>
                </a:solidFill>
                <a:latin typeface="Calibri"/>
              </a:rPr>
              <a:t>calibración de Platt</a:t>
            </a:r>
          </a:p>
        </p:txBody>
      </p:sp>
      <p:cxnSp>
        <p:nvCxnSpPr>
          <p:cNvPr id="103" name="Connector 102"/>
          <p:cNvCxnSpPr/>
          <p:nvPr/>
        </p:nvCxnSpPr>
        <p:spPr>
          <a:xfrm>
            <a:off x="5961888" y="5431536"/>
            <a:ext cx="219456" cy="0"/>
          </a:xfrm>
          <a:prstGeom prst="line">
            <a:avLst/>
          </a:prstGeom>
          <a:ln w="19050">
            <a:solidFill>
              <a:srgbClr val="8A97A3"/>
            </a:solidFill>
            <a:tailEnd type="triangle" w="med" len="med"/>
          </a:ln>
        </p:spPr>
      </p:cxnSp>
      <p:sp>
        <p:nvSpPr>
          <p:cNvPr id="104" name="media de los cortes de la paciente"/>
          <p:cNvSpPr/>
          <p:nvPr/>
        </p:nvSpPr>
        <p:spPr>
          <a:xfrm>
            <a:off x="6236207" y="5193792"/>
            <a:ext cx="1417320" cy="475488"/>
          </a:xfrm>
          <a:prstGeom prst="roundRect">
            <a:avLst/>
          </a:prstGeom>
          <a:solidFill>
            <a:srgbClr val="EEF2F5"/>
          </a:solidFill>
          <a:ln>
            <a:noFill/>
          </a:ln>
        </p:spPr>
        <p:txBody>
          <a:bodyPr rtlCol="0" anchor="ctr" wrap="square" lIns="73152" rIns="73152" tIns="36576" bIns="36576">
            <a:noAutofit/>
          </a:bodyPr>
          <a:lstStyle/>
          <a:p>
            <a:pPr algn="ctr">
              <a:spcAft>
                <a:spcPts val="0"/>
              </a:spcAft>
            </a:pPr>
            <a:r>
              <a:rPr sz="1100" b="0" i="0">
                <a:solidFill>
                  <a:srgbClr val="1C2733"/>
                </a:solidFill>
                <a:latin typeface="Calibri"/>
              </a:rPr>
              <a:t>media de los cortes de la paciente</a:t>
            </a:r>
          </a:p>
        </p:txBody>
      </p:sp>
      <p:cxnSp>
        <p:nvCxnSpPr>
          <p:cNvPr id="105" name="Connector 104"/>
          <p:cNvCxnSpPr/>
          <p:nvPr/>
        </p:nvCxnSpPr>
        <p:spPr>
          <a:xfrm>
            <a:off x="7690103" y="5431536"/>
            <a:ext cx="219456" cy="0"/>
          </a:xfrm>
          <a:prstGeom prst="line">
            <a:avLst/>
          </a:prstGeom>
          <a:ln w="19050">
            <a:solidFill>
              <a:srgbClr val="8A97A3"/>
            </a:solidFill>
            <a:tailEnd type="triangle" w="med" len="med"/>
          </a:ln>
        </p:spPr>
      </p:cxnSp>
      <p:sp>
        <p:nvSpPr>
          <p:cNvPr id="106" name="umbral 0,307"/>
          <p:cNvSpPr/>
          <p:nvPr/>
        </p:nvSpPr>
        <p:spPr>
          <a:xfrm>
            <a:off x="7964423" y="5193792"/>
            <a:ext cx="960120" cy="475488"/>
          </a:xfrm>
          <a:prstGeom prst="roundRect">
            <a:avLst/>
          </a:prstGeom>
          <a:solidFill>
            <a:srgbClr val="EEF2F5"/>
          </a:solidFill>
          <a:ln>
            <a:noFill/>
          </a:ln>
        </p:spPr>
        <p:txBody>
          <a:bodyPr rtlCol="0" anchor="ctr" wrap="square" lIns="73152" rIns="73152" tIns="36576" bIns="36576">
            <a:noAutofit/>
          </a:bodyPr>
          <a:lstStyle/>
          <a:p>
            <a:pPr algn="ctr">
              <a:spcAft>
                <a:spcPts val="0"/>
              </a:spcAft>
            </a:pPr>
            <a:r>
              <a:rPr sz="1100" b="0" i="0">
                <a:solidFill>
                  <a:srgbClr val="1C2733"/>
                </a:solidFill>
                <a:latin typeface="Calibri"/>
              </a:rPr>
              <a:t>umbral 0,307</a:t>
            </a:r>
          </a:p>
        </p:txBody>
      </p:sp>
      <p:cxnSp>
        <p:nvCxnSpPr>
          <p:cNvPr id="107" name="Connector 106"/>
          <p:cNvCxnSpPr/>
          <p:nvPr/>
        </p:nvCxnSpPr>
        <p:spPr>
          <a:xfrm>
            <a:off x="8961119" y="5431536"/>
            <a:ext cx="219457" cy="0"/>
          </a:xfrm>
          <a:prstGeom prst="line">
            <a:avLst/>
          </a:prstGeom>
          <a:ln w="19050">
            <a:solidFill>
              <a:srgbClr val="8A97A3"/>
            </a:solidFill>
            <a:tailEnd type="triangle" w="med" len="med"/>
          </a:ln>
        </p:spPr>
      </p:cxnSp>
      <p:sp>
        <p:nvSpPr>
          <p:cNvPr id="108" name="Chip pCR"/>
          <p:cNvSpPr/>
          <p:nvPr/>
        </p:nvSpPr>
        <p:spPr>
          <a:xfrm>
            <a:off x="9235440" y="5102352"/>
            <a:ext cx="868680" cy="274320"/>
          </a:xfrm>
          <a:prstGeom prst="roundRect">
            <a:avLst/>
          </a:prstGeom>
          <a:solidFill>
            <a:srgbClr val="F2A541"/>
          </a:solidFill>
          <a:ln>
            <a:noFill/>
          </a:ln>
        </p:spPr>
        <p:txBody>
          <a:bodyPr rtlCol="0" anchor="ctr" wrap="square" lIns="73152" rIns="73152" tIns="36576" bIns="36576">
            <a:noAutofit/>
          </a:bodyPr>
          <a:lstStyle/>
          <a:p>
            <a:pPr algn="ctr">
              <a:spcAft>
                <a:spcPts val="0"/>
              </a:spcAft>
            </a:pPr>
            <a:r>
              <a:rPr sz="1150" b="1" i="0">
                <a:solidFill>
                  <a:srgbClr val="1C2733"/>
                </a:solidFill>
                <a:latin typeface="Calibri"/>
              </a:rPr>
              <a:t>pCR</a:t>
            </a:r>
          </a:p>
        </p:txBody>
      </p:sp>
      <p:sp>
        <p:nvSpPr>
          <p:cNvPr id="109" name="Chip no pCR"/>
          <p:cNvSpPr/>
          <p:nvPr/>
        </p:nvSpPr>
        <p:spPr>
          <a:xfrm>
            <a:off x="9235440" y="5486400"/>
            <a:ext cx="868680" cy="274320"/>
          </a:xfrm>
          <a:prstGeom prst="roundRect">
            <a:avLst/>
          </a:prstGeom>
          <a:solidFill>
            <a:srgbClr val="DCE3E9"/>
          </a:solidFill>
          <a:ln>
            <a:noFill/>
          </a:ln>
        </p:spPr>
        <p:txBody>
          <a:bodyPr rtlCol="0" anchor="ctr" wrap="square" lIns="73152" rIns="73152" tIns="36576" bIns="36576">
            <a:noAutofit/>
          </a:bodyPr>
          <a:lstStyle/>
          <a:p>
            <a:pPr algn="ctr">
              <a:spcAft>
                <a:spcPts val="0"/>
              </a:spcAft>
            </a:pPr>
            <a:r>
              <a:rPr sz="1150" b="1" i="0">
                <a:solidFill>
                  <a:srgbClr val="1C2733"/>
                </a:solidFill>
                <a:latin typeface="Calibri"/>
              </a:rPr>
              <a:t>no pCR</a:t>
            </a:r>
          </a:p>
        </p:txBody>
      </p:sp>
      <p:sp>
        <p:nvSpPr>
          <p:cNvPr id="110" name="TextBox 109"/>
          <p:cNvSpPr txBox="1"/>
          <p:nvPr/>
        </p:nvSpPr>
        <p:spPr>
          <a:xfrm>
            <a:off x="3127248" y="5760720"/>
            <a:ext cx="6583680" cy="219456"/>
          </a:xfrm>
          <a:prstGeom prst="rect">
            <a:avLst/>
          </a:prstGeom>
          <a:noFill/>
        </p:spPr>
        <p:txBody>
          <a:bodyPr wrap="square" lIns="0" rIns="0" tIns="0" bIns="0" anchor="t">
            <a:noAutofit/>
          </a:bodyPr>
          <a:lstStyle/>
          <a:p>
            <a:pPr algn="l">
              <a:spcAft>
                <a:spcPts val="0"/>
              </a:spcAft>
            </a:pPr>
            <a:r>
              <a:rPr sz="1100" b="0" i="0">
                <a:solidFill>
                  <a:srgbClr val="5B6875"/>
                </a:solidFill>
                <a:latin typeface="Calibri"/>
              </a:rPr>
              <a:t>6 versiones × 5 folds: 2.956.515 parámetros en total. En la app, el umbral se aplica al corte que se sube.</a:t>
            </a:r>
          </a:p>
        </p:txBody>
      </p:sp>
      <p:sp>
        <p:nvSpPr>
          <p:cNvPr id="111" name="TextBox 110"/>
          <p:cNvSpPr txBox="1"/>
          <p:nvPr/>
        </p:nvSpPr>
        <p:spPr>
          <a:xfrm>
            <a:off x="9646920" y="2615184"/>
            <a:ext cx="2194560" cy="1600200"/>
          </a:xfrm>
          <a:prstGeom prst="rect">
            <a:avLst/>
          </a:prstGeom>
          <a:noFill/>
        </p:spPr>
        <p:txBody>
          <a:bodyPr wrap="square" lIns="0" rIns="0" tIns="0" bIns="0" anchor="t">
            <a:noAutofit/>
          </a:bodyPr>
          <a:lstStyle/>
          <a:p>
            <a:pPr algn="l">
              <a:spcAft>
                <a:spcPts val="500"/>
              </a:spcAft>
            </a:pPr>
            <a:r>
              <a:rPr sz="1150" b="1" i="0">
                <a:solidFill>
                  <a:srgbClr val="1C2733"/>
                </a:solidFill>
                <a:latin typeface="Calibri"/>
              </a:rPr>
              <a:t>Desde cero: </a:t>
            </a:r>
            <a:r>
              <a:rPr sz="1150" b="0" i="0">
                <a:solidFill>
                  <a:srgbClr val="1C2733"/>
                </a:solidFill>
                <a:latin typeface="Calibri"/>
              </a:rPr>
              <a:t>sin pesos preentrenados ni arquitecturas de catálogo.</a:t>
            </a:r>
          </a:p>
          <a:p>
            <a:pPr algn="l">
              <a:spcAft>
                <a:spcPts val="500"/>
              </a:spcAft>
            </a:pPr>
            <a:r>
              <a:rPr sz="1150" b="1" i="0">
                <a:solidFill>
                  <a:srgbClr val="1C2733"/>
                </a:solidFill>
                <a:latin typeface="Calibri"/>
              </a:rPr>
              <a:t>Campo receptivo teórico: </a:t>
            </a:r>
            <a:r>
              <a:rPr sz="1150" b="0" i="0">
                <a:solidFill>
                  <a:srgbClr val="1C2733"/>
                </a:solidFill>
                <a:latin typeface="Calibri"/>
              </a:rPr>
              <a:t>46 × 46 píxeles.</a:t>
            </a:r>
          </a:p>
          <a:p>
            <a:pPr algn="l">
              <a:spcAft>
                <a:spcPts val="0"/>
              </a:spcAft>
            </a:pPr>
            <a:r>
              <a:rPr sz="1150" b="1" i="0">
                <a:solidFill>
                  <a:srgbClr val="1C2733"/>
                </a:solidFill>
                <a:latin typeface="Calibri"/>
              </a:rPr>
              <a:t>Media global: </a:t>
            </a:r>
            <a:r>
              <a:rPr sz="1150" b="0" i="0">
                <a:solidFill>
                  <a:srgbClr val="1C2733"/>
                </a:solidFill>
                <a:latin typeface="Calibri"/>
              </a:rPr>
              <a:t>de 32.768 valores a 128.</a:t>
            </a:r>
          </a:p>
        </p:txBody>
      </p:sp>
      <p:sp>
        <p:nvSpPr>
          <p:cNvPr id="112" name="Frase clave"/>
          <p:cNvSpPr/>
          <p:nvPr/>
        </p:nvSpPr>
        <p:spPr>
          <a:xfrm>
            <a:off x="548640" y="6053328"/>
            <a:ext cx="8778240" cy="475488"/>
          </a:xfrm>
          <a:prstGeom prst="parallelogram">
            <a:avLst>
              <a:gd name="adj" fmla="val 69466"/>
            </a:avLst>
          </a:prstGeom>
          <a:solidFill>
            <a:srgbClr val="0760AB"/>
          </a:solidFill>
          <a:ln>
            <a:noFill/>
          </a:ln>
        </p:spPr>
        <p:txBody>
          <a:bodyPr rtlCol="0" anchor="ctr" wrap="square" lIns="440033" rIns="440033" tIns="27432" bIns="27432">
            <a:noAutofit/>
          </a:bodyPr>
          <a:lstStyle/>
          <a:p>
            <a:pPr algn="l">
              <a:spcAft>
                <a:spcPts val="0"/>
              </a:spcAft>
            </a:pPr>
            <a:r>
              <a:rPr sz="1400" b="1" i="0">
                <a:solidFill>
                  <a:srgbClr val="FFFFFF"/>
                </a:solidFill>
                <a:latin typeface="Calibri"/>
              </a:rPr>
              <a:t>Cada versión cambia una sola idea, y el conjunto entró por una regla fijada antes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548640" y="347472"/>
            <a:ext cx="11064240" cy="566928"/>
          </a:xfrm>
          <a:prstGeom prst="rect">
            <a:avLst/>
          </a:prstGeom>
          <a:noFill/>
        </p:spPr>
        <p:txBody>
          <a:bodyPr wrap="square" lIns="0" rIns="0" tIns="0" bIns="0" anchor="t">
            <a:noAutofit/>
          </a:bodyPr>
          <a:lstStyle/>
          <a:p>
            <a:pPr algn="l">
              <a:spcAft>
                <a:spcPts val="0"/>
              </a:spcAft>
            </a:pPr>
            <a:r>
              <a:rPr sz="3200" b="1" i="0">
                <a:solidFill>
                  <a:srgbClr val="0760AB"/>
                </a:solidFill>
                <a:latin typeface="+mj-lt"/>
              </a:rPr>
              <a:t>Validación y test cuadran: 0,554 y 0,540</a:t>
            </a:r>
          </a:p>
        </p:txBody>
      </p:sp>
      <p:sp>
        <p:nvSpPr>
          <p:cNvPr id="3" name="Entradilla"/>
          <p:cNvSpPr txBox="1"/>
          <p:nvPr/>
        </p:nvSpPr>
        <p:spPr>
          <a:xfrm>
            <a:off x="548640" y="932688"/>
            <a:ext cx="10607040" cy="365760"/>
          </a:xfrm>
          <a:prstGeom prst="rect">
            <a:avLst/>
          </a:prstGeom>
          <a:noFill/>
        </p:spPr>
        <p:txBody>
          <a:bodyPr wrap="square" lIns="0" rIns="0" tIns="0" bIns="0" anchor="t">
            <a:noAutofit/>
          </a:bodyPr>
          <a:lstStyle/>
          <a:p>
            <a:pPr algn="l">
              <a:spcAft>
                <a:spcPts val="0"/>
              </a:spcAft>
            </a:pPr>
            <a:r>
              <a:rPr sz="1600" b="0" i="0">
                <a:solidFill>
                  <a:srgbClr val="5B6875"/>
                </a:solidFill>
                <a:latin typeface="Calibri"/>
              </a:rPr>
              <a:t>La CNN aprende poco, y test lo confirma. «El médico», con 4 datos clínicos, queda por encima.</a:t>
            </a:r>
          </a:p>
        </p:txBody>
      </p:sp>
      <p:sp>
        <p:nvSpPr>
          <p:cNvPr id="4" name="TextBox 3"/>
          <p:cNvSpPr txBox="1"/>
          <p:nvPr/>
        </p:nvSpPr>
        <p:spPr>
          <a:xfrm>
            <a:off x="548640" y="1481328"/>
            <a:ext cx="5120640" cy="274320"/>
          </a:xfrm>
          <a:prstGeom prst="rect">
            <a:avLst/>
          </a:prstGeom>
          <a:noFill/>
        </p:spPr>
        <p:txBody>
          <a:bodyPr wrap="square" lIns="0" rIns="0" tIns="0" bIns="0" anchor="t">
            <a:noAutofit/>
          </a:bodyPr>
          <a:lstStyle/>
          <a:p>
            <a:pPr algn="l">
              <a:spcAft>
                <a:spcPts val="0"/>
              </a:spcAft>
            </a:pPr>
            <a:r>
              <a:rPr sz="1500" b="1" i="0">
                <a:solidFill>
                  <a:srgbClr val="1C2733"/>
                </a:solidFill>
                <a:latin typeface="Calibri"/>
              </a:rPr>
              <a:t>Cómo se entrenó</a:t>
            </a:r>
          </a:p>
        </p:txBody>
      </p:sp>
      <p:sp>
        <p:nvSpPr>
          <p:cNvPr id="5" name="TextBox 4"/>
          <p:cNvSpPr txBox="1"/>
          <p:nvPr/>
        </p:nvSpPr>
        <p:spPr>
          <a:xfrm>
            <a:off x="548640" y="1764792"/>
            <a:ext cx="5120640" cy="256032"/>
          </a:xfrm>
          <a:prstGeom prst="rect">
            <a:avLst/>
          </a:prstGeom>
          <a:noFill/>
        </p:spPr>
        <p:txBody>
          <a:bodyPr wrap="square" lIns="0" rIns="0" tIns="0" bIns="0" anchor="t">
            <a:noAutofit/>
          </a:bodyPr>
          <a:lstStyle/>
          <a:p>
            <a:pPr algn="l">
              <a:spcAft>
                <a:spcPts val="0"/>
              </a:spcAft>
            </a:pPr>
            <a:r>
              <a:rPr sz="1200" b="0" i="0">
                <a:solidFill>
                  <a:srgbClr val="5B6875"/>
                </a:solidFill>
                <a:latin typeface="Calibri"/>
              </a:rPr>
              <a:t>Adam (AdamW en cnn_v7), learning rate 0,001, lotes de 32 cortes, semilla 42</a:t>
            </a:r>
          </a:p>
        </p:txBody>
      </p:sp>
      <p:sp>
        <p:nvSpPr>
          <p:cNvPr id="6" name="TextBox 5"/>
          <p:cNvSpPr txBox="1"/>
          <p:nvPr/>
        </p:nvSpPr>
        <p:spPr>
          <a:xfrm>
            <a:off x="548640" y="2103120"/>
            <a:ext cx="2514600" cy="237744"/>
          </a:xfrm>
          <a:prstGeom prst="rect">
            <a:avLst/>
          </a:prstGeom>
          <a:noFill/>
        </p:spPr>
        <p:txBody>
          <a:bodyPr wrap="square" lIns="0" rIns="0" tIns="0" bIns="0" anchor="t">
            <a:noAutofit/>
          </a:bodyPr>
          <a:lstStyle/>
          <a:p>
            <a:pPr algn="l">
              <a:spcAft>
                <a:spcPts val="0"/>
              </a:spcAft>
            </a:pPr>
            <a:r>
              <a:rPr sz="1200" b="1" i="0">
                <a:solidFill>
                  <a:srgbClr val="1C2733"/>
                </a:solidFill>
                <a:latin typeface="Calibri"/>
              </a:rPr>
              <a:t>Sin aumento (cnn_v2): </a:t>
            </a:r>
            <a:r>
              <a:rPr sz="1200" b="0" i="0">
                <a:solidFill>
                  <a:srgbClr val="1C2733"/>
                </a:solidFill>
                <a:latin typeface="Calibri"/>
              </a:rPr>
              <a:t>memoriza</a:t>
            </a:r>
          </a:p>
        </p:txBody>
      </p:sp>
      <p:graphicFrame>
        <p:nvGraphicFramePr>
          <p:cNvPr id="7" name="Curvas cnn_v2"/>
          <p:cNvGraphicFramePr>
            <a:graphicFrameLocks noGrp="1"/>
          </p:cNvGraphicFramePr>
          <p:nvPr/>
        </p:nvGraphicFramePr>
        <p:xfrm>
          <a:off x="411480" y="2304288"/>
          <a:ext cx="2651760" cy="1517904"/>
        </p:xfrm>
        <a:graphic>
          <a:graphicData uri="http://schemas.openxmlformats.org/drawingml/2006/chart">
            <c:chart xmlns:c="http://schemas.openxmlformats.org/drawingml/2006/chart" r:id="rId2"/>
          </a:graphicData>
        </a:graphic>
      </p:graphicFrame>
      <p:sp>
        <p:nvSpPr>
          <p:cNvPr id="8" name="TextBox 7"/>
          <p:cNvSpPr txBox="1"/>
          <p:nvPr/>
        </p:nvSpPr>
        <p:spPr>
          <a:xfrm>
            <a:off x="411480" y="3503066"/>
            <a:ext cx="316382" cy="182880"/>
          </a:xfrm>
          <a:prstGeom prst="rect">
            <a:avLst/>
          </a:prstGeom>
          <a:noFill/>
        </p:spPr>
        <p:txBody>
          <a:bodyPr wrap="square" lIns="0" rIns="0" tIns="0" bIns="0" anchor="t">
            <a:noAutofit/>
          </a:bodyPr>
          <a:lstStyle/>
          <a:p>
            <a:pPr algn="r">
              <a:spcAft>
                <a:spcPts val="0"/>
              </a:spcAft>
            </a:pPr>
            <a:r>
              <a:rPr sz="1000" b="0" i="0">
                <a:solidFill>
                  <a:srgbClr val="5B6875"/>
                </a:solidFill>
                <a:latin typeface="Calibri"/>
              </a:rPr>
              <a:t>0,4</a:t>
            </a:r>
          </a:p>
        </p:txBody>
      </p:sp>
      <p:sp>
        <p:nvSpPr>
          <p:cNvPr id="9" name="TextBox 8"/>
          <p:cNvSpPr txBox="1"/>
          <p:nvPr/>
        </p:nvSpPr>
        <p:spPr>
          <a:xfrm>
            <a:off x="411480" y="3098292"/>
            <a:ext cx="316382" cy="182880"/>
          </a:xfrm>
          <a:prstGeom prst="rect">
            <a:avLst/>
          </a:prstGeom>
          <a:noFill/>
        </p:spPr>
        <p:txBody>
          <a:bodyPr wrap="square" lIns="0" rIns="0" tIns="0" bIns="0" anchor="t">
            <a:noAutofit/>
          </a:bodyPr>
          <a:lstStyle/>
          <a:p>
            <a:pPr algn="r">
              <a:spcAft>
                <a:spcPts val="0"/>
              </a:spcAft>
            </a:pPr>
            <a:r>
              <a:rPr sz="1000" b="0" i="0">
                <a:solidFill>
                  <a:srgbClr val="5B6875"/>
                </a:solidFill>
                <a:latin typeface="Calibri"/>
              </a:rPr>
              <a:t>0,6</a:t>
            </a:r>
          </a:p>
        </p:txBody>
      </p:sp>
      <p:sp>
        <p:nvSpPr>
          <p:cNvPr id="10" name="TextBox 9"/>
          <p:cNvSpPr txBox="1"/>
          <p:nvPr/>
        </p:nvSpPr>
        <p:spPr>
          <a:xfrm>
            <a:off x="411480" y="2693517"/>
            <a:ext cx="316382" cy="182880"/>
          </a:xfrm>
          <a:prstGeom prst="rect">
            <a:avLst/>
          </a:prstGeom>
          <a:noFill/>
        </p:spPr>
        <p:txBody>
          <a:bodyPr wrap="square" lIns="0" rIns="0" tIns="0" bIns="0" anchor="t">
            <a:noAutofit/>
          </a:bodyPr>
          <a:lstStyle/>
          <a:p>
            <a:pPr algn="r">
              <a:spcAft>
                <a:spcPts val="0"/>
              </a:spcAft>
            </a:pPr>
            <a:r>
              <a:rPr sz="1000" b="0" i="0">
                <a:solidFill>
                  <a:srgbClr val="5B6875"/>
                </a:solidFill>
                <a:latin typeface="Calibri"/>
              </a:rPr>
              <a:t>0,8</a:t>
            </a:r>
          </a:p>
        </p:txBody>
      </p:sp>
      <p:sp>
        <p:nvSpPr>
          <p:cNvPr id="11" name="TextBox 10"/>
          <p:cNvSpPr txBox="1"/>
          <p:nvPr/>
        </p:nvSpPr>
        <p:spPr>
          <a:xfrm>
            <a:off x="411480" y="2288743"/>
            <a:ext cx="316382" cy="182880"/>
          </a:xfrm>
          <a:prstGeom prst="rect">
            <a:avLst/>
          </a:prstGeom>
          <a:noFill/>
        </p:spPr>
        <p:txBody>
          <a:bodyPr wrap="square" lIns="0" rIns="0" tIns="0" bIns="0" anchor="t">
            <a:noAutofit/>
          </a:bodyPr>
          <a:lstStyle/>
          <a:p>
            <a:pPr algn="r">
              <a:spcAft>
                <a:spcPts val="0"/>
              </a:spcAft>
            </a:pPr>
            <a:r>
              <a:rPr sz="1000" b="0" i="0">
                <a:solidFill>
                  <a:srgbClr val="5B6875"/>
                </a:solidFill>
                <a:latin typeface="Calibri"/>
              </a:rPr>
              <a:t>1,0</a:t>
            </a:r>
          </a:p>
        </p:txBody>
      </p:sp>
      <p:sp>
        <p:nvSpPr>
          <p:cNvPr id="12" name="TextBox 11"/>
          <p:cNvSpPr txBox="1"/>
          <p:nvPr/>
        </p:nvSpPr>
        <p:spPr>
          <a:xfrm>
            <a:off x="599846" y="3621938"/>
            <a:ext cx="365760" cy="182880"/>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1</a:t>
            </a:r>
          </a:p>
        </p:txBody>
      </p:sp>
      <p:sp>
        <p:nvSpPr>
          <p:cNvPr id="13" name="TextBox 12"/>
          <p:cNvSpPr txBox="1"/>
          <p:nvPr/>
        </p:nvSpPr>
        <p:spPr>
          <a:xfrm>
            <a:off x="1200912" y="3621938"/>
            <a:ext cx="365760" cy="182880"/>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5</a:t>
            </a:r>
          </a:p>
        </p:txBody>
      </p:sp>
      <p:sp>
        <p:nvSpPr>
          <p:cNvPr id="14" name="TextBox 13"/>
          <p:cNvSpPr txBox="1"/>
          <p:nvPr/>
        </p:nvSpPr>
        <p:spPr>
          <a:xfrm>
            <a:off x="1952243" y="3621938"/>
            <a:ext cx="365760" cy="182880"/>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10</a:t>
            </a:r>
          </a:p>
        </p:txBody>
      </p:sp>
      <p:sp>
        <p:nvSpPr>
          <p:cNvPr id="15" name="TextBox 14"/>
          <p:cNvSpPr txBox="1"/>
          <p:nvPr/>
        </p:nvSpPr>
        <p:spPr>
          <a:xfrm>
            <a:off x="2403043" y="3621938"/>
            <a:ext cx="365760" cy="182880"/>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13</a:t>
            </a:r>
          </a:p>
        </p:txBody>
      </p:sp>
      <p:sp>
        <p:nvSpPr>
          <p:cNvPr id="16" name="TextBox 15"/>
          <p:cNvSpPr txBox="1"/>
          <p:nvPr/>
        </p:nvSpPr>
        <p:spPr>
          <a:xfrm>
            <a:off x="3200400" y="2103120"/>
            <a:ext cx="2514600" cy="237744"/>
          </a:xfrm>
          <a:prstGeom prst="rect">
            <a:avLst/>
          </a:prstGeom>
          <a:noFill/>
        </p:spPr>
        <p:txBody>
          <a:bodyPr wrap="square" lIns="0" rIns="0" tIns="0" bIns="0" anchor="t">
            <a:noAutofit/>
          </a:bodyPr>
          <a:lstStyle/>
          <a:p>
            <a:pPr algn="l">
              <a:spcAft>
                <a:spcPts val="0"/>
              </a:spcAft>
            </a:pPr>
            <a:r>
              <a:rPr sz="1200" b="1" i="0">
                <a:solidFill>
                  <a:srgbClr val="1C2733"/>
                </a:solidFill>
                <a:latin typeface="Calibri"/>
              </a:rPr>
              <a:t>cnn_v3 del modelo final: </a:t>
            </a:r>
            <a:r>
              <a:rPr sz="1200" b="0" i="0">
                <a:solidFill>
                  <a:srgbClr val="1C2733"/>
                </a:solidFill>
                <a:latin typeface="Calibri"/>
              </a:rPr>
              <a:t>a la par</a:t>
            </a:r>
          </a:p>
        </p:txBody>
      </p:sp>
      <p:graphicFrame>
        <p:nvGraphicFramePr>
          <p:cNvPr id="17" name="Curvas cnn_v3 final"/>
          <p:cNvGraphicFramePr>
            <a:graphicFrameLocks noGrp="1"/>
          </p:cNvGraphicFramePr>
          <p:nvPr/>
        </p:nvGraphicFramePr>
        <p:xfrm>
          <a:off x="3063240" y="2304288"/>
          <a:ext cx="2651760" cy="1517904"/>
        </p:xfrm>
        <a:graphic>
          <a:graphicData uri="http://schemas.openxmlformats.org/drawingml/2006/chart">
            <c:chart xmlns:c="http://schemas.openxmlformats.org/drawingml/2006/chart" r:id="rId3"/>
          </a:graphicData>
        </a:graphic>
      </p:graphicFrame>
      <p:sp>
        <p:nvSpPr>
          <p:cNvPr id="18" name="TextBox 17"/>
          <p:cNvSpPr txBox="1"/>
          <p:nvPr/>
        </p:nvSpPr>
        <p:spPr>
          <a:xfrm>
            <a:off x="3063240" y="3503066"/>
            <a:ext cx="316382" cy="182880"/>
          </a:xfrm>
          <a:prstGeom prst="rect">
            <a:avLst/>
          </a:prstGeom>
          <a:noFill/>
        </p:spPr>
        <p:txBody>
          <a:bodyPr wrap="square" lIns="0" rIns="0" tIns="0" bIns="0" anchor="t">
            <a:noAutofit/>
          </a:bodyPr>
          <a:lstStyle/>
          <a:p>
            <a:pPr algn="r">
              <a:spcAft>
                <a:spcPts val="0"/>
              </a:spcAft>
            </a:pPr>
            <a:r>
              <a:rPr sz="1000" b="0" i="0">
                <a:solidFill>
                  <a:srgbClr val="5B6875"/>
                </a:solidFill>
                <a:latin typeface="Calibri"/>
              </a:rPr>
              <a:t>0,4</a:t>
            </a:r>
          </a:p>
        </p:txBody>
      </p:sp>
      <p:sp>
        <p:nvSpPr>
          <p:cNvPr id="19" name="TextBox 18"/>
          <p:cNvSpPr txBox="1"/>
          <p:nvPr/>
        </p:nvSpPr>
        <p:spPr>
          <a:xfrm>
            <a:off x="3063240" y="3098292"/>
            <a:ext cx="316382" cy="182880"/>
          </a:xfrm>
          <a:prstGeom prst="rect">
            <a:avLst/>
          </a:prstGeom>
          <a:noFill/>
        </p:spPr>
        <p:txBody>
          <a:bodyPr wrap="square" lIns="0" rIns="0" tIns="0" bIns="0" anchor="t">
            <a:noAutofit/>
          </a:bodyPr>
          <a:lstStyle/>
          <a:p>
            <a:pPr algn="r">
              <a:spcAft>
                <a:spcPts val="0"/>
              </a:spcAft>
            </a:pPr>
            <a:r>
              <a:rPr sz="1000" b="0" i="0">
                <a:solidFill>
                  <a:srgbClr val="5B6875"/>
                </a:solidFill>
                <a:latin typeface="Calibri"/>
              </a:rPr>
              <a:t>0,6</a:t>
            </a:r>
          </a:p>
        </p:txBody>
      </p:sp>
      <p:sp>
        <p:nvSpPr>
          <p:cNvPr id="20" name="TextBox 19"/>
          <p:cNvSpPr txBox="1"/>
          <p:nvPr/>
        </p:nvSpPr>
        <p:spPr>
          <a:xfrm>
            <a:off x="3063240" y="2693517"/>
            <a:ext cx="316382" cy="182880"/>
          </a:xfrm>
          <a:prstGeom prst="rect">
            <a:avLst/>
          </a:prstGeom>
          <a:noFill/>
        </p:spPr>
        <p:txBody>
          <a:bodyPr wrap="square" lIns="0" rIns="0" tIns="0" bIns="0" anchor="t">
            <a:noAutofit/>
          </a:bodyPr>
          <a:lstStyle/>
          <a:p>
            <a:pPr algn="r">
              <a:spcAft>
                <a:spcPts val="0"/>
              </a:spcAft>
            </a:pPr>
            <a:r>
              <a:rPr sz="1000" b="0" i="0">
                <a:solidFill>
                  <a:srgbClr val="5B6875"/>
                </a:solidFill>
                <a:latin typeface="Calibri"/>
              </a:rPr>
              <a:t>0,8</a:t>
            </a:r>
          </a:p>
        </p:txBody>
      </p:sp>
      <p:sp>
        <p:nvSpPr>
          <p:cNvPr id="21" name="TextBox 20"/>
          <p:cNvSpPr txBox="1"/>
          <p:nvPr/>
        </p:nvSpPr>
        <p:spPr>
          <a:xfrm>
            <a:off x="3063240" y="2288743"/>
            <a:ext cx="316382" cy="182880"/>
          </a:xfrm>
          <a:prstGeom prst="rect">
            <a:avLst/>
          </a:prstGeom>
          <a:noFill/>
        </p:spPr>
        <p:txBody>
          <a:bodyPr wrap="square" lIns="0" rIns="0" tIns="0" bIns="0" anchor="t">
            <a:noAutofit/>
          </a:bodyPr>
          <a:lstStyle/>
          <a:p>
            <a:pPr algn="r">
              <a:spcAft>
                <a:spcPts val="0"/>
              </a:spcAft>
            </a:pPr>
            <a:r>
              <a:rPr sz="1000" b="0" i="0">
                <a:solidFill>
                  <a:srgbClr val="5B6875"/>
                </a:solidFill>
                <a:latin typeface="Calibri"/>
              </a:rPr>
              <a:t>1,0</a:t>
            </a:r>
          </a:p>
        </p:txBody>
      </p:sp>
      <p:sp>
        <p:nvSpPr>
          <p:cNvPr id="22" name="TextBox 21"/>
          <p:cNvSpPr txBox="1"/>
          <p:nvPr/>
        </p:nvSpPr>
        <p:spPr>
          <a:xfrm>
            <a:off x="3251606" y="3621938"/>
            <a:ext cx="365760" cy="182880"/>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1</a:t>
            </a:r>
          </a:p>
        </p:txBody>
      </p:sp>
      <p:sp>
        <p:nvSpPr>
          <p:cNvPr id="23" name="TextBox 22"/>
          <p:cNvSpPr txBox="1"/>
          <p:nvPr/>
        </p:nvSpPr>
        <p:spPr>
          <a:xfrm>
            <a:off x="3612245" y="3621938"/>
            <a:ext cx="365760" cy="182880"/>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2</a:t>
            </a:r>
          </a:p>
        </p:txBody>
      </p:sp>
      <p:sp>
        <p:nvSpPr>
          <p:cNvPr id="24" name="TextBox 23"/>
          <p:cNvSpPr txBox="1"/>
          <p:nvPr/>
        </p:nvSpPr>
        <p:spPr>
          <a:xfrm>
            <a:off x="3972885" y="3621938"/>
            <a:ext cx="365760" cy="182880"/>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3</a:t>
            </a:r>
          </a:p>
        </p:txBody>
      </p:sp>
      <p:sp>
        <p:nvSpPr>
          <p:cNvPr id="25" name="TextBox 24"/>
          <p:cNvSpPr txBox="1"/>
          <p:nvPr/>
        </p:nvSpPr>
        <p:spPr>
          <a:xfrm>
            <a:off x="4333524" y="3621938"/>
            <a:ext cx="365760" cy="182880"/>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4</a:t>
            </a:r>
          </a:p>
        </p:txBody>
      </p:sp>
      <p:sp>
        <p:nvSpPr>
          <p:cNvPr id="26" name="TextBox 25"/>
          <p:cNvSpPr txBox="1"/>
          <p:nvPr/>
        </p:nvSpPr>
        <p:spPr>
          <a:xfrm>
            <a:off x="4694163" y="3621938"/>
            <a:ext cx="365760" cy="182880"/>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5</a:t>
            </a:r>
          </a:p>
        </p:txBody>
      </p:sp>
      <p:sp>
        <p:nvSpPr>
          <p:cNvPr id="27" name="TextBox 26"/>
          <p:cNvSpPr txBox="1"/>
          <p:nvPr/>
        </p:nvSpPr>
        <p:spPr>
          <a:xfrm>
            <a:off x="5054803" y="3621938"/>
            <a:ext cx="365760" cy="182880"/>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6</a:t>
            </a:r>
          </a:p>
        </p:txBody>
      </p:sp>
      <p:sp>
        <p:nvSpPr>
          <p:cNvPr id="28" name="TextBox 27"/>
          <p:cNvSpPr txBox="1"/>
          <p:nvPr/>
        </p:nvSpPr>
        <p:spPr>
          <a:xfrm>
            <a:off x="548640" y="3840480"/>
            <a:ext cx="5120640" cy="219456"/>
          </a:xfrm>
          <a:prstGeom prst="rect">
            <a:avLst/>
          </a:prstGeom>
          <a:noFill/>
        </p:spPr>
        <p:txBody>
          <a:bodyPr wrap="square" lIns="0" rIns="0" tIns="0" bIns="0" anchor="t">
            <a:noAutofit/>
          </a:bodyPr>
          <a:lstStyle/>
          <a:p>
            <a:pPr algn="l">
              <a:spcAft>
                <a:spcPts val="0"/>
              </a:spcAft>
            </a:pPr>
            <a:r>
              <a:rPr sz="1000" b="1" i="0">
                <a:solidFill>
                  <a:srgbClr val="8A97A3"/>
                </a:solidFill>
                <a:latin typeface="Calibri"/>
              </a:rPr>
              <a:t>— entrenamiento</a:t>
            </a:r>
            <a:r>
              <a:rPr sz="1000" b="1" i="0">
                <a:solidFill>
                  <a:srgbClr val="117A8B"/>
                </a:solidFill>
                <a:latin typeface="Calibri"/>
              </a:rPr>
              <a:t>    — validación</a:t>
            </a:r>
            <a:r>
              <a:rPr sz="1000" b="0" i="0">
                <a:solidFill>
                  <a:srgbClr val="5B6875"/>
                </a:solidFill>
                <a:latin typeface="Calibri"/>
              </a:rPr>
              <a:t>    AUC por paciente y época, media de los 5 folds</a:t>
            </a:r>
          </a:p>
        </p:txBody>
      </p:sp>
      <p:sp>
        <p:nvSpPr>
          <p:cNvPr id="29" name="Círculo Pérdida normal."/>
          <p:cNvSpPr/>
          <p:nvPr/>
        </p:nvSpPr>
        <p:spPr>
          <a:xfrm>
            <a:off x="548640" y="4178807"/>
            <a:ext cx="365760" cy="365760"/>
          </a:xfrm>
          <a:prstGeom prst="ellipse">
            <a:avLst/>
          </a:prstGeom>
          <a:solidFill>
            <a:srgbClr val="E6EFF8"/>
          </a:solidFill>
          <a:ln>
            <a:noFill/>
          </a:ln>
        </p:spPr>
        <p:txBody>
          <a:bodyPr rtlCol="0" anchor="ctr"/>
          <a:lstStyle/>
          <a:p>
            <a:pPr algn="ctr"/>
          </a:p>
        </p:txBody>
      </p:sp>
      <p:pic>
        <p:nvPicPr>
          <p:cNvPr id="30" name="Icono Pérdida normal." descr="balanza.png"/>
          <p:cNvPicPr>
            <a:picLocks noChangeAspect="1"/>
          </p:cNvPicPr>
          <p:nvPr/>
        </p:nvPicPr>
        <p:blipFill>
          <a:blip r:embed="rId4"/>
          <a:stretch>
            <a:fillRect/>
          </a:stretch>
        </p:blipFill>
        <p:spPr>
          <a:xfrm>
            <a:off x="612648" y="4242816"/>
            <a:ext cx="237744" cy="237744"/>
          </a:xfrm>
          <a:prstGeom prst="rect">
            <a:avLst/>
          </a:prstGeom>
        </p:spPr>
      </p:pic>
      <p:sp>
        <p:nvSpPr>
          <p:cNvPr id="31" name="TextBox 30"/>
          <p:cNvSpPr txBox="1"/>
          <p:nvPr/>
        </p:nvSpPr>
        <p:spPr>
          <a:xfrm>
            <a:off x="1024128" y="4160520"/>
            <a:ext cx="4709160" cy="402336"/>
          </a:xfrm>
          <a:prstGeom prst="rect">
            <a:avLst/>
          </a:prstGeom>
          <a:noFill/>
        </p:spPr>
        <p:txBody>
          <a:bodyPr wrap="square" lIns="0" rIns="0" tIns="0" bIns="0" anchor="ctr">
            <a:noAutofit/>
          </a:bodyPr>
          <a:lstStyle/>
          <a:p>
            <a:pPr algn="l">
              <a:spcAft>
                <a:spcPts val="0"/>
              </a:spcAft>
            </a:pPr>
            <a:r>
              <a:rPr sz="1200" b="1" i="0">
                <a:solidFill>
                  <a:srgbClr val="1C2733"/>
                </a:solidFill>
                <a:latin typeface="Calibri"/>
              </a:rPr>
              <a:t>Pérdida normal.</a:t>
            </a:r>
            <a:r>
              <a:rPr sz="1200" b="0" i="0">
                <a:solidFill>
                  <a:srgbClr val="1C2733"/>
                </a:solidFill>
                <a:latin typeface="Calibri"/>
              </a:rPr>
              <a:t> Al explorar, la ponderada (las pCR pesan 2,4 veces) dio el mismo AUC: 0,574 frente a 0,576.</a:t>
            </a:r>
          </a:p>
        </p:txBody>
      </p:sp>
      <p:sp>
        <p:nvSpPr>
          <p:cNvPr id="32" name="Círculo 6 épocas fijas."/>
          <p:cNvSpPr/>
          <p:nvPr/>
        </p:nvSpPr>
        <p:spPr>
          <a:xfrm>
            <a:off x="548640" y="4636007"/>
            <a:ext cx="365760" cy="365760"/>
          </a:xfrm>
          <a:prstGeom prst="ellipse">
            <a:avLst/>
          </a:prstGeom>
          <a:solidFill>
            <a:srgbClr val="E6EFF8"/>
          </a:solidFill>
          <a:ln>
            <a:noFill/>
          </a:ln>
        </p:spPr>
        <p:txBody>
          <a:bodyPr rtlCol="0" anchor="ctr"/>
          <a:lstStyle/>
          <a:p>
            <a:pPr algn="ctr"/>
          </a:p>
        </p:txBody>
      </p:sp>
      <p:pic>
        <p:nvPicPr>
          <p:cNvPr id="33" name="Icono 6 épocas fijas." descr="reloj.png"/>
          <p:cNvPicPr>
            <a:picLocks noChangeAspect="1"/>
          </p:cNvPicPr>
          <p:nvPr/>
        </p:nvPicPr>
        <p:blipFill>
          <a:blip r:embed="rId5"/>
          <a:stretch>
            <a:fillRect/>
          </a:stretch>
        </p:blipFill>
        <p:spPr>
          <a:xfrm>
            <a:off x="612648" y="4700016"/>
            <a:ext cx="237744" cy="237744"/>
          </a:xfrm>
          <a:prstGeom prst="rect">
            <a:avLst/>
          </a:prstGeom>
        </p:spPr>
      </p:pic>
      <p:sp>
        <p:nvSpPr>
          <p:cNvPr id="34" name="TextBox 33"/>
          <p:cNvSpPr txBox="1"/>
          <p:nvPr/>
        </p:nvSpPr>
        <p:spPr>
          <a:xfrm>
            <a:off x="1024128" y="4617720"/>
            <a:ext cx="4709160" cy="402336"/>
          </a:xfrm>
          <a:prstGeom prst="rect">
            <a:avLst/>
          </a:prstGeom>
          <a:noFill/>
        </p:spPr>
        <p:txBody>
          <a:bodyPr wrap="square" lIns="0" rIns="0" tIns="0" bIns="0" anchor="ctr">
            <a:noAutofit/>
          </a:bodyPr>
          <a:lstStyle/>
          <a:p>
            <a:pPr algn="l">
              <a:spcAft>
                <a:spcPts val="0"/>
              </a:spcAft>
            </a:pPr>
            <a:r>
              <a:rPr sz="1200" b="1" i="0">
                <a:solidFill>
                  <a:srgbClr val="1C2733"/>
                </a:solidFill>
                <a:latin typeface="Calibri"/>
              </a:rPr>
              <a:t>6 épocas fijas.</a:t>
            </a:r>
            <a:r>
              <a:rPr sz="1200" b="0" i="0">
                <a:solidFill>
                  <a:srgbClr val="1C2733"/>
                </a:solidFill>
                <a:latin typeface="Calibri"/>
              </a:rPr>
              <a:t> La mediana de las elegidas al explorar, fijada antes de reentrenar el modelo final.</a:t>
            </a:r>
          </a:p>
        </p:txBody>
      </p:sp>
      <p:sp>
        <p:nvSpPr>
          <p:cNvPr id="35" name="Círculo Conjunto por regla."/>
          <p:cNvSpPr/>
          <p:nvPr/>
        </p:nvSpPr>
        <p:spPr>
          <a:xfrm>
            <a:off x="548640" y="5093207"/>
            <a:ext cx="365760" cy="365760"/>
          </a:xfrm>
          <a:prstGeom prst="ellipse">
            <a:avLst/>
          </a:prstGeom>
          <a:solidFill>
            <a:srgbClr val="E6EFF8"/>
          </a:solidFill>
          <a:ln>
            <a:noFill/>
          </a:ln>
        </p:spPr>
        <p:txBody>
          <a:bodyPr rtlCol="0" anchor="ctr"/>
          <a:lstStyle/>
          <a:p>
            <a:pPr algn="ctr"/>
          </a:p>
        </p:txBody>
      </p:sp>
      <p:pic>
        <p:nvPicPr>
          <p:cNvPr id="36" name="Icono Conjunto por regla." descr="capas.png"/>
          <p:cNvPicPr>
            <a:picLocks noChangeAspect="1"/>
          </p:cNvPicPr>
          <p:nvPr/>
        </p:nvPicPr>
        <p:blipFill>
          <a:blip r:embed="rId6"/>
          <a:stretch>
            <a:fillRect/>
          </a:stretch>
        </p:blipFill>
        <p:spPr>
          <a:xfrm>
            <a:off x="612648" y="5157216"/>
            <a:ext cx="237744" cy="237744"/>
          </a:xfrm>
          <a:prstGeom prst="rect">
            <a:avLst/>
          </a:prstGeom>
        </p:spPr>
      </p:pic>
      <p:sp>
        <p:nvSpPr>
          <p:cNvPr id="37" name="TextBox 36"/>
          <p:cNvSpPr txBox="1"/>
          <p:nvPr/>
        </p:nvSpPr>
        <p:spPr>
          <a:xfrm>
            <a:off x="1024128" y="5074920"/>
            <a:ext cx="4709160" cy="402336"/>
          </a:xfrm>
          <a:prstGeom prst="rect">
            <a:avLst/>
          </a:prstGeom>
          <a:noFill/>
        </p:spPr>
        <p:txBody>
          <a:bodyPr wrap="square" lIns="0" rIns="0" tIns="0" bIns="0" anchor="ctr">
            <a:noAutofit/>
          </a:bodyPr>
          <a:lstStyle/>
          <a:p>
            <a:pPr algn="l">
              <a:spcAft>
                <a:spcPts val="0"/>
              </a:spcAft>
            </a:pPr>
            <a:r>
              <a:rPr sz="1200" b="1" i="0">
                <a:solidFill>
                  <a:srgbClr val="1C2733"/>
                </a:solidFill>
                <a:latin typeface="Calibri"/>
              </a:rPr>
              <a:t>Conjunto por regla.</a:t>
            </a:r>
            <a:r>
              <a:rPr sz="1200" b="0" i="0">
                <a:solidFill>
                  <a:srgbClr val="1C2733"/>
                </a:solidFill>
                <a:latin typeface="Calibri"/>
              </a:rPr>
              <a:t> Entran las versiones con train − val ≤ 0,15, regla fijada antes de ver el resultado: 6 de 8.</a:t>
            </a:r>
          </a:p>
        </p:txBody>
      </p:sp>
      <p:sp>
        <p:nvSpPr>
          <p:cNvPr id="38" name="Círculo Umbral 0,307."/>
          <p:cNvSpPr/>
          <p:nvPr/>
        </p:nvSpPr>
        <p:spPr>
          <a:xfrm>
            <a:off x="548640" y="5550407"/>
            <a:ext cx="365760" cy="365760"/>
          </a:xfrm>
          <a:prstGeom prst="ellipse">
            <a:avLst/>
          </a:prstGeom>
          <a:solidFill>
            <a:srgbClr val="E6EFF8"/>
          </a:solidFill>
          <a:ln>
            <a:noFill/>
          </a:ln>
        </p:spPr>
        <p:txBody>
          <a:bodyPr rtlCol="0" anchor="ctr"/>
          <a:lstStyle/>
          <a:p>
            <a:pPr algn="ctr"/>
          </a:p>
        </p:txBody>
      </p:sp>
      <p:pic>
        <p:nvPicPr>
          <p:cNvPr id="39" name="Icono Umbral 0,307." descr="umbral.png"/>
          <p:cNvPicPr>
            <a:picLocks noChangeAspect="1"/>
          </p:cNvPicPr>
          <p:nvPr/>
        </p:nvPicPr>
        <p:blipFill>
          <a:blip r:embed="rId7"/>
          <a:stretch>
            <a:fillRect/>
          </a:stretch>
        </p:blipFill>
        <p:spPr>
          <a:xfrm>
            <a:off x="612648" y="5614416"/>
            <a:ext cx="237744" cy="237744"/>
          </a:xfrm>
          <a:prstGeom prst="rect">
            <a:avLst/>
          </a:prstGeom>
        </p:spPr>
      </p:pic>
      <p:sp>
        <p:nvSpPr>
          <p:cNvPr id="40" name="TextBox 39"/>
          <p:cNvSpPr txBox="1"/>
          <p:nvPr/>
        </p:nvSpPr>
        <p:spPr>
          <a:xfrm>
            <a:off x="1024128" y="5532120"/>
            <a:ext cx="4709160" cy="402336"/>
          </a:xfrm>
          <a:prstGeom prst="rect">
            <a:avLst/>
          </a:prstGeom>
          <a:noFill/>
        </p:spPr>
        <p:txBody>
          <a:bodyPr wrap="square" lIns="0" rIns="0" tIns="0" bIns="0" anchor="ctr">
            <a:noAutofit/>
          </a:bodyPr>
          <a:lstStyle/>
          <a:p>
            <a:pPr algn="l">
              <a:spcAft>
                <a:spcPts val="0"/>
              </a:spcAft>
            </a:pPr>
            <a:r>
              <a:rPr sz="1200" b="1" i="0">
                <a:solidFill>
                  <a:srgbClr val="1C2733"/>
                </a:solidFill>
                <a:latin typeface="Calibri"/>
              </a:rPr>
              <a:t>Umbral 0,307.</a:t>
            </a:r>
            <a:r>
              <a:rPr sz="1200" b="0" i="0">
                <a:solidFill>
                  <a:srgbClr val="1C2733"/>
                </a:solidFill>
                <a:latin typeface="Calibri"/>
              </a:rPr>
              <a:t> Elegido con train para que, como mucho, 1 de cada 5 sin pCR saliera como pCR. En test, especificidad 0,805.</a:t>
            </a:r>
          </a:p>
        </p:txBody>
      </p:sp>
      <p:sp>
        <p:nvSpPr>
          <p:cNvPr id="41" name="TextBox 40"/>
          <p:cNvSpPr txBox="1"/>
          <p:nvPr/>
        </p:nvSpPr>
        <p:spPr>
          <a:xfrm>
            <a:off x="6172200" y="1481328"/>
            <a:ext cx="5577840" cy="274320"/>
          </a:xfrm>
          <a:prstGeom prst="rect">
            <a:avLst/>
          </a:prstGeom>
          <a:noFill/>
        </p:spPr>
        <p:txBody>
          <a:bodyPr wrap="square" lIns="0" rIns="0" tIns="0" bIns="0" anchor="t">
            <a:noAutofit/>
          </a:bodyPr>
          <a:lstStyle/>
          <a:p>
            <a:pPr algn="l">
              <a:spcAft>
                <a:spcPts val="0"/>
              </a:spcAft>
            </a:pPr>
            <a:r>
              <a:rPr sz="1500" b="1" i="0">
                <a:solidFill>
                  <a:srgbClr val="1C2733"/>
                </a:solidFill>
                <a:latin typeface="Calibri"/>
              </a:rPr>
              <a:t>AUC por paciente</a:t>
            </a:r>
          </a:p>
        </p:txBody>
      </p:sp>
      <p:sp>
        <p:nvSpPr>
          <p:cNvPr id="42" name="TextBox 41"/>
          <p:cNvSpPr txBox="1"/>
          <p:nvPr/>
        </p:nvSpPr>
        <p:spPr>
          <a:xfrm>
            <a:off x="6172200" y="1764792"/>
            <a:ext cx="5577840" cy="256032"/>
          </a:xfrm>
          <a:prstGeom prst="rect">
            <a:avLst/>
          </a:prstGeom>
          <a:noFill/>
        </p:spPr>
        <p:txBody>
          <a:bodyPr wrap="square" lIns="0" rIns="0" tIns="0" bIns="0" anchor="t">
            <a:noAutofit/>
          </a:bodyPr>
          <a:lstStyle/>
          <a:p>
            <a:pPr algn="l">
              <a:spcAft>
                <a:spcPts val="0"/>
              </a:spcAft>
            </a:pPr>
            <a:r>
              <a:rPr sz="1200" b="0" i="0">
                <a:solidFill>
                  <a:srgbClr val="5B6875"/>
                </a:solidFill>
                <a:latin typeface="Calibri"/>
              </a:rPr>
              <a:t>0,5 es el azar; 1, ordenar a todas bien</a:t>
            </a:r>
          </a:p>
        </p:txBody>
      </p:sp>
      <p:cxnSp>
        <p:nvCxnSpPr>
          <p:cNvPr id="43" name="Connector 42"/>
          <p:cNvCxnSpPr/>
          <p:nvPr/>
        </p:nvCxnSpPr>
        <p:spPr>
          <a:xfrm>
            <a:off x="8275320" y="2432303"/>
            <a:ext cx="0" cy="1600201"/>
          </a:xfrm>
          <a:prstGeom prst="line">
            <a:avLst/>
          </a:prstGeom>
          <a:ln w="9525">
            <a:solidFill>
              <a:srgbClr val="E3E8EC"/>
            </a:solidFill>
          </a:ln>
        </p:spPr>
      </p:cxnSp>
      <p:sp>
        <p:nvSpPr>
          <p:cNvPr id="44" name="TextBox 43"/>
          <p:cNvSpPr txBox="1"/>
          <p:nvPr/>
        </p:nvSpPr>
        <p:spPr>
          <a:xfrm>
            <a:off x="8001000" y="4069080"/>
            <a:ext cx="548640" cy="201168"/>
          </a:xfrm>
          <a:prstGeom prst="rect">
            <a:avLst/>
          </a:prstGeom>
          <a:noFill/>
        </p:spPr>
        <p:txBody>
          <a:bodyPr wrap="square" lIns="0" rIns="0" tIns="0" bIns="0" anchor="t">
            <a:noAutofit/>
          </a:bodyPr>
          <a:lstStyle/>
          <a:p>
            <a:pPr algn="ctr">
              <a:spcAft>
                <a:spcPts val="0"/>
              </a:spcAft>
            </a:pPr>
            <a:r>
              <a:rPr sz="1050" b="0" i="0">
                <a:solidFill>
                  <a:srgbClr val="5B6875"/>
                </a:solidFill>
                <a:latin typeface="Calibri"/>
              </a:rPr>
              <a:t>0,4</a:t>
            </a:r>
          </a:p>
        </p:txBody>
      </p:sp>
      <p:cxnSp>
        <p:nvCxnSpPr>
          <p:cNvPr id="45" name="Connector 44"/>
          <p:cNvCxnSpPr/>
          <p:nvPr/>
        </p:nvCxnSpPr>
        <p:spPr>
          <a:xfrm>
            <a:off x="9041130" y="2432303"/>
            <a:ext cx="0" cy="1600201"/>
          </a:xfrm>
          <a:prstGeom prst="line">
            <a:avLst/>
          </a:prstGeom>
          <a:ln w="9525">
            <a:solidFill>
              <a:srgbClr val="E3E8EC"/>
            </a:solidFill>
          </a:ln>
        </p:spPr>
      </p:cxnSp>
      <p:sp>
        <p:nvSpPr>
          <p:cNvPr id="46" name="TextBox 45"/>
          <p:cNvSpPr txBox="1"/>
          <p:nvPr/>
        </p:nvSpPr>
        <p:spPr>
          <a:xfrm>
            <a:off x="8766810" y="4069080"/>
            <a:ext cx="548640" cy="201168"/>
          </a:xfrm>
          <a:prstGeom prst="rect">
            <a:avLst/>
          </a:prstGeom>
          <a:noFill/>
        </p:spPr>
        <p:txBody>
          <a:bodyPr wrap="square" lIns="0" rIns="0" tIns="0" bIns="0" anchor="t">
            <a:noAutofit/>
          </a:bodyPr>
          <a:lstStyle/>
          <a:p>
            <a:pPr algn="ctr">
              <a:spcAft>
                <a:spcPts val="0"/>
              </a:spcAft>
            </a:pPr>
            <a:r>
              <a:rPr sz="1050" b="0" i="0">
                <a:solidFill>
                  <a:srgbClr val="5B6875"/>
                </a:solidFill>
                <a:latin typeface="Calibri"/>
              </a:rPr>
              <a:t>0,5</a:t>
            </a:r>
          </a:p>
        </p:txBody>
      </p:sp>
      <p:cxnSp>
        <p:nvCxnSpPr>
          <p:cNvPr id="47" name="Connector 46"/>
          <p:cNvCxnSpPr/>
          <p:nvPr/>
        </p:nvCxnSpPr>
        <p:spPr>
          <a:xfrm>
            <a:off x="9806940" y="2432303"/>
            <a:ext cx="0" cy="1600201"/>
          </a:xfrm>
          <a:prstGeom prst="line">
            <a:avLst/>
          </a:prstGeom>
          <a:ln w="9525">
            <a:solidFill>
              <a:srgbClr val="E3E8EC"/>
            </a:solidFill>
          </a:ln>
        </p:spPr>
      </p:cxnSp>
      <p:sp>
        <p:nvSpPr>
          <p:cNvPr id="48" name="TextBox 47"/>
          <p:cNvSpPr txBox="1"/>
          <p:nvPr/>
        </p:nvSpPr>
        <p:spPr>
          <a:xfrm>
            <a:off x="9532619" y="4069080"/>
            <a:ext cx="548640" cy="201168"/>
          </a:xfrm>
          <a:prstGeom prst="rect">
            <a:avLst/>
          </a:prstGeom>
          <a:noFill/>
        </p:spPr>
        <p:txBody>
          <a:bodyPr wrap="square" lIns="0" rIns="0" tIns="0" bIns="0" anchor="t">
            <a:noAutofit/>
          </a:bodyPr>
          <a:lstStyle/>
          <a:p>
            <a:pPr algn="ctr">
              <a:spcAft>
                <a:spcPts val="0"/>
              </a:spcAft>
            </a:pPr>
            <a:r>
              <a:rPr sz="1050" b="0" i="0">
                <a:solidFill>
                  <a:srgbClr val="5B6875"/>
                </a:solidFill>
                <a:latin typeface="Calibri"/>
              </a:rPr>
              <a:t>0,6</a:t>
            </a:r>
          </a:p>
        </p:txBody>
      </p:sp>
      <p:cxnSp>
        <p:nvCxnSpPr>
          <p:cNvPr id="49" name="Connector 48"/>
          <p:cNvCxnSpPr/>
          <p:nvPr/>
        </p:nvCxnSpPr>
        <p:spPr>
          <a:xfrm>
            <a:off x="10572750" y="2432303"/>
            <a:ext cx="0" cy="1600201"/>
          </a:xfrm>
          <a:prstGeom prst="line">
            <a:avLst/>
          </a:prstGeom>
          <a:ln w="9525">
            <a:solidFill>
              <a:srgbClr val="E3E8EC"/>
            </a:solidFill>
          </a:ln>
        </p:spPr>
      </p:cxnSp>
      <p:sp>
        <p:nvSpPr>
          <p:cNvPr id="50" name="TextBox 49"/>
          <p:cNvSpPr txBox="1"/>
          <p:nvPr/>
        </p:nvSpPr>
        <p:spPr>
          <a:xfrm>
            <a:off x="10298430" y="4069080"/>
            <a:ext cx="548640" cy="201168"/>
          </a:xfrm>
          <a:prstGeom prst="rect">
            <a:avLst/>
          </a:prstGeom>
          <a:noFill/>
        </p:spPr>
        <p:txBody>
          <a:bodyPr wrap="square" lIns="0" rIns="0" tIns="0" bIns="0" anchor="t">
            <a:noAutofit/>
          </a:bodyPr>
          <a:lstStyle/>
          <a:p>
            <a:pPr algn="ctr">
              <a:spcAft>
                <a:spcPts val="0"/>
              </a:spcAft>
            </a:pPr>
            <a:r>
              <a:rPr sz="1050" b="0" i="0">
                <a:solidFill>
                  <a:srgbClr val="5B6875"/>
                </a:solidFill>
                <a:latin typeface="Calibri"/>
              </a:rPr>
              <a:t>0,7</a:t>
            </a:r>
          </a:p>
        </p:txBody>
      </p:sp>
      <p:cxnSp>
        <p:nvCxnSpPr>
          <p:cNvPr id="51" name="Connector 50"/>
          <p:cNvCxnSpPr/>
          <p:nvPr/>
        </p:nvCxnSpPr>
        <p:spPr>
          <a:xfrm>
            <a:off x="11338560" y="2432303"/>
            <a:ext cx="0" cy="1600201"/>
          </a:xfrm>
          <a:prstGeom prst="line">
            <a:avLst/>
          </a:prstGeom>
          <a:ln w="9525">
            <a:solidFill>
              <a:srgbClr val="E3E8EC"/>
            </a:solidFill>
          </a:ln>
        </p:spPr>
      </p:cxnSp>
      <p:sp>
        <p:nvSpPr>
          <p:cNvPr id="52" name="TextBox 51"/>
          <p:cNvSpPr txBox="1"/>
          <p:nvPr/>
        </p:nvSpPr>
        <p:spPr>
          <a:xfrm>
            <a:off x="11064240" y="4069080"/>
            <a:ext cx="548640" cy="201168"/>
          </a:xfrm>
          <a:prstGeom prst="rect">
            <a:avLst/>
          </a:prstGeom>
          <a:noFill/>
        </p:spPr>
        <p:txBody>
          <a:bodyPr wrap="square" lIns="0" rIns="0" tIns="0" bIns="0" anchor="t">
            <a:noAutofit/>
          </a:bodyPr>
          <a:lstStyle/>
          <a:p>
            <a:pPr algn="ctr">
              <a:spcAft>
                <a:spcPts val="0"/>
              </a:spcAft>
            </a:pPr>
            <a:r>
              <a:rPr sz="1050" b="0" i="0">
                <a:solidFill>
                  <a:srgbClr val="5B6875"/>
                </a:solidFill>
                <a:latin typeface="Calibri"/>
              </a:rPr>
              <a:t>0,8</a:t>
            </a:r>
          </a:p>
        </p:txBody>
      </p:sp>
      <p:cxnSp>
        <p:nvCxnSpPr>
          <p:cNvPr id="53" name="Connector 52"/>
          <p:cNvCxnSpPr/>
          <p:nvPr/>
        </p:nvCxnSpPr>
        <p:spPr>
          <a:xfrm>
            <a:off x="8275320" y="4032504"/>
            <a:ext cx="3063240" cy="0"/>
          </a:xfrm>
          <a:prstGeom prst="line">
            <a:avLst/>
          </a:prstGeom>
          <a:ln w="12700">
            <a:solidFill>
              <a:srgbClr val="C9D2DA"/>
            </a:solidFill>
          </a:ln>
        </p:spPr>
      </p:cxnSp>
      <p:cxnSp>
        <p:nvCxnSpPr>
          <p:cNvPr id="54" name="Azar"/>
          <p:cNvCxnSpPr/>
          <p:nvPr/>
        </p:nvCxnSpPr>
        <p:spPr>
          <a:xfrm>
            <a:off x="9041130" y="2359152"/>
            <a:ext cx="0" cy="1673352"/>
          </a:xfrm>
          <a:prstGeom prst="line">
            <a:avLst/>
          </a:prstGeom>
          <a:ln w="15875">
            <a:solidFill>
              <a:srgbClr val="5B6875"/>
            </a:solidFill>
            <a:prstDash val="dash"/>
          </a:ln>
        </p:spPr>
      </p:cxnSp>
      <p:sp>
        <p:nvSpPr>
          <p:cNvPr id="55" name="TextBox 54"/>
          <p:cNvSpPr txBox="1"/>
          <p:nvPr/>
        </p:nvSpPr>
        <p:spPr>
          <a:xfrm>
            <a:off x="8474202" y="2157984"/>
            <a:ext cx="548640" cy="201168"/>
          </a:xfrm>
          <a:prstGeom prst="rect">
            <a:avLst/>
          </a:prstGeom>
          <a:noFill/>
        </p:spPr>
        <p:txBody>
          <a:bodyPr wrap="square" lIns="0" rIns="0" tIns="0" bIns="0" anchor="t">
            <a:noAutofit/>
          </a:bodyPr>
          <a:lstStyle/>
          <a:p>
            <a:pPr algn="r">
              <a:spcAft>
                <a:spcPts val="0"/>
              </a:spcAft>
            </a:pPr>
            <a:r>
              <a:rPr sz="1050" b="0" i="0">
                <a:solidFill>
                  <a:srgbClr val="5B6875"/>
                </a:solidFill>
                <a:latin typeface="Calibri"/>
              </a:rPr>
              <a:t>azar</a:t>
            </a:r>
          </a:p>
        </p:txBody>
      </p:sp>
      <p:cxnSp>
        <p:nvCxnSpPr>
          <p:cNvPr id="56" name="Solo cohorte"/>
          <p:cNvCxnSpPr/>
          <p:nvPr/>
        </p:nvCxnSpPr>
        <p:spPr>
          <a:xfrm>
            <a:off x="9416376" y="2359152"/>
            <a:ext cx="0" cy="1673352"/>
          </a:xfrm>
          <a:prstGeom prst="line">
            <a:avLst/>
          </a:prstGeom>
          <a:ln w="15875">
            <a:solidFill>
              <a:srgbClr val="A7B3BE"/>
            </a:solidFill>
            <a:prstDash val="sysDot"/>
          </a:ln>
        </p:spPr>
      </p:cxnSp>
      <p:sp>
        <p:nvSpPr>
          <p:cNvPr id="57" name="TextBox 56"/>
          <p:cNvSpPr txBox="1"/>
          <p:nvPr/>
        </p:nvSpPr>
        <p:spPr>
          <a:xfrm>
            <a:off x="9452952" y="2157984"/>
            <a:ext cx="2743200" cy="201168"/>
          </a:xfrm>
          <a:prstGeom prst="rect">
            <a:avLst/>
          </a:prstGeom>
          <a:noFill/>
        </p:spPr>
        <p:txBody>
          <a:bodyPr wrap="square" lIns="0" rIns="0" tIns="0" bIns="0" anchor="t">
            <a:noAutofit/>
          </a:bodyPr>
          <a:lstStyle/>
          <a:p>
            <a:pPr algn="l">
              <a:spcAft>
                <a:spcPts val="0"/>
              </a:spcAft>
            </a:pPr>
            <a:r>
              <a:rPr sz="1050" b="0" i="0">
                <a:solidFill>
                  <a:srgbClr val="5B6875"/>
                </a:solidFill>
                <a:latin typeface="Calibri"/>
              </a:rPr>
              <a:t>solo la cohorte (validación): 0,549</a:t>
            </a:r>
          </a:p>
        </p:txBody>
      </p:sp>
      <p:sp>
        <p:nvSpPr>
          <p:cNvPr id="58" name="TextBox 57"/>
          <p:cNvSpPr txBox="1"/>
          <p:nvPr/>
        </p:nvSpPr>
        <p:spPr>
          <a:xfrm>
            <a:off x="6172200" y="2496312"/>
            <a:ext cx="2057400" cy="228600"/>
          </a:xfrm>
          <a:prstGeom prst="rect">
            <a:avLst/>
          </a:prstGeom>
          <a:noFill/>
        </p:spPr>
        <p:txBody>
          <a:bodyPr wrap="square" lIns="0" rIns="0" tIns="0" bIns="0" anchor="t">
            <a:noAutofit/>
          </a:bodyPr>
          <a:lstStyle/>
          <a:p>
            <a:pPr algn="l">
              <a:spcAft>
                <a:spcPts val="0"/>
              </a:spcAft>
            </a:pPr>
            <a:r>
              <a:rPr sz="1250" b="1" i="0">
                <a:solidFill>
                  <a:srgbClr val="117A8B"/>
                </a:solidFill>
                <a:latin typeface="Calibri"/>
              </a:rPr>
              <a:t>CNN</a:t>
            </a:r>
          </a:p>
        </p:txBody>
      </p:sp>
      <p:sp>
        <p:nvSpPr>
          <p:cNvPr id="59" name="TextBox 58"/>
          <p:cNvSpPr txBox="1"/>
          <p:nvPr/>
        </p:nvSpPr>
        <p:spPr>
          <a:xfrm>
            <a:off x="6172200" y="2715768"/>
            <a:ext cx="2057400" cy="201168"/>
          </a:xfrm>
          <a:prstGeom prst="rect">
            <a:avLst/>
          </a:prstGeom>
          <a:noFill/>
        </p:spPr>
        <p:txBody>
          <a:bodyPr wrap="square" lIns="0" rIns="0" tIns="0" bIns="0" anchor="t">
            <a:noAutofit/>
          </a:bodyPr>
          <a:lstStyle/>
          <a:p>
            <a:pPr algn="l">
              <a:spcAft>
                <a:spcPts val="0"/>
              </a:spcAft>
            </a:pPr>
            <a:r>
              <a:rPr sz="1000" b="0" i="0">
                <a:solidFill>
                  <a:srgbClr val="5B6875"/>
                </a:solidFill>
                <a:latin typeface="Calibri"/>
              </a:rPr>
              <a:t>solo imagen</a:t>
            </a:r>
          </a:p>
        </p:txBody>
      </p:sp>
      <p:cxnSp>
        <p:nvCxnSpPr>
          <p:cNvPr id="60" name="CNN desviación"/>
          <p:cNvCxnSpPr/>
          <p:nvPr/>
        </p:nvCxnSpPr>
        <p:spPr>
          <a:xfrm>
            <a:off x="9125369" y="2542032"/>
            <a:ext cx="658596" cy="0"/>
          </a:xfrm>
          <a:prstGeom prst="line">
            <a:avLst/>
          </a:prstGeom>
          <a:ln w="15875">
            <a:solidFill>
              <a:srgbClr val="1B9CB1"/>
            </a:solidFill>
            <a:prstDash val="sysDash"/>
          </a:ln>
        </p:spPr>
      </p:cxnSp>
      <p:sp>
        <p:nvSpPr>
          <p:cNvPr id="61" name="CNN validación"/>
          <p:cNvSpPr/>
          <p:nvPr/>
        </p:nvSpPr>
        <p:spPr>
          <a:xfrm>
            <a:off x="9386087" y="2473451"/>
            <a:ext cx="137160" cy="137160"/>
          </a:xfrm>
          <a:prstGeom prst="ellipse">
            <a:avLst/>
          </a:prstGeom>
          <a:solidFill>
            <a:srgbClr val="FFFFFF"/>
          </a:solidFill>
          <a:ln w="25400">
            <a:solidFill>
              <a:srgbClr val="1B9CB1"/>
            </a:solidFill>
          </a:ln>
        </p:spPr>
        <p:txBody>
          <a:bodyPr rtlCol="0" anchor="ctr"/>
          <a:lstStyle/>
          <a:p>
            <a:pPr algn="ctr"/>
          </a:p>
        </p:txBody>
      </p:sp>
      <p:cxnSp>
        <p:nvCxnSpPr>
          <p:cNvPr id="62" name="CNN IC test"/>
          <p:cNvCxnSpPr/>
          <p:nvPr/>
        </p:nvCxnSpPr>
        <p:spPr>
          <a:xfrm>
            <a:off x="8658225" y="2752344"/>
            <a:ext cx="1378458" cy="0"/>
          </a:xfrm>
          <a:prstGeom prst="line">
            <a:avLst/>
          </a:prstGeom>
          <a:ln w="19050">
            <a:solidFill>
              <a:srgbClr val="1B9CB1"/>
            </a:solidFill>
          </a:ln>
        </p:spPr>
      </p:cxnSp>
      <p:sp>
        <p:nvSpPr>
          <p:cNvPr id="63" name="CNN test"/>
          <p:cNvSpPr/>
          <p:nvPr/>
        </p:nvSpPr>
        <p:spPr>
          <a:xfrm>
            <a:off x="9274302" y="2679191"/>
            <a:ext cx="146304" cy="146304"/>
          </a:xfrm>
          <a:prstGeom prst="ellipse">
            <a:avLst/>
          </a:prstGeom>
          <a:solidFill>
            <a:srgbClr val="1B9CB1"/>
          </a:solidFill>
          <a:ln>
            <a:noFill/>
          </a:ln>
        </p:spPr>
        <p:txBody>
          <a:bodyPr rtlCol="0" anchor="ctr"/>
          <a:lstStyle/>
          <a:p>
            <a:pPr algn="ctr"/>
          </a:p>
        </p:txBody>
      </p:sp>
      <p:sp>
        <p:nvSpPr>
          <p:cNvPr id="64" name="TextBox 63"/>
          <p:cNvSpPr txBox="1"/>
          <p:nvPr/>
        </p:nvSpPr>
        <p:spPr>
          <a:xfrm>
            <a:off x="9838829" y="2432303"/>
            <a:ext cx="1097280" cy="201168"/>
          </a:xfrm>
          <a:prstGeom prst="rect">
            <a:avLst/>
          </a:prstGeom>
          <a:noFill/>
        </p:spPr>
        <p:txBody>
          <a:bodyPr wrap="square" lIns="0" rIns="0" tIns="0" bIns="0" anchor="t">
            <a:noAutofit/>
          </a:bodyPr>
          <a:lstStyle/>
          <a:p>
            <a:pPr algn="l">
              <a:spcAft>
                <a:spcPts val="0"/>
              </a:spcAft>
            </a:pPr>
            <a:r>
              <a:rPr sz="1000" b="0" i="0">
                <a:solidFill>
                  <a:srgbClr val="5B6875"/>
                </a:solidFill>
                <a:latin typeface="Calibri"/>
              </a:rPr>
              <a:t>0,554 ± 0,043</a:t>
            </a:r>
          </a:p>
        </p:txBody>
      </p:sp>
      <p:sp>
        <p:nvSpPr>
          <p:cNvPr id="65" name="TextBox 64"/>
          <p:cNvSpPr txBox="1"/>
          <p:nvPr/>
        </p:nvSpPr>
        <p:spPr>
          <a:xfrm>
            <a:off x="10091547" y="2642615"/>
            <a:ext cx="548640" cy="201168"/>
          </a:xfrm>
          <a:prstGeom prst="rect">
            <a:avLst/>
          </a:prstGeom>
          <a:noFill/>
        </p:spPr>
        <p:txBody>
          <a:bodyPr wrap="square" lIns="0" rIns="0" tIns="0" bIns="0" anchor="t">
            <a:noAutofit/>
          </a:bodyPr>
          <a:lstStyle/>
          <a:p>
            <a:pPr algn="l">
              <a:spcAft>
                <a:spcPts val="0"/>
              </a:spcAft>
            </a:pPr>
            <a:r>
              <a:rPr sz="1050" b="1" i="0">
                <a:solidFill>
                  <a:srgbClr val="117A8B"/>
                </a:solidFill>
                <a:latin typeface="Calibri"/>
              </a:rPr>
              <a:t>0,540</a:t>
            </a:r>
          </a:p>
        </p:txBody>
      </p:sp>
      <p:sp>
        <p:nvSpPr>
          <p:cNvPr id="66" name="TextBox 65"/>
          <p:cNvSpPr txBox="1"/>
          <p:nvPr/>
        </p:nvSpPr>
        <p:spPr>
          <a:xfrm>
            <a:off x="6172200" y="2999232"/>
            <a:ext cx="2057400" cy="228600"/>
          </a:xfrm>
          <a:prstGeom prst="rect">
            <a:avLst/>
          </a:prstGeom>
          <a:noFill/>
        </p:spPr>
        <p:txBody>
          <a:bodyPr wrap="square" lIns="0" rIns="0" tIns="0" bIns="0" anchor="t">
            <a:noAutofit/>
          </a:bodyPr>
          <a:lstStyle/>
          <a:p>
            <a:pPr algn="l">
              <a:spcAft>
                <a:spcPts val="0"/>
              </a:spcAft>
            </a:pPr>
            <a:r>
              <a:rPr sz="1250" b="1" i="0">
                <a:solidFill>
                  <a:srgbClr val="5E52C7"/>
                </a:solidFill>
                <a:latin typeface="Calibri"/>
              </a:rPr>
              <a:t>Médico</a:t>
            </a:r>
          </a:p>
        </p:txBody>
      </p:sp>
      <p:sp>
        <p:nvSpPr>
          <p:cNvPr id="67" name="TextBox 66"/>
          <p:cNvSpPr txBox="1"/>
          <p:nvPr/>
        </p:nvSpPr>
        <p:spPr>
          <a:xfrm>
            <a:off x="6172200" y="3218687"/>
            <a:ext cx="2057400" cy="201168"/>
          </a:xfrm>
          <a:prstGeom prst="rect">
            <a:avLst/>
          </a:prstGeom>
          <a:noFill/>
        </p:spPr>
        <p:txBody>
          <a:bodyPr wrap="square" lIns="0" rIns="0" tIns="0" bIns="0" anchor="t">
            <a:noAutofit/>
          </a:bodyPr>
          <a:lstStyle/>
          <a:p>
            <a:pPr algn="l">
              <a:spcAft>
                <a:spcPts val="0"/>
              </a:spcAft>
            </a:pPr>
            <a:r>
              <a:rPr sz="1000" b="0" i="0">
                <a:solidFill>
                  <a:srgbClr val="5B6875"/>
                </a:solidFill>
                <a:latin typeface="Calibri"/>
              </a:rPr>
              <a:t>edad, menopausia, HR y HER2</a:t>
            </a:r>
          </a:p>
        </p:txBody>
      </p:sp>
      <p:cxnSp>
        <p:nvCxnSpPr>
          <p:cNvPr id="68" name="Médico desviación"/>
          <p:cNvCxnSpPr/>
          <p:nvPr/>
        </p:nvCxnSpPr>
        <p:spPr>
          <a:xfrm>
            <a:off x="10304716" y="3044951"/>
            <a:ext cx="367589" cy="0"/>
          </a:xfrm>
          <a:prstGeom prst="line">
            <a:avLst/>
          </a:prstGeom>
          <a:ln w="15875">
            <a:solidFill>
              <a:srgbClr val="9085E9"/>
            </a:solidFill>
            <a:prstDash val="sysDash"/>
          </a:ln>
        </p:spPr>
      </p:cxnSp>
      <p:sp>
        <p:nvSpPr>
          <p:cNvPr id="69" name="Médico validación"/>
          <p:cNvSpPr/>
          <p:nvPr/>
        </p:nvSpPr>
        <p:spPr>
          <a:xfrm>
            <a:off x="10419930" y="2976371"/>
            <a:ext cx="137160" cy="137160"/>
          </a:xfrm>
          <a:prstGeom prst="ellipse">
            <a:avLst/>
          </a:prstGeom>
          <a:solidFill>
            <a:srgbClr val="FFFFFF"/>
          </a:solidFill>
          <a:ln w="25400">
            <a:solidFill>
              <a:srgbClr val="9085E9"/>
            </a:solidFill>
          </a:ln>
        </p:spPr>
        <p:txBody>
          <a:bodyPr rtlCol="0" anchor="ctr"/>
          <a:lstStyle/>
          <a:p>
            <a:pPr algn="ctr"/>
          </a:p>
        </p:txBody>
      </p:sp>
      <p:cxnSp>
        <p:nvCxnSpPr>
          <p:cNvPr id="70" name="Médico IC test"/>
          <p:cNvCxnSpPr/>
          <p:nvPr/>
        </p:nvCxnSpPr>
        <p:spPr>
          <a:xfrm>
            <a:off x="9577197" y="3255263"/>
            <a:ext cx="1455039" cy="0"/>
          </a:xfrm>
          <a:prstGeom prst="line">
            <a:avLst/>
          </a:prstGeom>
          <a:ln w="19050">
            <a:solidFill>
              <a:srgbClr val="9085E9"/>
            </a:solidFill>
          </a:ln>
        </p:spPr>
      </p:cxnSp>
      <p:sp>
        <p:nvSpPr>
          <p:cNvPr id="71" name="Médico test"/>
          <p:cNvSpPr/>
          <p:nvPr/>
        </p:nvSpPr>
        <p:spPr>
          <a:xfrm>
            <a:off x="10223906" y="3182111"/>
            <a:ext cx="146304" cy="146304"/>
          </a:xfrm>
          <a:prstGeom prst="ellipse">
            <a:avLst/>
          </a:prstGeom>
          <a:solidFill>
            <a:srgbClr val="9085E9"/>
          </a:solidFill>
          <a:ln>
            <a:noFill/>
          </a:ln>
        </p:spPr>
        <p:txBody>
          <a:bodyPr rtlCol="0" anchor="ctr"/>
          <a:lstStyle/>
          <a:p>
            <a:pPr algn="ctr"/>
          </a:p>
        </p:txBody>
      </p:sp>
      <p:sp>
        <p:nvSpPr>
          <p:cNvPr id="72" name="TextBox 71"/>
          <p:cNvSpPr txBox="1"/>
          <p:nvPr/>
        </p:nvSpPr>
        <p:spPr>
          <a:xfrm>
            <a:off x="10727169" y="2935223"/>
            <a:ext cx="1097280" cy="201168"/>
          </a:xfrm>
          <a:prstGeom prst="rect">
            <a:avLst/>
          </a:prstGeom>
          <a:noFill/>
        </p:spPr>
        <p:txBody>
          <a:bodyPr wrap="square" lIns="0" rIns="0" tIns="0" bIns="0" anchor="t">
            <a:noAutofit/>
          </a:bodyPr>
          <a:lstStyle/>
          <a:p>
            <a:pPr algn="l">
              <a:spcAft>
                <a:spcPts val="0"/>
              </a:spcAft>
            </a:pPr>
            <a:r>
              <a:rPr sz="1000" b="0" i="0">
                <a:solidFill>
                  <a:srgbClr val="5B6875"/>
                </a:solidFill>
                <a:latin typeface="Calibri"/>
              </a:rPr>
              <a:t>0,689 ± 0,024</a:t>
            </a:r>
          </a:p>
        </p:txBody>
      </p:sp>
      <p:sp>
        <p:nvSpPr>
          <p:cNvPr id="73" name="TextBox 72"/>
          <p:cNvSpPr txBox="1"/>
          <p:nvPr/>
        </p:nvSpPr>
        <p:spPr>
          <a:xfrm>
            <a:off x="11087100" y="3145535"/>
            <a:ext cx="548640" cy="201168"/>
          </a:xfrm>
          <a:prstGeom prst="rect">
            <a:avLst/>
          </a:prstGeom>
          <a:noFill/>
        </p:spPr>
        <p:txBody>
          <a:bodyPr wrap="square" lIns="0" rIns="0" tIns="0" bIns="0" anchor="t">
            <a:noAutofit/>
          </a:bodyPr>
          <a:lstStyle/>
          <a:p>
            <a:pPr algn="l">
              <a:spcAft>
                <a:spcPts val="0"/>
              </a:spcAft>
            </a:pPr>
            <a:r>
              <a:rPr sz="1050" b="1" i="0">
                <a:solidFill>
                  <a:srgbClr val="5E52C7"/>
                </a:solidFill>
                <a:latin typeface="Calibri"/>
              </a:rPr>
              <a:t>0,664</a:t>
            </a:r>
          </a:p>
        </p:txBody>
      </p:sp>
      <p:sp>
        <p:nvSpPr>
          <p:cNvPr id="74" name="TextBox 73"/>
          <p:cNvSpPr txBox="1"/>
          <p:nvPr/>
        </p:nvSpPr>
        <p:spPr>
          <a:xfrm>
            <a:off x="6172200" y="3502152"/>
            <a:ext cx="2057400" cy="228600"/>
          </a:xfrm>
          <a:prstGeom prst="rect">
            <a:avLst/>
          </a:prstGeom>
          <a:noFill/>
        </p:spPr>
        <p:txBody>
          <a:bodyPr wrap="square" lIns="0" rIns="0" tIns="0" bIns="0" anchor="t">
            <a:noAutofit/>
          </a:bodyPr>
          <a:lstStyle/>
          <a:p>
            <a:pPr algn="l">
              <a:spcAft>
                <a:spcPts val="0"/>
              </a:spcAft>
            </a:pPr>
            <a:r>
              <a:rPr sz="1250" b="1" i="0">
                <a:solidFill>
                  <a:srgbClr val="B23A69"/>
                </a:solidFill>
                <a:latin typeface="Calibri"/>
              </a:rPr>
              <a:t>CNN + médico</a:t>
            </a:r>
          </a:p>
        </p:txBody>
      </p:sp>
      <p:sp>
        <p:nvSpPr>
          <p:cNvPr id="75" name="TextBox 74"/>
          <p:cNvSpPr txBox="1"/>
          <p:nvPr/>
        </p:nvSpPr>
        <p:spPr>
          <a:xfrm>
            <a:off x="6172200" y="3721608"/>
            <a:ext cx="2057400" cy="201168"/>
          </a:xfrm>
          <a:prstGeom prst="rect">
            <a:avLst/>
          </a:prstGeom>
          <a:noFill/>
        </p:spPr>
        <p:txBody>
          <a:bodyPr wrap="square" lIns="0" rIns="0" tIns="0" bIns="0" anchor="t">
            <a:noAutofit/>
          </a:bodyPr>
          <a:lstStyle/>
          <a:p>
            <a:pPr algn="l">
              <a:spcAft>
                <a:spcPts val="0"/>
              </a:spcAft>
            </a:pPr>
            <a:r>
              <a:rPr sz="1000" b="0" i="0">
                <a:solidFill>
                  <a:srgbClr val="5B6875"/>
                </a:solidFill>
                <a:latin typeface="Calibri"/>
              </a:rPr>
              <a:t>las dos puntuaciones</a:t>
            </a:r>
          </a:p>
        </p:txBody>
      </p:sp>
      <p:cxnSp>
        <p:nvCxnSpPr>
          <p:cNvPr id="76" name="CNN + médico desviación"/>
          <p:cNvCxnSpPr/>
          <p:nvPr/>
        </p:nvCxnSpPr>
        <p:spPr>
          <a:xfrm>
            <a:off x="10320032" y="3547872"/>
            <a:ext cx="398221" cy="0"/>
          </a:xfrm>
          <a:prstGeom prst="line">
            <a:avLst/>
          </a:prstGeom>
          <a:ln w="15875">
            <a:solidFill>
              <a:srgbClr val="D55181"/>
            </a:solidFill>
            <a:prstDash val="sysDash"/>
          </a:ln>
        </p:spPr>
      </p:cxnSp>
      <p:sp>
        <p:nvSpPr>
          <p:cNvPr id="77" name="CNN + médico validación"/>
          <p:cNvSpPr/>
          <p:nvPr/>
        </p:nvSpPr>
        <p:spPr>
          <a:xfrm>
            <a:off x="10450563" y="3479291"/>
            <a:ext cx="137160" cy="137160"/>
          </a:xfrm>
          <a:prstGeom prst="ellipse">
            <a:avLst/>
          </a:prstGeom>
          <a:solidFill>
            <a:srgbClr val="FFFFFF"/>
          </a:solidFill>
          <a:ln w="25400">
            <a:solidFill>
              <a:srgbClr val="D55181"/>
            </a:solidFill>
          </a:ln>
        </p:spPr>
        <p:txBody>
          <a:bodyPr rtlCol="0" anchor="ctr"/>
          <a:lstStyle/>
          <a:p>
            <a:pPr algn="ctr"/>
          </a:p>
        </p:txBody>
      </p:sp>
      <p:cxnSp>
        <p:nvCxnSpPr>
          <p:cNvPr id="78" name="CNN + médico IC test"/>
          <p:cNvCxnSpPr/>
          <p:nvPr/>
        </p:nvCxnSpPr>
        <p:spPr>
          <a:xfrm>
            <a:off x="9653778" y="3758184"/>
            <a:ext cx="1378458" cy="0"/>
          </a:xfrm>
          <a:prstGeom prst="line">
            <a:avLst/>
          </a:prstGeom>
          <a:ln w="19050">
            <a:solidFill>
              <a:srgbClr val="D55181"/>
            </a:solidFill>
          </a:ln>
        </p:spPr>
      </p:cxnSp>
      <p:sp>
        <p:nvSpPr>
          <p:cNvPr id="79" name="CNN + médico test"/>
          <p:cNvSpPr/>
          <p:nvPr/>
        </p:nvSpPr>
        <p:spPr>
          <a:xfrm>
            <a:off x="10300487" y="3685032"/>
            <a:ext cx="146304" cy="146304"/>
          </a:xfrm>
          <a:prstGeom prst="ellipse">
            <a:avLst/>
          </a:prstGeom>
          <a:solidFill>
            <a:srgbClr val="D55181"/>
          </a:solidFill>
          <a:ln>
            <a:noFill/>
          </a:ln>
        </p:spPr>
        <p:txBody>
          <a:bodyPr rtlCol="0" anchor="ctr"/>
          <a:lstStyle/>
          <a:p>
            <a:pPr algn="ctr"/>
          </a:p>
        </p:txBody>
      </p:sp>
      <p:sp>
        <p:nvSpPr>
          <p:cNvPr id="80" name="TextBox 79"/>
          <p:cNvSpPr txBox="1"/>
          <p:nvPr/>
        </p:nvSpPr>
        <p:spPr>
          <a:xfrm>
            <a:off x="10773117" y="3438144"/>
            <a:ext cx="1097280" cy="201168"/>
          </a:xfrm>
          <a:prstGeom prst="rect">
            <a:avLst/>
          </a:prstGeom>
          <a:noFill/>
        </p:spPr>
        <p:txBody>
          <a:bodyPr wrap="square" lIns="0" rIns="0" tIns="0" bIns="0" anchor="t">
            <a:noAutofit/>
          </a:bodyPr>
          <a:lstStyle/>
          <a:p>
            <a:pPr algn="l">
              <a:spcAft>
                <a:spcPts val="0"/>
              </a:spcAft>
            </a:pPr>
            <a:r>
              <a:rPr sz="1000" b="0" i="0">
                <a:solidFill>
                  <a:srgbClr val="5B6875"/>
                </a:solidFill>
                <a:latin typeface="Calibri"/>
              </a:rPr>
              <a:t>0,693 ± 0,026</a:t>
            </a:r>
          </a:p>
        </p:txBody>
      </p:sp>
      <p:sp>
        <p:nvSpPr>
          <p:cNvPr id="81" name="TextBox 80"/>
          <p:cNvSpPr txBox="1"/>
          <p:nvPr/>
        </p:nvSpPr>
        <p:spPr>
          <a:xfrm>
            <a:off x="11087100" y="3648456"/>
            <a:ext cx="548640" cy="201168"/>
          </a:xfrm>
          <a:prstGeom prst="rect">
            <a:avLst/>
          </a:prstGeom>
          <a:noFill/>
        </p:spPr>
        <p:txBody>
          <a:bodyPr wrap="square" lIns="0" rIns="0" tIns="0" bIns="0" anchor="t">
            <a:noAutofit/>
          </a:bodyPr>
          <a:lstStyle/>
          <a:p>
            <a:pPr algn="l">
              <a:spcAft>
                <a:spcPts val="0"/>
              </a:spcAft>
            </a:pPr>
            <a:r>
              <a:rPr sz="1050" b="1" i="0">
                <a:solidFill>
                  <a:srgbClr val="B23A69"/>
                </a:solidFill>
                <a:latin typeface="Calibri"/>
              </a:rPr>
              <a:t>0,674</a:t>
            </a:r>
          </a:p>
        </p:txBody>
      </p:sp>
      <p:sp>
        <p:nvSpPr>
          <p:cNvPr id="82" name="Leyenda validación"/>
          <p:cNvSpPr/>
          <p:nvPr/>
        </p:nvSpPr>
        <p:spPr>
          <a:xfrm>
            <a:off x="6190488" y="4370832"/>
            <a:ext cx="118872" cy="118872"/>
          </a:xfrm>
          <a:prstGeom prst="ellipse">
            <a:avLst/>
          </a:prstGeom>
          <a:solidFill>
            <a:srgbClr val="FFFFFF"/>
          </a:solidFill>
          <a:ln w="22225">
            <a:solidFill>
              <a:srgbClr val="5B6875"/>
            </a:solidFill>
          </a:ln>
        </p:spPr>
        <p:txBody>
          <a:bodyPr rtlCol="0" anchor="ctr"/>
          <a:lstStyle/>
          <a:p>
            <a:pPr algn="ctr"/>
          </a:p>
        </p:txBody>
      </p:sp>
      <p:sp>
        <p:nvSpPr>
          <p:cNvPr id="83" name="TextBox 82"/>
          <p:cNvSpPr txBox="1"/>
          <p:nvPr/>
        </p:nvSpPr>
        <p:spPr>
          <a:xfrm>
            <a:off x="6373368" y="4325112"/>
            <a:ext cx="5394960" cy="219456"/>
          </a:xfrm>
          <a:prstGeom prst="rect">
            <a:avLst/>
          </a:prstGeom>
          <a:noFill/>
        </p:spPr>
        <p:txBody>
          <a:bodyPr wrap="square" lIns="0" rIns="0" tIns="0" bIns="0" anchor="t">
            <a:noAutofit/>
          </a:bodyPr>
          <a:lstStyle/>
          <a:p>
            <a:pPr algn="l">
              <a:spcAft>
                <a:spcPts val="0"/>
              </a:spcAft>
            </a:pPr>
            <a:r>
              <a:rPr sz="1050" b="0" i="0">
                <a:solidFill>
                  <a:srgbClr val="5B6875"/>
                </a:solidFill>
                <a:latin typeface="Calibri"/>
              </a:rPr>
              <a:t>validación cruzada: media ± desviación de 5 folds (interna, algo optimista)</a:t>
            </a:r>
          </a:p>
        </p:txBody>
      </p:sp>
      <p:sp>
        <p:nvSpPr>
          <p:cNvPr id="84" name="Leyenda test"/>
          <p:cNvSpPr/>
          <p:nvPr/>
        </p:nvSpPr>
        <p:spPr>
          <a:xfrm>
            <a:off x="6190488" y="4590288"/>
            <a:ext cx="118872" cy="118872"/>
          </a:xfrm>
          <a:prstGeom prst="ellipse">
            <a:avLst/>
          </a:prstGeom>
          <a:solidFill>
            <a:srgbClr val="5B6875"/>
          </a:solidFill>
          <a:ln>
            <a:noFill/>
          </a:ln>
        </p:spPr>
        <p:txBody>
          <a:bodyPr rtlCol="0" anchor="ctr"/>
          <a:lstStyle/>
          <a:p>
            <a:pPr algn="ctr"/>
          </a:p>
        </p:txBody>
      </p:sp>
      <p:sp>
        <p:nvSpPr>
          <p:cNvPr id="85" name="TextBox 84"/>
          <p:cNvSpPr txBox="1"/>
          <p:nvPr/>
        </p:nvSpPr>
        <p:spPr>
          <a:xfrm>
            <a:off x="6373368" y="4544568"/>
            <a:ext cx="5394960" cy="219456"/>
          </a:xfrm>
          <a:prstGeom prst="rect">
            <a:avLst/>
          </a:prstGeom>
          <a:noFill/>
        </p:spPr>
        <p:txBody>
          <a:bodyPr wrap="square" lIns="0" rIns="0" tIns="0" bIns="0" anchor="t">
            <a:noAutofit/>
          </a:bodyPr>
          <a:lstStyle/>
          <a:p>
            <a:pPr algn="l">
              <a:spcAft>
                <a:spcPts val="0"/>
              </a:spcAft>
            </a:pPr>
            <a:r>
              <a:rPr sz="1050" b="0" i="0">
                <a:solidFill>
                  <a:srgbClr val="5B6875"/>
                </a:solidFill>
                <a:latin typeface="Calibri"/>
              </a:rPr>
              <a:t>test, mirado una vez: valor e IC 95 %</a:t>
            </a:r>
          </a:p>
        </p:txBody>
      </p:sp>
      <p:sp>
        <p:nvSpPr>
          <p:cNvPr id="86" name="Cifra 10 de 53"/>
          <p:cNvSpPr/>
          <p:nvPr/>
        </p:nvSpPr>
        <p:spPr>
          <a:xfrm>
            <a:off x="6172200" y="4873752"/>
            <a:ext cx="1783080" cy="1051560"/>
          </a:xfrm>
          <a:prstGeom prst="roundRect">
            <a:avLst>
              <a:gd name="adj" fmla="val 8000"/>
            </a:avLst>
          </a:prstGeom>
          <a:solidFill>
            <a:srgbClr val="EEF2F5"/>
          </a:solidFill>
          <a:ln>
            <a:noFill/>
          </a:ln>
        </p:spPr>
        <p:txBody>
          <a:bodyPr rtlCol="0" anchor="ctr"/>
          <a:lstStyle/>
          <a:p>
            <a:pPr algn="ctr"/>
          </a:p>
        </p:txBody>
      </p:sp>
      <p:sp>
        <p:nvSpPr>
          <p:cNvPr id="87" name="TextBox 86"/>
          <p:cNvSpPr txBox="1"/>
          <p:nvPr/>
        </p:nvSpPr>
        <p:spPr>
          <a:xfrm>
            <a:off x="6300216" y="4910328"/>
            <a:ext cx="1563624" cy="420624"/>
          </a:xfrm>
          <a:prstGeom prst="rect">
            <a:avLst/>
          </a:prstGeom>
          <a:noFill/>
        </p:spPr>
        <p:txBody>
          <a:bodyPr wrap="square" lIns="0" rIns="0" tIns="0" bIns="0" anchor="t">
            <a:noAutofit/>
          </a:bodyPr>
          <a:lstStyle/>
          <a:p>
            <a:pPr algn="l">
              <a:spcAft>
                <a:spcPts val="0"/>
              </a:spcAft>
            </a:pPr>
            <a:r>
              <a:rPr sz="2200" b="1" i="0">
                <a:solidFill>
                  <a:srgbClr val="9A5800"/>
                </a:solidFill>
                <a:latin typeface="+mj-lt"/>
              </a:rPr>
              <a:t>10 de 53</a:t>
            </a:r>
          </a:p>
        </p:txBody>
      </p:sp>
      <p:sp>
        <p:nvSpPr>
          <p:cNvPr id="88" name="TextBox 87"/>
          <p:cNvSpPr txBox="1"/>
          <p:nvPr/>
        </p:nvSpPr>
        <p:spPr>
          <a:xfrm>
            <a:off x="6300216" y="5330952"/>
            <a:ext cx="1563624" cy="566928"/>
          </a:xfrm>
          <a:prstGeom prst="rect">
            <a:avLst/>
          </a:prstGeom>
          <a:noFill/>
        </p:spPr>
        <p:txBody>
          <a:bodyPr wrap="square" lIns="0" rIns="0" tIns="0" bIns="0" anchor="t">
            <a:noAutofit/>
          </a:bodyPr>
          <a:lstStyle/>
          <a:p>
            <a:pPr algn="l">
              <a:spcAft>
                <a:spcPts val="0"/>
              </a:spcAft>
            </a:pPr>
            <a:r>
              <a:rPr sz="1050" b="0" i="0">
                <a:solidFill>
                  <a:srgbClr val="1C2733"/>
                </a:solidFill>
                <a:latin typeface="Calibri"/>
              </a:rPr>
              <a:t>pCR que detecta en test, con especificidad 0,80. El médico detecta 21.</a:t>
            </a:r>
          </a:p>
        </p:txBody>
      </p:sp>
      <p:sp>
        <p:nvSpPr>
          <p:cNvPr id="89" name="Cifra +0,009"/>
          <p:cNvSpPr/>
          <p:nvPr/>
        </p:nvSpPr>
        <p:spPr>
          <a:xfrm>
            <a:off x="8065008" y="4873752"/>
            <a:ext cx="1783080" cy="1051560"/>
          </a:xfrm>
          <a:prstGeom prst="roundRect">
            <a:avLst>
              <a:gd name="adj" fmla="val 8000"/>
            </a:avLst>
          </a:prstGeom>
          <a:solidFill>
            <a:srgbClr val="EEF2F5"/>
          </a:solidFill>
          <a:ln>
            <a:noFill/>
          </a:ln>
        </p:spPr>
        <p:txBody>
          <a:bodyPr rtlCol="0" anchor="ctr"/>
          <a:lstStyle/>
          <a:p>
            <a:pPr algn="ctr"/>
          </a:p>
        </p:txBody>
      </p:sp>
      <p:sp>
        <p:nvSpPr>
          <p:cNvPr id="90" name="TextBox 89"/>
          <p:cNvSpPr txBox="1"/>
          <p:nvPr/>
        </p:nvSpPr>
        <p:spPr>
          <a:xfrm>
            <a:off x="8193024" y="4910328"/>
            <a:ext cx="1563624" cy="420624"/>
          </a:xfrm>
          <a:prstGeom prst="rect">
            <a:avLst/>
          </a:prstGeom>
          <a:noFill/>
        </p:spPr>
        <p:txBody>
          <a:bodyPr wrap="square" lIns="0" rIns="0" tIns="0" bIns="0" anchor="t">
            <a:noAutofit/>
          </a:bodyPr>
          <a:lstStyle/>
          <a:p>
            <a:pPr algn="l">
              <a:spcAft>
                <a:spcPts val="0"/>
              </a:spcAft>
            </a:pPr>
            <a:r>
              <a:rPr sz="2200" b="1" i="0">
                <a:solidFill>
                  <a:srgbClr val="1C2733"/>
                </a:solidFill>
                <a:latin typeface="+mj-lt"/>
              </a:rPr>
              <a:t>+0,009</a:t>
            </a:r>
          </a:p>
        </p:txBody>
      </p:sp>
      <p:sp>
        <p:nvSpPr>
          <p:cNvPr id="91" name="TextBox 90"/>
          <p:cNvSpPr txBox="1"/>
          <p:nvPr/>
        </p:nvSpPr>
        <p:spPr>
          <a:xfrm>
            <a:off x="8193024" y="5330952"/>
            <a:ext cx="1563624" cy="566928"/>
          </a:xfrm>
          <a:prstGeom prst="rect">
            <a:avLst/>
          </a:prstGeom>
          <a:noFill/>
        </p:spPr>
        <p:txBody>
          <a:bodyPr wrap="square" lIns="0" rIns="0" tIns="0" bIns="0" anchor="t">
            <a:noAutofit/>
          </a:bodyPr>
          <a:lstStyle/>
          <a:p>
            <a:pPr algn="l">
              <a:spcAft>
                <a:spcPts val="0"/>
              </a:spcAft>
            </a:pPr>
            <a:r>
              <a:rPr sz="1050" b="0" i="0">
                <a:solidFill>
                  <a:srgbClr val="1C2733"/>
                </a:solidFill>
                <a:latin typeface="Calibri"/>
              </a:rPr>
              <a:t>añade la imagen al médico en test: IC −0,006 a +0,026, no demostrable.</a:t>
            </a:r>
          </a:p>
        </p:txBody>
      </p:sp>
      <p:sp>
        <p:nvSpPr>
          <p:cNvPr id="92" name="Cifra 0,596"/>
          <p:cNvSpPr/>
          <p:nvPr/>
        </p:nvSpPr>
        <p:spPr>
          <a:xfrm>
            <a:off x="9957816" y="4873752"/>
            <a:ext cx="1783080" cy="1051560"/>
          </a:xfrm>
          <a:prstGeom prst="roundRect">
            <a:avLst>
              <a:gd name="adj" fmla="val 8000"/>
            </a:avLst>
          </a:prstGeom>
          <a:solidFill>
            <a:srgbClr val="EEF2F5"/>
          </a:solidFill>
          <a:ln>
            <a:noFill/>
          </a:ln>
        </p:spPr>
        <p:txBody>
          <a:bodyPr rtlCol="0" anchor="ctr"/>
          <a:lstStyle/>
          <a:p>
            <a:pPr algn="ctr"/>
          </a:p>
        </p:txBody>
      </p:sp>
      <p:sp>
        <p:nvSpPr>
          <p:cNvPr id="93" name="TextBox 92"/>
          <p:cNvSpPr txBox="1"/>
          <p:nvPr/>
        </p:nvSpPr>
        <p:spPr>
          <a:xfrm>
            <a:off x="10085832" y="4910328"/>
            <a:ext cx="1563624" cy="420624"/>
          </a:xfrm>
          <a:prstGeom prst="rect">
            <a:avLst/>
          </a:prstGeom>
          <a:noFill/>
        </p:spPr>
        <p:txBody>
          <a:bodyPr wrap="square" lIns="0" rIns="0" tIns="0" bIns="0" anchor="t">
            <a:noAutofit/>
          </a:bodyPr>
          <a:lstStyle/>
          <a:p>
            <a:pPr algn="l">
              <a:spcAft>
                <a:spcPts val="0"/>
              </a:spcAft>
            </a:pPr>
            <a:r>
              <a:rPr sz="2200" b="1" i="0" strike="sngStrike">
                <a:solidFill>
                  <a:srgbClr val="5B6875"/>
                </a:solidFill>
                <a:latin typeface="+mj-lt"/>
              </a:rPr>
              <a:t>0,596</a:t>
            </a:r>
          </a:p>
        </p:txBody>
      </p:sp>
      <p:sp>
        <p:nvSpPr>
          <p:cNvPr id="94" name="TextBox 93"/>
          <p:cNvSpPr txBox="1"/>
          <p:nvPr/>
        </p:nvSpPr>
        <p:spPr>
          <a:xfrm>
            <a:off x="10085832" y="5330952"/>
            <a:ext cx="1563624" cy="566928"/>
          </a:xfrm>
          <a:prstGeom prst="rect">
            <a:avLst/>
          </a:prstGeom>
          <a:noFill/>
        </p:spPr>
        <p:txBody>
          <a:bodyPr wrap="square" lIns="0" rIns="0" tIns="0" bIns="0" anchor="t">
            <a:noAutofit/>
          </a:bodyPr>
          <a:lstStyle/>
          <a:p>
            <a:pPr algn="l">
              <a:spcAft>
                <a:spcPts val="0"/>
              </a:spcAft>
            </a:pPr>
            <a:r>
              <a:rPr sz="1050" b="0" i="0">
                <a:solidFill>
                  <a:srgbClr val="1C2733"/>
                </a:solidFill>
                <a:latin typeface="Calibri"/>
              </a:rPr>
              <a:t>daba quedarse con la mejor época de cada fold. Con 6 épocas fijas, 0,554.</a:t>
            </a:r>
          </a:p>
        </p:txBody>
      </p:sp>
      <p:sp>
        <p:nvSpPr>
          <p:cNvPr id="95" name="Frase clave"/>
          <p:cNvSpPr/>
          <p:nvPr/>
        </p:nvSpPr>
        <p:spPr>
          <a:xfrm>
            <a:off x="548640" y="6053328"/>
            <a:ext cx="8778240" cy="475488"/>
          </a:xfrm>
          <a:prstGeom prst="parallelogram">
            <a:avLst>
              <a:gd name="adj" fmla="val 69466"/>
            </a:avLst>
          </a:prstGeom>
          <a:solidFill>
            <a:srgbClr val="0760AB"/>
          </a:solidFill>
          <a:ln>
            <a:noFill/>
          </a:ln>
        </p:spPr>
        <p:txBody>
          <a:bodyPr rtlCol="0" anchor="ctr" wrap="square" lIns="440033" rIns="440033" tIns="27432" bIns="27432">
            <a:noAutofit/>
          </a:bodyPr>
          <a:lstStyle/>
          <a:p>
            <a:pPr algn="l">
              <a:spcAft>
                <a:spcPts val="0"/>
              </a:spcAft>
            </a:pPr>
            <a:r>
              <a:rPr sz="1400" b="1" i="0">
                <a:solidFill>
                  <a:srgbClr val="FFFFFF"/>
                </a:solidFill>
                <a:latin typeface="Calibri"/>
              </a:rPr>
              <a:t>Test se miró una sola vez y no se ajustó nada con él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ítulo"/>
          <p:cNvSpPr txBox="1"/>
          <p:nvPr/>
        </p:nvSpPr>
        <p:spPr>
          <a:xfrm>
            <a:off x="548640" y="347472"/>
            <a:ext cx="11064240" cy="566928"/>
          </a:xfrm>
          <a:prstGeom prst="rect">
            <a:avLst/>
          </a:prstGeom>
          <a:noFill/>
        </p:spPr>
        <p:txBody>
          <a:bodyPr wrap="square" lIns="0" rIns="0" tIns="0" bIns="0" anchor="t">
            <a:noAutofit/>
          </a:bodyPr>
          <a:lstStyle/>
          <a:p>
            <a:pPr algn="l">
              <a:spcAft>
                <a:spcPts val="0"/>
              </a:spcAft>
            </a:pPr>
            <a:r>
              <a:rPr sz="3200" b="1" i="0">
                <a:solidFill>
                  <a:srgbClr val="0760AB"/>
                </a:solidFill>
                <a:latin typeface="+mj-lt"/>
              </a:rPr>
              <a:t>Modesto, pero bien medido y reproducible</a:t>
            </a:r>
          </a:p>
        </p:txBody>
      </p:sp>
      <p:sp>
        <p:nvSpPr>
          <p:cNvPr id="3" name="Entradilla"/>
          <p:cNvSpPr txBox="1"/>
          <p:nvPr/>
        </p:nvSpPr>
        <p:spPr>
          <a:xfrm>
            <a:off x="548640" y="932688"/>
            <a:ext cx="10607040" cy="365760"/>
          </a:xfrm>
          <a:prstGeom prst="rect">
            <a:avLst/>
          </a:prstGeom>
          <a:noFill/>
        </p:spPr>
        <p:txBody>
          <a:bodyPr wrap="square" lIns="0" rIns="0" tIns="0" bIns="0" anchor="t">
            <a:noAutofit/>
          </a:bodyPr>
          <a:lstStyle/>
          <a:p>
            <a:pPr algn="l">
              <a:spcAft>
                <a:spcPts val="0"/>
              </a:spcAft>
            </a:pPr>
            <a:r>
              <a:rPr sz="1600" b="0" i="0">
                <a:solidFill>
                  <a:srgbClr val="5B6875"/>
                </a:solidFill>
                <a:latin typeface="Calibri"/>
              </a:rPr>
              <a:t>La app ejecuta el mismo modelo que el código; las conclusiones van con sus límites al lado.</a:t>
            </a:r>
          </a:p>
        </p:txBody>
      </p:sp>
      <p:sp>
        <p:nvSpPr>
          <p:cNvPr id="4" name="TextBox 3"/>
          <p:cNvSpPr txBox="1"/>
          <p:nvPr/>
        </p:nvSpPr>
        <p:spPr>
          <a:xfrm>
            <a:off x="548640" y="1481328"/>
            <a:ext cx="5394960" cy="274320"/>
          </a:xfrm>
          <a:prstGeom prst="rect">
            <a:avLst/>
          </a:prstGeom>
          <a:noFill/>
        </p:spPr>
        <p:txBody>
          <a:bodyPr wrap="square" lIns="0" rIns="0" tIns="0" bIns="0" anchor="t">
            <a:noAutofit/>
          </a:bodyPr>
          <a:lstStyle/>
          <a:p>
            <a:pPr algn="l">
              <a:spcAft>
                <a:spcPts val="0"/>
              </a:spcAft>
            </a:pPr>
            <a:r>
              <a:rPr sz="1500" b="1" i="0">
                <a:solidFill>
                  <a:srgbClr val="1C2733"/>
                </a:solidFill>
                <a:latin typeface="Calibri"/>
              </a:rPr>
              <a:t>La app, en directo</a:t>
            </a:r>
          </a:p>
        </p:txBody>
      </p:sp>
      <p:sp>
        <p:nvSpPr>
          <p:cNvPr id="5" name="TextBox 4"/>
          <p:cNvSpPr txBox="1"/>
          <p:nvPr/>
        </p:nvSpPr>
        <p:spPr>
          <a:xfrm>
            <a:off x="548640" y="1764792"/>
            <a:ext cx="5394960" cy="256032"/>
          </a:xfrm>
          <a:prstGeom prst="rect">
            <a:avLst/>
          </a:prstGeom>
          <a:noFill/>
        </p:spPr>
        <p:txBody>
          <a:bodyPr wrap="square" lIns="0" rIns="0" tIns="0" bIns="0" anchor="t">
            <a:noAutofit/>
          </a:bodyPr>
          <a:lstStyle/>
          <a:p>
            <a:pPr algn="l">
              <a:spcAft>
                <a:spcPts val="0"/>
              </a:spcAft>
            </a:pPr>
            <a:r>
              <a:rPr sz="1200" b="0" i="0">
                <a:solidFill>
                  <a:srgbClr val="5B6875"/>
                </a:solidFill>
                <a:latin typeface="Calibri"/>
              </a:rPr>
              <a:t>El modelo completo se ejecuta en el navegador: no hay servidor que reiniciar.</a:t>
            </a:r>
          </a:p>
        </p:txBody>
      </p:sp>
      <p:sp>
        <p:nvSpPr>
          <p:cNvPr id="6" name="Marco portátil"/>
          <p:cNvSpPr/>
          <p:nvPr/>
        </p:nvSpPr>
        <p:spPr>
          <a:xfrm>
            <a:off x="594360" y="2103120"/>
            <a:ext cx="4023360" cy="2403157"/>
          </a:xfrm>
          <a:prstGeom prst="roundRect">
            <a:avLst>
              <a:gd name="adj" fmla="val 4000"/>
            </a:avLst>
          </a:prstGeom>
          <a:solidFill>
            <a:srgbClr val="1F262E"/>
          </a:solidFill>
          <a:ln>
            <a:noFill/>
          </a:ln>
        </p:spPr>
        <p:txBody>
          <a:bodyPr rtlCol="0" anchor="ctr"/>
          <a:lstStyle/>
          <a:p>
            <a:pPr algn="ctr"/>
          </a:p>
        </p:txBody>
      </p:sp>
      <p:pic>
        <p:nvPicPr>
          <p:cNvPr id="7" name="Captura de la app" descr="La app: corte de ejemplo de Duke, probabilidad de pCR 0,255, clase no pCR y umbral 0,307"/>
          <p:cNvPicPr>
            <a:picLocks noChangeAspect="1"/>
          </p:cNvPicPr>
          <p:nvPr/>
        </p:nvPicPr>
        <p:blipFill>
          <a:blip r:embed="rId2"/>
          <a:stretch>
            <a:fillRect/>
          </a:stretch>
        </p:blipFill>
        <p:spPr>
          <a:xfrm>
            <a:off x="685800" y="2194560"/>
            <a:ext cx="3840480" cy="2220277"/>
          </a:xfrm>
          <a:prstGeom prst="rect">
            <a:avLst/>
          </a:prstGeom>
        </p:spPr>
      </p:pic>
      <p:sp>
        <p:nvSpPr>
          <p:cNvPr id="8" name="Base portátil"/>
          <p:cNvSpPr/>
          <p:nvPr/>
        </p:nvSpPr>
        <p:spPr>
          <a:xfrm>
            <a:off x="484632" y="4506277"/>
            <a:ext cx="4242816" cy="118872"/>
          </a:xfrm>
          <a:prstGeom prst="roundRect">
            <a:avLst>
              <a:gd name="adj" fmla="val 50000"/>
            </a:avLst>
          </a:prstGeom>
          <a:solidFill>
            <a:srgbClr val="B9C2CA"/>
          </a:solidFill>
          <a:ln>
            <a:noFill/>
          </a:ln>
        </p:spPr>
        <p:txBody>
          <a:bodyPr rtlCol="0" anchor="ctr"/>
          <a:lstStyle/>
          <a:p>
            <a:pPr algn="ctr"/>
          </a:p>
        </p:txBody>
      </p:sp>
      <p:pic>
        <p:nvPicPr>
          <p:cNvPr id="9" name="QR de la app" descr="Código QR de la app en Hugging Face"/>
          <p:cNvPicPr>
            <a:picLocks noChangeAspect="1"/>
          </p:cNvPicPr>
          <p:nvPr/>
        </p:nvPicPr>
        <p:blipFill>
          <a:blip r:embed="rId3"/>
          <a:stretch>
            <a:fillRect/>
          </a:stretch>
        </p:blipFill>
        <p:spPr>
          <a:xfrm>
            <a:off x="4846320" y="2212848"/>
            <a:ext cx="1051560" cy="1051560"/>
          </a:xfrm>
          <a:prstGeom prst="rect">
            <a:avLst/>
          </a:prstGeom>
        </p:spPr>
      </p:pic>
      <p:sp>
        <p:nvSpPr>
          <p:cNvPr id="10" name="TextBox 9"/>
          <p:cNvSpPr txBox="1"/>
          <p:nvPr/>
        </p:nvSpPr>
        <p:spPr>
          <a:xfrm>
            <a:off x="4773168" y="3310128"/>
            <a:ext cx="1188720" cy="411480"/>
          </a:xfrm>
          <a:prstGeom prst="rect">
            <a:avLst/>
          </a:prstGeom>
          <a:noFill/>
        </p:spPr>
        <p:txBody>
          <a:bodyPr wrap="square" lIns="0" rIns="0" tIns="0" bIns="0" anchor="t">
            <a:noAutofit/>
          </a:bodyPr>
          <a:lstStyle/>
          <a:p>
            <a:pPr algn="ctr">
              <a:spcAft>
                <a:spcPts val="0"/>
              </a:spcAft>
            </a:pPr>
            <a:r>
              <a:rPr sz="1050" b="0" i="0">
                <a:solidFill>
                  <a:srgbClr val="5B6875"/>
                </a:solidFill>
                <a:latin typeface="Calibri"/>
              </a:rPr>
              <a:t>Escanéala</a:t>
            </a:r>
          </a:p>
          <a:p>
            <a:pPr algn="ctr">
              <a:spcAft>
                <a:spcPts val="0"/>
              </a:spcAft>
            </a:pPr>
            <a:r>
              <a:rPr sz="1050" b="0" i="0">
                <a:solidFill>
                  <a:srgbClr val="5B6875"/>
                </a:solidFill>
                <a:latin typeface="Calibri"/>
              </a:rPr>
              <a:t>y pruébala</a:t>
            </a:r>
          </a:p>
        </p:txBody>
      </p:sp>
      <p:pic>
        <p:nvPicPr>
          <p:cNvPr id="11" name="Icono prueba 1" descr="checks.png"/>
          <p:cNvPicPr>
            <a:picLocks noChangeAspect="1"/>
          </p:cNvPicPr>
          <p:nvPr/>
        </p:nvPicPr>
        <p:blipFill>
          <a:blip r:embed="rId4"/>
          <a:stretch>
            <a:fillRect/>
          </a:stretch>
        </p:blipFill>
        <p:spPr>
          <a:xfrm>
            <a:off x="566928" y="4782312"/>
            <a:ext cx="219456" cy="219456"/>
          </a:xfrm>
          <a:prstGeom prst="rect">
            <a:avLst/>
          </a:prstGeom>
        </p:spPr>
      </p:pic>
      <p:sp>
        <p:nvSpPr>
          <p:cNvPr id="12" name="TextBox 11"/>
          <p:cNvSpPr txBox="1"/>
          <p:nvPr/>
        </p:nvSpPr>
        <p:spPr>
          <a:xfrm>
            <a:off x="868680" y="4754880"/>
            <a:ext cx="4937760" cy="274320"/>
          </a:xfrm>
          <a:prstGeom prst="rect">
            <a:avLst/>
          </a:prstGeom>
          <a:noFill/>
        </p:spPr>
        <p:txBody>
          <a:bodyPr wrap="square" lIns="0" rIns="0" tIns="0" bIns="0" anchor="ctr">
            <a:noAutofit/>
          </a:bodyPr>
          <a:lstStyle/>
          <a:p>
            <a:pPr algn="l">
              <a:spcAft>
                <a:spcPts val="0"/>
              </a:spcAft>
            </a:pPr>
            <a:r>
              <a:rPr sz="1150" b="1" i="0">
                <a:solidFill>
                  <a:srgbClr val="1C2733"/>
                </a:solidFill>
                <a:latin typeface="Calibri"/>
              </a:rPr>
              <a:t>Igual que Python: </a:t>
            </a:r>
            <a:r>
              <a:rPr sz="1150" b="0" i="0">
                <a:solidFill>
                  <a:srgbClr val="1C2733"/>
                </a:solidFill>
                <a:latin typeface="Calibri"/>
              </a:rPr>
              <a:t>diferencia ≤ 9 · 10</a:t>
            </a:r>
            <a:r>
              <a:rPr sz="1150" b="0" i="0" baseline="30000">
                <a:solidFill>
                  <a:srgbClr val="1C2733"/>
                </a:solidFill>
                <a:latin typeface="Calibri"/>
              </a:rPr>
              <a:t>−8</a:t>
            </a:r>
            <a:r>
              <a:rPr sz="1150" b="0" i="0">
                <a:solidFill>
                  <a:srgbClr val="1C2733"/>
                </a:solidFill>
                <a:latin typeface="Calibri"/>
              </a:rPr>
              <a:t> en 9 cortes.</a:t>
            </a:r>
          </a:p>
        </p:txBody>
      </p:sp>
      <p:pic>
        <p:nvPicPr>
          <p:cNvPr id="13" name="Icono prueba 2" descr="escudo.png"/>
          <p:cNvPicPr>
            <a:picLocks noChangeAspect="1"/>
          </p:cNvPicPr>
          <p:nvPr/>
        </p:nvPicPr>
        <p:blipFill>
          <a:blip r:embed="rId5"/>
          <a:stretch>
            <a:fillRect/>
          </a:stretch>
        </p:blipFill>
        <p:spPr>
          <a:xfrm>
            <a:off x="566928" y="5065776"/>
            <a:ext cx="219456" cy="219456"/>
          </a:xfrm>
          <a:prstGeom prst="rect">
            <a:avLst/>
          </a:prstGeom>
        </p:spPr>
      </p:pic>
      <p:sp>
        <p:nvSpPr>
          <p:cNvPr id="14" name="TextBox 13"/>
          <p:cNvSpPr txBox="1"/>
          <p:nvPr/>
        </p:nvSpPr>
        <p:spPr>
          <a:xfrm>
            <a:off x="868680" y="5038344"/>
            <a:ext cx="4937760" cy="274320"/>
          </a:xfrm>
          <a:prstGeom prst="rect">
            <a:avLst/>
          </a:prstGeom>
          <a:noFill/>
        </p:spPr>
        <p:txBody>
          <a:bodyPr wrap="square" lIns="0" rIns="0" tIns="0" bIns="0" anchor="ctr">
            <a:noAutofit/>
          </a:bodyPr>
          <a:lstStyle/>
          <a:p>
            <a:pPr algn="l">
              <a:spcAft>
                <a:spcPts val="0"/>
              </a:spcAft>
            </a:pPr>
            <a:r>
              <a:rPr sz="1150" b="1" i="0">
                <a:solidFill>
                  <a:srgbClr val="1C2733"/>
                </a:solidFill>
                <a:latin typeface="Calibri"/>
              </a:rPr>
              <a:t>Valida cada imagen </a:t>
            </a:r>
            <a:r>
              <a:rPr sz="1150" b="0" i="0">
                <a:solidFill>
                  <a:srgbClr val="1C2733"/>
                </a:solidFill>
                <a:latin typeface="Calibri"/>
              </a:rPr>
              <a:t>(PNG en gris, 256 × 256) y explica el error.</a:t>
            </a:r>
          </a:p>
        </p:txBody>
      </p:sp>
      <p:pic>
        <p:nvPicPr>
          <p:cNvPr id="15" name="Icono prueba 3" descr="huella.png"/>
          <p:cNvPicPr>
            <a:picLocks noChangeAspect="1"/>
          </p:cNvPicPr>
          <p:nvPr/>
        </p:nvPicPr>
        <p:blipFill>
          <a:blip r:embed="rId6"/>
          <a:stretch>
            <a:fillRect/>
          </a:stretch>
        </p:blipFill>
        <p:spPr>
          <a:xfrm>
            <a:off x="566928" y="5349240"/>
            <a:ext cx="219456" cy="219456"/>
          </a:xfrm>
          <a:prstGeom prst="rect">
            <a:avLst/>
          </a:prstGeom>
        </p:spPr>
      </p:pic>
      <p:sp>
        <p:nvSpPr>
          <p:cNvPr id="16" name="TextBox 15"/>
          <p:cNvSpPr txBox="1"/>
          <p:nvPr/>
        </p:nvSpPr>
        <p:spPr>
          <a:xfrm>
            <a:off x="868680" y="5321808"/>
            <a:ext cx="4937760" cy="274320"/>
          </a:xfrm>
          <a:prstGeom prst="rect">
            <a:avLst/>
          </a:prstGeom>
          <a:noFill/>
        </p:spPr>
        <p:txBody>
          <a:bodyPr wrap="square" lIns="0" rIns="0" tIns="0" bIns="0" anchor="ctr">
            <a:noAutofit/>
          </a:bodyPr>
          <a:lstStyle/>
          <a:p>
            <a:pPr algn="l">
              <a:spcAft>
                <a:spcPts val="0"/>
              </a:spcAft>
            </a:pPr>
            <a:r>
              <a:rPr sz="1150" b="1" i="0">
                <a:solidFill>
                  <a:srgbClr val="1C2733"/>
                </a:solidFill>
                <a:latin typeface="Calibri"/>
              </a:rPr>
              <a:t>Enseña el checksum, </a:t>
            </a:r>
            <a:r>
              <a:rPr sz="1150" b="0" i="0">
                <a:solidFill>
                  <a:srgbClr val="1C2733"/>
                </a:solidFill>
                <a:latin typeface="Calibri"/>
              </a:rPr>
              <a:t>el umbral, el dispositivo y el tiempo.</a:t>
            </a:r>
          </a:p>
        </p:txBody>
      </p:sp>
      <p:pic>
        <p:nvPicPr>
          <p:cNvPr id="17" name="Icono prueba 4" descr="aviso.png"/>
          <p:cNvPicPr>
            <a:picLocks noChangeAspect="1"/>
          </p:cNvPicPr>
          <p:nvPr/>
        </p:nvPicPr>
        <p:blipFill>
          <a:blip r:embed="rId7"/>
          <a:stretch>
            <a:fillRect/>
          </a:stretch>
        </p:blipFill>
        <p:spPr>
          <a:xfrm>
            <a:off x="566928" y="5632704"/>
            <a:ext cx="219456" cy="219456"/>
          </a:xfrm>
          <a:prstGeom prst="rect">
            <a:avLst/>
          </a:prstGeom>
        </p:spPr>
      </p:pic>
      <p:sp>
        <p:nvSpPr>
          <p:cNvPr id="18" name="TextBox 17"/>
          <p:cNvSpPr txBox="1"/>
          <p:nvPr/>
        </p:nvSpPr>
        <p:spPr>
          <a:xfrm>
            <a:off x="868680" y="5605272"/>
            <a:ext cx="4937760" cy="274320"/>
          </a:xfrm>
          <a:prstGeom prst="rect">
            <a:avLst/>
          </a:prstGeom>
          <a:noFill/>
        </p:spPr>
        <p:txBody>
          <a:bodyPr wrap="square" lIns="0" rIns="0" tIns="0" bIns="0" anchor="ctr">
            <a:noAutofit/>
          </a:bodyPr>
          <a:lstStyle/>
          <a:p>
            <a:pPr algn="l">
              <a:spcAft>
                <a:spcPts val="0"/>
              </a:spcAft>
            </a:pPr>
            <a:r>
              <a:rPr sz="1150" b="1" i="0">
                <a:solidFill>
                  <a:srgbClr val="1C2733"/>
                </a:solidFill>
                <a:latin typeface="Calibri"/>
              </a:rPr>
              <a:t>Predice un corte; </a:t>
            </a:r>
            <a:r>
              <a:rPr sz="1150" b="0" i="0">
                <a:solidFill>
                  <a:srgbClr val="1C2733"/>
                </a:solidFill>
                <a:latin typeface="Calibri"/>
              </a:rPr>
              <a:t>las métricas del informe son por paciente.</a:t>
            </a:r>
          </a:p>
        </p:txBody>
      </p:sp>
      <p:sp>
        <p:nvSpPr>
          <p:cNvPr id="19" name="TextBox 18"/>
          <p:cNvSpPr txBox="1"/>
          <p:nvPr/>
        </p:nvSpPr>
        <p:spPr>
          <a:xfrm>
            <a:off x="6263640" y="1481328"/>
            <a:ext cx="5440680" cy="274320"/>
          </a:xfrm>
          <a:prstGeom prst="rect">
            <a:avLst/>
          </a:prstGeom>
          <a:noFill/>
        </p:spPr>
        <p:txBody>
          <a:bodyPr wrap="square" lIns="0" rIns="0" tIns="0" bIns="0" anchor="t">
            <a:noAutofit/>
          </a:bodyPr>
          <a:lstStyle/>
          <a:p>
            <a:pPr algn="l">
              <a:spcAft>
                <a:spcPts val="0"/>
              </a:spcAft>
            </a:pPr>
            <a:r>
              <a:rPr sz="1500" b="1" i="0">
                <a:solidFill>
                  <a:srgbClr val="1C2733"/>
                </a:solidFill>
                <a:latin typeface="Calibri"/>
              </a:rPr>
              <a:t>Conclusiones</a:t>
            </a:r>
          </a:p>
        </p:txBody>
      </p:sp>
      <p:sp>
        <p:nvSpPr>
          <p:cNvPr id="20" name="TextBox 19"/>
          <p:cNvSpPr txBox="1"/>
          <p:nvPr/>
        </p:nvSpPr>
        <p:spPr>
          <a:xfrm>
            <a:off x="6263640" y="1828800"/>
            <a:ext cx="5440680" cy="1783080"/>
          </a:xfrm>
          <a:prstGeom prst="rect">
            <a:avLst/>
          </a:prstGeom>
          <a:noFill/>
        </p:spPr>
        <p:txBody>
          <a:bodyPr wrap="square" lIns="0" rIns="0" tIns="0" bIns="0" anchor="t">
            <a:noAutofit/>
          </a:bodyPr>
          <a:lstStyle/>
          <a:p>
            <a:pPr algn="l">
              <a:lnSpc>
                <a:spcPct val="100000"/>
              </a:lnSpc>
              <a:spcAft>
                <a:spcPts val="800"/>
              </a:spcAft>
            </a:pPr>
            <a:r>
              <a:rPr sz="1300" b="1" i="0">
                <a:solidFill>
                  <a:srgbClr val="1C2733"/>
                </a:solidFill>
                <a:latin typeface="Calibri"/>
              </a:rPr>
              <a:t>Coherente. </a:t>
            </a:r>
            <a:r>
              <a:rPr sz="1300" b="0" i="0">
                <a:solidFill>
                  <a:srgbClr val="1C2733"/>
                </a:solidFill>
                <a:latin typeface="Calibri"/>
              </a:rPr>
              <a:t>Validación (0,554) y test (0,540) cuadran: todo se separó por paciente y test se miró una vez.</a:t>
            </a:r>
          </a:p>
          <a:p>
            <a:pPr algn="l">
              <a:lnSpc>
                <a:spcPct val="100000"/>
              </a:lnSpc>
              <a:spcAft>
                <a:spcPts val="800"/>
              </a:spcAft>
            </a:pPr>
            <a:r>
              <a:rPr sz="1300" b="1" i="0">
                <a:solidFill>
                  <a:srgbClr val="1C2733"/>
                </a:solidFill>
                <a:latin typeface="Calibri"/>
              </a:rPr>
              <a:t>Con esta red, la imagen sola no basta. </a:t>
            </a:r>
            <a:r>
              <a:rPr sz="1300" b="0" i="0">
                <a:solidFill>
                  <a:srgbClr val="1C2733"/>
                </a:solidFill>
                <a:latin typeface="Calibri"/>
              </a:rPr>
              <a:t>«El médico» llega a 0,664 en test y la CNN no le añade nada demostrable.</a:t>
            </a:r>
          </a:p>
          <a:p>
            <a:pPr algn="l">
              <a:lnSpc>
                <a:spcPct val="100000"/>
              </a:lnSpc>
              <a:spcAft>
                <a:spcPts val="800"/>
              </a:spcAft>
            </a:pPr>
            <a:r>
              <a:rPr sz="1300" b="1" i="0">
                <a:solidFill>
                  <a:srgbClr val="1C2733"/>
                </a:solidFill>
                <a:latin typeface="Calibri"/>
              </a:rPr>
              <a:t>Parece reconocer la cohorte. </a:t>
            </a:r>
            <a:r>
              <a:rPr sz="1300" b="0" i="0">
                <a:solidFill>
                  <a:srgbClr val="1C2733"/>
                </a:solidFill>
                <a:latin typeface="Calibri"/>
              </a:rPr>
              <a:t>Su puntuación separa I-SPY2 de las demás y, dentro de una misma cohorte, no se distingue del azar.</a:t>
            </a:r>
          </a:p>
        </p:txBody>
      </p:sp>
      <p:sp>
        <p:nvSpPr>
          <p:cNvPr id="21" name="TextBox 20"/>
          <p:cNvSpPr txBox="1"/>
          <p:nvPr/>
        </p:nvSpPr>
        <p:spPr>
          <a:xfrm>
            <a:off x="6263640" y="3639312"/>
            <a:ext cx="5440680" cy="274320"/>
          </a:xfrm>
          <a:prstGeom prst="rect">
            <a:avLst/>
          </a:prstGeom>
          <a:noFill/>
        </p:spPr>
        <p:txBody>
          <a:bodyPr wrap="square" lIns="0" rIns="0" tIns="0" bIns="0" anchor="t">
            <a:noAutofit/>
          </a:bodyPr>
          <a:lstStyle/>
          <a:p>
            <a:pPr algn="l">
              <a:spcAft>
                <a:spcPts val="0"/>
              </a:spcAft>
            </a:pPr>
            <a:r>
              <a:rPr sz="1250" b="1" i="0">
                <a:solidFill>
                  <a:srgbClr val="0760AB"/>
                </a:solidFill>
                <a:latin typeface="Calibri"/>
              </a:rPr>
              <a:t>Siguiente paso: </a:t>
            </a:r>
            <a:r>
              <a:rPr sz="1250" b="0" i="0">
                <a:solidFill>
                  <a:srgbClr val="0760AB"/>
                </a:solidFill>
                <a:latin typeface="Calibri"/>
              </a:rPr>
              <a:t>entrenar con dos cohortes y probar en la tercera.</a:t>
            </a:r>
          </a:p>
        </p:txBody>
      </p:sp>
      <p:sp>
        <p:nvSpPr>
          <p:cNvPr id="22" name="Limitaciones"/>
          <p:cNvSpPr/>
          <p:nvPr/>
        </p:nvSpPr>
        <p:spPr>
          <a:xfrm>
            <a:off x="6263640" y="4096512"/>
            <a:ext cx="5440680" cy="1572768"/>
          </a:xfrm>
          <a:prstGeom prst="roundRect">
            <a:avLst>
              <a:gd name="adj" fmla="val 6000"/>
            </a:avLst>
          </a:prstGeom>
          <a:solidFill>
            <a:srgbClr val="EEF2F5"/>
          </a:solidFill>
          <a:ln>
            <a:noFill/>
          </a:ln>
        </p:spPr>
        <p:txBody>
          <a:bodyPr rtlCol="0" anchor="ctr" wrap="square" lIns="201168" rIns="201168" tIns="73152" bIns="73152">
            <a:noAutofit/>
          </a:bodyPr>
          <a:lstStyle/>
          <a:p>
            <a:pPr algn="l">
              <a:spcAft>
                <a:spcPts val="400"/>
              </a:spcAft>
            </a:pPr>
            <a:r>
              <a:rPr sz="1250" b="1" i="0">
                <a:solidFill>
                  <a:srgbClr val="0760AB"/>
                </a:solidFill>
                <a:latin typeface="Calibri"/>
              </a:rPr>
              <a:t>Limitaciones</a:t>
            </a:r>
          </a:p>
          <a:p>
            <a:pPr algn="l">
              <a:spcAft>
                <a:spcPts val="300"/>
              </a:spcAft>
            </a:pPr>
            <a:r>
              <a:rPr sz="1250" b="0" i="0">
                <a:solidFill>
                  <a:srgbClr val="1C2733"/>
                </a:solidFill>
                <a:latin typeface="Calibri"/>
              </a:rPr>
              <a:t>En test no se distingue del azar: IC 0,45–0,63 con 176 pacientes.</a:t>
            </a:r>
          </a:p>
          <a:p>
            <a:pPr algn="l">
              <a:spcAft>
                <a:spcPts val="300"/>
              </a:spcAft>
            </a:pPr>
            <a:r>
              <a:rPr sz="1250" b="0" i="0">
                <a:solidFill>
                  <a:srgbClr val="1C2733"/>
                </a:solidFill>
                <a:latin typeface="Calibri"/>
              </a:rPr>
              <a:t>La probabilidad apenas se mueve: no dice más que la tasa de pCR.</a:t>
            </a:r>
          </a:p>
          <a:p>
            <a:pPr algn="l">
              <a:spcAft>
                <a:spcPts val="300"/>
              </a:spcAft>
            </a:pPr>
            <a:r>
              <a:rPr sz="1250" b="0" i="0">
                <a:solidFill>
                  <a:srgbClr val="1C2733"/>
                </a:solidFill>
                <a:latin typeface="Calibri"/>
              </a:rPr>
              <a:t>Cortes 2D de 8 bits y validación interna algo optimista.</a:t>
            </a:r>
          </a:p>
          <a:p>
            <a:pPr algn="l">
              <a:spcAft>
                <a:spcPts val="0"/>
              </a:spcAft>
            </a:pPr>
            <a:r>
              <a:rPr sz="1250" b="0" i="0">
                <a:solidFill>
                  <a:srgbClr val="1C2733"/>
                </a:solidFill>
                <a:latin typeface="Calibri"/>
              </a:rPr>
              <a:t>Sin validez clínica: la pCR solo la confirma la patología.</a:t>
            </a:r>
          </a:p>
        </p:txBody>
      </p:sp>
      <p:sp>
        <p:nvSpPr>
          <p:cNvPr id="23" name="Frase clave"/>
          <p:cNvSpPr/>
          <p:nvPr/>
        </p:nvSpPr>
        <p:spPr>
          <a:xfrm>
            <a:off x="548640" y="6053328"/>
            <a:ext cx="8778240" cy="475488"/>
          </a:xfrm>
          <a:prstGeom prst="parallelogram">
            <a:avLst>
              <a:gd name="adj" fmla="val 69466"/>
            </a:avLst>
          </a:prstGeom>
          <a:solidFill>
            <a:srgbClr val="0760AB"/>
          </a:solidFill>
          <a:ln>
            <a:noFill/>
          </a:ln>
        </p:spPr>
        <p:txBody>
          <a:bodyPr rtlCol="0" anchor="ctr" wrap="square" lIns="440033" rIns="440033" tIns="27432" bIns="27432">
            <a:noAutofit/>
          </a:bodyPr>
          <a:lstStyle/>
          <a:p>
            <a:pPr algn="l">
              <a:spcAft>
                <a:spcPts val="0"/>
              </a:spcAft>
            </a:pPr>
            <a:r>
              <a:rPr sz="1400" b="1" i="0">
                <a:solidFill>
                  <a:srgbClr val="FFFFFF"/>
                </a:solidFill>
                <a:latin typeface="Calibri"/>
              </a:rPr>
              <a:t>Pruébala: huggingface.co/spaces/judithsalas/breastdcedl-pcr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8">
            <a:extLst>
              <a:ext uri="{FF2B5EF4-FFF2-40B4-BE49-F238E27FC236}">
                <a16:creationId xmlns:a16="http://schemas.microsoft.com/office/drawing/2014/main" id="{49E18F14-67C1-03FD-1B54-7C091E7B083A}"/>
              </a:ext>
            </a:extLst>
          </p:cNvPr>
          <p:cNvSpPr/>
          <p:nvPr/>
        </p:nvSpPr>
        <p:spPr>
          <a:xfrm>
            <a:off x="0" y="-43543"/>
            <a:ext cx="12192000" cy="6901544"/>
          </a:xfrm>
          <a:custGeom>
            <a:avLst/>
            <a:gdLst/>
            <a:ahLst/>
            <a:cxnLst/>
            <a:rect l="l" t="t" r="r" b="b"/>
            <a:pathLst>
              <a:path w="7616190" h="7560309">
                <a:moveTo>
                  <a:pt x="7615643" y="0"/>
                </a:moveTo>
                <a:lnTo>
                  <a:pt x="0" y="0"/>
                </a:lnTo>
                <a:lnTo>
                  <a:pt x="0" y="7559992"/>
                </a:lnTo>
                <a:lnTo>
                  <a:pt x="3689819" y="7559992"/>
                </a:lnTo>
                <a:lnTo>
                  <a:pt x="7615643" y="0"/>
                </a:lnTo>
                <a:close/>
              </a:path>
            </a:pathLst>
          </a:custGeom>
          <a:solidFill>
            <a:srgbClr val="0060AB"/>
          </a:solidFill>
        </p:spPr>
        <p:txBody>
          <a:bodyPr wrap="square" lIns="0" tIns="0" rIns="0" bIns="0" rtlCol="0"/>
          <a:lstStyle/>
          <a:p>
            <a:endParaRPr dirty="0">
              <a:latin typeface="+mj-lt"/>
            </a:endParaRPr>
          </a:p>
        </p:txBody>
      </p:sp>
      <p:pic>
        <p:nvPicPr>
          <p:cNvPr id="10" name="object 16">
            <a:extLst>
              <a:ext uri="{FF2B5EF4-FFF2-40B4-BE49-F238E27FC236}">
                <a16:creationId xmlns:a16="http://schemas.microsoft.com/office/drawing/2014/main" id="{58731C1D-78BA-E384-79A1-F1D7DFBABCC3}"/>
              </a:ext>
            </a:extLst>
          </p:cNvPr>
          <p:cNvPicPr/>
          <p:nvPr/>
        </p:nvPicPr>
        <p:blipFill>
          <a:blip r:embed="rId3" cstate="print">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7941076" y="-145846"/>
            <a:ext cx="3613741" cy="1338944"/>
          </a:xfrm>
          <a:prstGeom prst="rect">
            <a:avLst/>
          </a:prstGeom>
        </p:spPr>
      </p:pic>
      <p:sp>
        <p:nvSpPr>
          <p:cNvPr id="2" name="CuadroTexto 1">
            <a:extLst>
              <a:ext uri="{FF2B5EF4-FFF2-40B4-BE49-F238E27FC236}">
                <a16:creationId xmlns:a16="http://schemas.microsoft.com/office/drawing/2014/main" id="{AD7A7B74-ACDE-3952-607E-91F98A156E41}"/>
              </a:ext>
            </a:extLst>
          </p:cNvPr>
          <p:cNvSpPr txBox="1"/>
          <p:nvPr/>
        </p:nvSpPr>
        <p:spPr>
          <a:xfrm>
            <a:off x="309713" y="4524888"/>
            <a:ext cx="4273173" cy="2062103"/>
          </a:xfrm>
          <a:prstGeom prst="rect">
            <a:avLst/>
          </a:prstGeom>
          <a:noFill/>
        </p:spPr>
        <p:txBody>
          <a:bodyPr wrap="square">
            <a:spAutoFit/>
          </a:bodyPr>
          <a:lstStyle/>
          <a:p>
            <a:r>
              <a:rPr lang="es-ES_tradnl" sz="4000" dirty="0">
                <a:solidFill>
                  <a:schemeClr val="bg1"/>
                </a:solidFill>
                <a:latin typeface="+mj-lt"/>
              </a:rPr>
              <a:t>Soy Innovación </a:t>
            </a:r>
          </a:p>
          <a:p>
            <a:r>
              <a:rPr lang="es-ES_tradnl" sz="4000" dirty="0">
                <a:solidFill>
                  <a:schemeClr val="bg1"/>
                </a:solidFill>
                <a:latin typeface="+mj-lt"/>
              </a:rPr>
              <a:t>Soy </a:t>
            </a:r>
            <a:r>
              <a:rPr lang="es-ES_tradnl" sz="4000" dirty="0" err="1">
                <a:solidFill>
                  <a:schemeClr val="bg1"/>
                </a:solidFill>
                <a:latin typeface="+mj-lt"/>
              </a:rPr>
              <a:t>Maker</a:t>
            </a:r>
            <a:endParaRPr lang="es-ES_tradnl" sz="4000" dirty="0">
              <a:solidFill>
                <a:schemeClr val="bg1"/>
              </a:solidFill>
              <a:latin typeface="+mj-lt"/>
            </a:endParaRPr>
          </a:p>
          <a:p>
            <a:r>
              <a:rPr lang="es-ES_tradnl" sz="4800" b="1" dirty="0">
                <a:solidFill>
                  <a:schemeClr val="bg1"/>
                </a:solidFill>
                <a:latin typeface="+mj-lt"/>
              </a:rPr>
              <a:t>Soy UAX</a:t>
            </a:r>
            <a:endParaRPr lang="es-ES_tradnl" sz="1200" b="1" dirty="0">
              <a:solidFill>
                <a:schemeClr val="bg1"/>
              </a:solidFill>
              <a:latin typeface="+mj-lt"/>
            </a:endParaRPr>
          </a:p>
        </p:txBody>
      </p:sp>
      <p:sp>
        <p:nvSpPr>
          <p:cNvPr id="9" name="CuadroTexto 8">
            <a:extLst>
              <a:ext uri="{FF2B5EF4-FFF2-40B4-BE49-F238E27FC236}">
                <a16:creationId xmlns:a16="http://schemas.microsoft.com/office/drawing/2014/main" id="{F2D642AB-E684-4603-A6BD-4087E8D9F867}"/>
              </a:ext>
            </a:extLst>
          </p:cNvPr>
          <p:cNvSpPr txBox="1"/>
          <p:nvPr/>
        </p:nvSpPr>
        <p:spPr>
          <a:xfrm>
            <a:off x="2132120" y="2333112"/>
            <a:ext cx="7927759" cy="1569660"/>
          </a:xfrm>
          <a:prstGeom prst="rect">
            <a:avLst/>
          </a:prstGeom>
          <a:noFill/>
        </p:spPr>
        <p:txBody>
          <a:bodyPr wrap="square" rtlCol="0">
            <a:spAutoFit/>
          </a:bodyPr>
          <a:lstStyle/>
          <a:p>
            <a:pPr algn="ctr"/>
            <a:r>
              <a:rPr lang="es-ES_tradnl" sz="4800" b="1" u="sng" dirty="0" err="1">
                <a:solidFill>
                  <a:schemeClr val="bg1"/>
                </a:solidFill>
                <a:latin typeface="+mj-lt"/>
              </a:rPr>
              <a:t>Thank</a:t>
            </a:r>
            <a:r>
              <a:rPr lang="es-ES_tradnl" sz="4800" b="1" u="sng" dirty="0">
                <a:solidFill>
                  <a:schemeClr val="bg1"/>
                </a:solidFill>
                <a:latin typeface="+mj-lt"/>
              </a:rPr>
              <a:t> </a:t>
            </a:r>
            <a:r>
              <a:rPr lang="es-ES_tradnl" sz="4800" b="1" u="sng" dirty="0" err="1">
                <a:solidFill>
                  <a:schemeClr val="bg1"/>
                </a:solidFill>
                <a:latin typeface="+mj-lt"/>
              </a:rPr>
              <a:t>you</a:t>
            </a:r>
            <a:r>
              <a:rPr lang="es-ES_tradnl" sz="4800" b="1" u="sng" dirty="0">
                <a:solidFill>
                  <a:schemeClr val="bg1"/>
                </a:solidFill>
                <a:latin typeface="+mj-lt"/>
              </a:rPr>
              <a:t>!</a:t>
            </a:r>
          </a:p>
          <a:p>
            <a:pPr algn="ctr"/>
            <a:r>
              <a:rPr lang="es-ES_tradnl" sz="4800" b="1" u="sng" dirty="0">
                <a:solidFill>
                  <a:schemeClr val="bg1"/>
                </a:solidFill>
                <a:latin typeface="+mj-lt"/>
              </a:rPr>
              <a:t>¡Gracias!</a:t>
            </a:r>
          </a:p>
        </p:txBody>
      </p:sp>
      <p:sp>
        <p:nvSpPr>
          <p:cNvPr id="11" name="TextBox 10"/>
          <p:cNvSpPr txBox="1"/>
          <p:nvPr/>
        </p:nvSpPr>
        <p:spPr>
          <a:xfrm>
            <a:off x="9326880" y="3474720"/>
            <a:ext cx="2514600" cy="292608"/>
          </a:xfrm>
          <a:prstGeom prst="rect">
            <a:avLst/>
          </a:prstGeom>
          <a:noFill/>
        </p:spPr>
        <p:txBody>
          <a:bodyPr wrap="square" lIns="0" rIns="0" tIns="0" bIns="0" anchor="t">
            <a:noAutofit/>
          </a:bodyPr>
          <a:lstStyle/>
          <a:p>
            <a:pPr algn="ctr">
              <a:spcAft>
                <a:spcPts val="0"/>
              </a:spcAft>
            </a:pPr>
            <a:r>
              <a:rPr sz="1500" b="1" i="0">
                <a:solidFill>
                  <a:srgbClr val="0760AB"/>
                </a:solidFill>
                <a:latin typeface="Calibri"/>
              </a:rPr>
              <a:t>Prueba la app</a:t>
            </a:r>
          </a:p>
        </p:txBody>
      </p:sp>
      <p:pic>
        <p:nvPicPr>
          <p:cNvPr id="12" name="QR de la app" descr="Código QR de la app en Hugging Face"/>
          <p:cNvPicPr>
            <a:picLocks noChangeAspect="1"/>
          </p:cNvPicPr>
          <p:nvPr/>
        </p:nvPicPr>
        <p:blipFill>
          <a:blip r:embed="rId5"/>
          <a:stretch>
            <a:fillRect/>
          </a:stretch>
        </p:blipFill>
        <p:spPr>
          <a:xfrm>
            <a:off x="10012680" y="3840480"/>
            <a:ext cx="1143000" cy="1143000"/>
          </a:xfrm>
          <a:prstGeom prst="rect">
            <a:avLst/>
          </a:prstGeom>
        </p:spPr>
      </p:pic>
      <p:sp>
        <p:nvSpPr>
          <p:cNvPr id="13" name="TextBox 12"/>
          <p:cNvSpPr txBox="1"/>
          <p:nvPr/>
        </p:nvSpPr>
        <p:spPr>
          <a:xfrm>
            <a:off x="9464040" y="5029200"/>
            <a:ext cx="2240280" cy="384048"/>
          </a:xfrm>
          <a:prstGeom prst="rect">
            <a:avLst/>
          </a:prstGeom>
          <a:noFill/>
        </p:spPr>
        <p:txBody>
          <a:bodyPr wrap="square" lIns="0" rIns="0" tIns="0" bIns="0" anchor="t">
            <a:noAutofit/>
          </a:bodyPr>
          <a:lstStyle/>
          <a:p>
            <a:pPr algn="ctr">
              <a:spcAft>
                <a:spcPts val="0"/>
              </a:spcAft>
            </a:pPr>
            <a:r>
              <a:rPr sz="1000" b="0" i="0">
                <a:solidFill>
                  <a:srgbClr val="5B6875"/>
                </a:solidFill>
                <a:latin typeface="Calibri"/>
              </a:rPr>
              <a:t>huggingface.co/spaces/</a:t>
            </a:r>
          </a:p>
          <a:p>
            <a:pPr algn="ctr">
              <a:spcAft>
                <a:spcPts val="0"/>
              </a:spcAft>
            </a:pPr>
            <a:r>
              <a:rPr sz="1000" b="0" i="0">
                <a:solidFill>
                  <a:srgbClr val="5B6875"/>
                </a:solidFill>
                <a:latin typeface="Calibri"/>
              </a:rPr>
              <a:t>judithsalas/breastdcedl-pcr</a:t>
            </a:r>
          </a:p>
        </p:txBody>
      </p:sp>
    </p:spTree>
    <p:extLst>
      <p:ext uri="{BB962C8B-B14F-4D97-AF65-F5344CB8AC3E}">
        <p14:creationId xmlns:p14="http://schemas.microsoft.com/office/powerpoint/2010/main" val="11022190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M Roman 10">
      <a:majorFont>
        <a:latin typeface="LM Roman 10"/>
        <a:ea typeface=""/>
        <a:cs typeface=""/>
      </a:majorFont>
      <a:minorFont>
        <a:latin typeface="LM Roman 10"/>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roceso xmlns="4bd470e1-a810-4dc7-a7f4-504af0e5f80d">PE01.01</Proceso>
    <Macroproceso xmlns="4bd470e1-a810-4dc7-a7f4-504af0e5f80d">LIDERAZGO Y ESTRATEGIA</Macroproceso>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9B84DA0D6C2ADE46966ECE7A6B7DD2B5" ma:contentTypeVersion="8" ma:contentTypeDescription="Crear nuevo documento." ma:contentTypeScope="" ma:versionID="36dcda6161a342f68f8c529063e8cda3">
  <xsd:schema xmlns:xsd="http://www.w3.org/2001/XMLSchema" xmlns:xs="http://www.w3.org/2001/XMLSchema" xmlns:p="http://schemas.microsoft.com/office/2006/metadata/properties" xmlns:ns2="4bd470e1-a810-4dc7-a7f4-504af0e5f80d" xmlns:ns3="94bf27de-86a6-4ac7-874e-21eaa1714b2f" targetNamespace="http://schemas.microsoft.com/office/2006/metadata/properties" ma:root="true" ma:fieldsID="0e2e7ed13747b05cb62c0c7df8d0962a" ns2:_="" ns3:_="">
    <xsd:import namespace="4bd470e1-a810-4dc7-a7f4-504af0e5f80d"/>
    <xsd:import namespace="94bf27de-86a6-4ac7-874e-21eaa1714b2f"/>
    <xsd:element name="properties">
      <xsd:complexType>
        <xsd:sequence>
          <xsd:element name="documentManagement">
            <xsd:complexType>
              <xsd:all>
                <xsd:element ref="ns2:MediaServiceMetadata" minOccurs="0"/>
                <xsd:element ref="ns2:MediaServiceFastMetadata" minOccurs="0"/>
                <xsd:element ref="ns2:Macroproceso" minOccurs="0"/>
                <xsd:element ref="ns2:Proceso"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d470e1-a810-4dc7-a7f4-504af0e5f8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acroproceso" ma:index="10" nillable="true" ma:displayName="Macroproceso" ma:format="Dropdown" ma:internalName="Macroproceso">
      <xsd:simpleType>
        <xsd:restriction base="dms:Text">
          <xsd:maxLength value="255"/>
        </xsd:restriction>
      </xsd:simpleType>
    </xsd:element>
    <xsd:element name="Proceso" ma:index="11" nillable="true" ma:displayName="Proceso" ma:format="Dropdown" ma:internalName="Proceso">
      <xsd:simpleType>
        <xsd:restriction base="dms:Text">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bf27de-86a6-4ac7-874e-21eaa1714b2f" elementFormDefault="qualified">
    <xsd:import namespace="http://schemas.microsoft.com/office/2006/documentManagement/types"/>
    <xsd:import namespace="http://schemas.microsoft.com/office/infopath/2007/PartnerControls"/>
    <xsd:element name="SharedWithUsers" ma:index="14"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FC8CCB-90C7-4014-A3CC-51D62035841A}">
  <ds:schemaRefs>
    <ds:schemaRef ds:uri="http://schemas.microsoft.com/office/2006/metadata/properties"/>
    <ds:schemaRef ds:uri="http://schemas.microsoft.com/office/infopath/2007/PartnerControls"/>
    <ds:schemaRef ds:uri="4bd470e1-a810-4dc7-a7f4-504af0e5f80d"/>
  </ds:schemaRefs>
</ds:datastoreItem>
</file>

<file path=customXml/itemProps2.xml><?xml version="1.0" encoding="utf-8"?>
<ds:datastoreItem xmlns:ds="http://schemas.openxmlformats.org/officeDocument/2006/customXml" ds:itemID="{FF8CADC5-B4F8-4677-9B61-54BC6C46CF0F}">
  <ds:schemaRefs>
    <ds:schemaRef ds:uri="http://schemas.microsoft.com/sharepoint/v3/contenttype/forms"/>
  </ds:schemaRefs>
</ds:datastoreItem>
</file>

<file path=customXml/itemProps3.xml><?xml version="1.0" encoding="utf-8"?>
<ds:datastoreItem xmlns:ds="http://schemas.openxmlformats.org/officeDocument/2006/customXml" ds:itemID="{2487E67B-EA3D-412C-8702-4A89E4D9D8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d470e1-a810-4dc7-a7f4-504af0e5f80d"/>
    <ds:schemaRef ds:uri="94bf27de-86a6-4ac7-874e-21eaa1714b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11871</TotalTime>
  <Words>17</Words>
  <Application>Microsoft Office PowerPoint</Application>
  <PresentationFormat>Panorámica</PresentationFormat>
  <Paragraphs>12</Paragraphs>
  <Slides>4</Slides>
  <Notes>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vt:i4>
      </vt:variant>
    </vt:vector>
  </HeadingPairs>
  <TitlesOfParts>
    <vt:vector size="8" baseType="lpstr">
      <vt:lpstr>Arial</vt:lpstr>
      <vt:lpstr>Calibri</vt:lpstr>
      <vt:lpstr>Muli</vt:lpstr>
      <vt:lpstr>Tema de Office</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Predicción de pCR con DCE-MRI: una CNN desde cero</dc:title>
  <dc:creator>Judith M.ª Salas García</dc:creator>
  <cp:lastModifiedBy>Judith M.ª Salas García</cp:lastModifiedBy>
  <cp:revision>1</cp:revision>
  <dcterms:created xsi:type="dcterms:W3CDTF">2026-10-30T12:00:00Z</dcterms:created>
  <dcterms:modified xsi:type="dcterms:W3CDTF">2026-10-30T12:00:00Z</dcterms:modified>
  <dc:subject>Aprendizaje Automático (UAX), caso BreastDCEDL</dc:subject>
  <cp:keywords>pCR; DCE-MRI; CNN; BreastDCEDL</cp:keywords>
  <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0x0101009B84DA0D6C2ADE46966ECE7A6B7DD2B5</vt:lpwstr>
  </property>
</Properties>
</file>